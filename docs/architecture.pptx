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Cipherops: high-level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2179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</a:rPr>
              <a:t>PS-036 · PQC DNSSEC MTL benchmark using the Verisign MTL reference implementation · IETF 126 Hackathon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783080" cy="2057400"/>
          </a:xfrm>
          <a:prstGeom prst="roundRect">
            <a:avLst>
              <a:gd name="adj" fmla="val 8000"/>
            </a:avLst>
          </a:prstGeom>
          <a:solidFill>
            <a:srgbClr val="EEF7EE"/>
          </a:solidFill>
          <a:ln w="15875">
            <a:solidFill>
              <a:srgbClr val="3C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300">
                <a:solidFill>
                  <a:srgbClr val="1E4D21"/>
                </a:solidFill>
              </a:rPr>
              <a:t>INPUTS</a:t>
            </a:r>
          </a:p>
          <a:p>
            <a:pPr algn="ctr"/>
            <a:r>
              <a:rPr sz="1000">
                <a:solidFill>
                  <a:srgbClr val="1E4D21"/>
                </a:solidFill>
              </a:rPr>
              <a:t>configs/*.yaml</a:t>
            </a:r>
          </a:p>
          <a:p>
            <a:pPr algn="ctr"/>
            <a:r>
              <a:rPr sz="1000">
                <a:solidFill>
                  <a:srgbClr val="1E4D21"/>
                </a:solidFill>
              </a:rPr>
              <a:t/>
            </a:r>
          </a:p>
          <a:p>
            <a:pPr algn="ctr"/>
            <a:r>
              <a:rPr sz="1000">
                <a:solidFill>
                  <a:srgbClr val="1E4D21"/>
                </a:solidFill>
              </a:rPr>
              <a:t>seed · trials</a:t>
            </a:r>
          </a:p>
          <a:p>
            <a:pPr algn="ctr"/>
            <a:r>
              <a:rPr sz="1000">
                <a:solidFill>
                  <a:srgbClr val="1E4D21"/>
                </a:solidFill>
              </a:rPr>
              <a:t>5 modes</a:t>
            </a:r>
          </a:p>
          <a:p>
            <a:pPr algn="ctr"/>
            <a:r>
              <a:rPr sz="1000">
                <a:solidFill>
                  <a:srgbClr val="1E4D21"/>
                </a:solidFill>
              </a:rPr>
              <a:t>3 zone sizes</a:t>
            </a:r>
          </a:p>
          <a:p>
            <a:pPr algn="ctr"/>
            <a:r>
              <a:rPr sz="1000">
                <a:solidFill>
                  <a:srgbClr val="1E4D21"/>
                </a:solidFill>
              </a:rPr>
              <a:t>query workload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91840"/>
            <a:ext cx="1783080" cy="2148840"/>
          </a:xfrm>
          <a:prstGeom prst="roundRect">
            <a:avLst>
              <a:gd name="adj" fmla="val 8000"/>
            </a:avLst>
          </a:prstGeom>
          <a:solidFill>
            <a:srgbClr val="EEF7EE"/>
          </a:solidFill>
          <a:ln w="15875">
            <a:solidFill>
              <a:srgbClr val="3C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300">
                <a:solidFill>
                  <a:srgbClr val="1E4D21"/>
                </a:solidFill>
              </a:rPr>
              <a:t>PS-036 RULES</a:t>
            </a:r>
          </a:p>
          <a:p>
            <a:pPr algn="ctr"/>
            <a:r>
              <a:rPr sz="900">
                <a:solidFill>
                  <a:srgbClr val="1E4D21"/>
                </a:solidFill>
              </a:rPr>
              <a:t>No new crypto</a:t>
            </a:r>
          </a:p>
          <a:p>
            <a:pPr algn="ctr"/>
            <a:r>
              <a:rPr sz="900">
                <a:solidFill>
                  <a:srgbClr val="1E4D21"/>
                </a:solidFill>
              </a:rPr>
              <a:t>Pinned environment</a:t>
            </a:r>
          </a:p>
          <a:p>
            <a:pPr algn="ctr"/>
            <a:r>
              <a:rPr sz="900">
                <a:solidFill>
                  <a:srgbClr val="1E4D21"/>
                </a:solidFill>
              </a:rPr>
              <a:t>3 dataset sizes</a:t>
            </a:r>
          </a:p>
          <a:p>
            <a:pPr algn="ctr"/>
            <a:r>
              <a:rPr sz="900">
                <a:solidFill>
                  <a:srgbClr val="1E4D21"/>
                </a:solidFill>
              </a:rPr>
              <a:t>Repeated trials</a:t>
            </a:r>
          </a:p>
          <a:p>
            <a:pPr algn="ctr"/>
            <a:r>
              <a:rPr sz="900">
                <a:solidFill>
                  <a:srgbClr val="1E4D21"/>
                </a:solidFill>
              </a:rPr>
              <a:t>Measured ≠ analytical</a:t>
            </a:r>
          </a:p>
          <a:p>
            <a:pPr algn="ctr"/>
            <a:r>
              <a:rPr sz="900">
                <a:solidFill>
                  <a:srgbClr val="1E4D21"/>
                </a:solidFill>
              </a:rPr>
              <a:t>Defer if reference fails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57400" y="2103120"/>
            <a:ext cx="320040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77440" y="1097280"/>
            <a:ext cx="7315200" cy="4343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875">
            <a:solidFill>
              <a:srgbClr val="8A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200">
                <a:solidFill>
                  <a:srgbClr val="1F3A5F"/>
                </a:solidFill>
              </a:rPr>
              <a:t>Pinned Docker container</a:t>
            </a:r>
          </a:p>
          <a:p>
            <a:pPr algn="ctr"/>
            <a:r>
              <a:rPr sz="900">
                <a:solidFill>
                  <a:srgbClr val="1F3A5F"/>
                </a:solidFill>
              </a:rPr>
              <a:t>Fedora 42 · OpenSSL 3.6.0 · liboqs 0.16.0 · Verisign MTL @7cef019 · 1 CPU core · no network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691640"/>
            <a:ext cx="6949440" cy="41148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200">
                <a:solidFill>
                  <a:srgbClr val="FFFFFF"/>
                </a:solidFill>
              </a:rPr>
              <a:t>Orchestrator: runner.py   (python -m cipherops.runner run)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286000"/>
            <a:ext cx="896112" cy="86868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000">
                <a:solidFill>
                  <a:srgbClr val="FFFFFF"/>
                </a:solidFill>
              </a:rPr>
              <a:t>1 Go / No-Go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preflight.py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08376" y="2103120"/>
            <a:ext cx="0" cy="18288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66160" y="2286000"/>
            <a:ext cx="896112" cy="86868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000">
                <a:solidFill>
                  <a:srgbClr val="FFFFFF"/>
                </a:solidFill>
              </a:rPr>
              <a:t>2 Zone builder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workload.py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14215" y="2103120"/>
            <a:ext cx="0" cy="18288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56432" y="2720340"/>
            <a:ext cx="109728" cy="0"/>
          </a:xfrm>
          <a:prstGeom prst="line">
            <a:avLst/>
          </a:prstGeom>
          <a:ln w="22225">
            <a:solidFill>
              <a:srgbClr val="8A99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0" y="2286000"/>
            <a:ext cx="896112" cy="86868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000">
                <a:solidFill>
                  <a:srgbClr val="FFFFFF"/>
                </a:solidFill>
              </a:rPr>
              <a:t>3 Crypto harness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mtlbench.c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0056" y="2103120"/>
            <a:ext cx="0" cy="18288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62272" y="2720340"/>
            <a:ext cx="109728" cy="0"/>
          </a:xfrm>
          <a:prstGeom prst="line">
            <a:avLst/>
          </a:prstGeom>
          <a:ln w="22225">
            <a:solidFill>
              <a:srgbClr val="8A99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577840" y="2286000"/>
            <a:ext cx="896112" cy="86868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000">
                <a:solidFill>
                  <a:srgbClr val="FFFFFF"/>
                </a:solidFill>
              </a:rPr>
              <a:t>4 DNS answers &amp; bytes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dnswire.py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25896" y="2103120"/>
            <a:ext cx="0" cy="18288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68112" y="2720340"/>
            <a:ext cx="109728" cy="0"/>
          </a:xfrm>
          <a:prstGeom prst="line">
            <a:avLst/>
          </a:prstGeom>
          <a:ln w="22225">
            <a:solidFill>
              <a:srgbClr val="8A99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83680" y="2286000"/>
            <a:ext cx="896112" cy="86868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000">
                <a:solidFill>
                  <a:srgbClr val="FFFFFF"/>
                </a:solidFill>
              </a:rPr>
              <a:t>5 Cache usage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cache.py analytical.py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31736" y="2103120"/>
            <a:ext cx="0" cy="18288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73952" y="2720340"/>
            <a:ext cx="109728" cy="0"/>
          </a:xfrm>
          <a:prstGeom prst="line">
            <a:avLst/>
          </a:prstGeom>
          <a:ln w="22225">
            <a:solidFill>
              <a:srgbClr val="8A99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89520" y="2286000"/>
            <a:ext cx="896112" cy="86868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000">
                <a:solidFill>
                  <a:srgbClr val="FFFFFF"/>
                </a:solidFill>
              </a:rPr>
              <a:t>6 Statistics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stats.py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37576" y="2103120"/>
            <a:ext cx="0" cy="18288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79792" y="2720340"/>
            <a:ext cx="109728" cy="0"/>
          </a:xfrm>
          <a:prstGeom prst="line">
            <a:avLst/>
          </a:prstGeom>
          <a:ln w="22225">
            <a:solidFill>
              <a:srgbClr val="8A99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595360" y="2286000"/>
            <a:ext cx="896112" cy="86868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000">
                <a:solidFill>
                  <a:srgbClr val="FFFFFF"/>
                </a:solidFill>
              </a:rPr>
              <a:t>7 Report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report.py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043416" y="2103120"/>
            <a:ext cx="0" cy="18288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85632" y="2720340"/>
            <a:ext cx="109728" cy="0"/>
          </a:xfrm>
          <a:prstGeom prst="line">
            <a:avLst/>
          </a:prstGeom>
          <a:ln w="22225">
            <a:solidFill>
              <a:srgbClr val="8A99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560320" y="342900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300">
                <a:solidFill>
                  <a:srgbClr val="4A5568"/>
                </a:solidFill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3447288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</a:rPr>
              <a:t>Crypto libraries (unmodified, called by the harness)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3721608"/>
            <a:ext cx="2103120" cy="54864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000">
                <a:solidFill>
                  <a:srgbClr val="1F3A5F"/>
                </a:solidFill>
              </a:rPr>
              <a:t>Verisign MTL library</a:t>
            </a:r>
          </a:p>
          <a:p>
            <a:pPr algn="ctr"/>
            <a:r>
              <a:rPr sz="800">
                <a:solidFill>
                  <a:srgbClr val="1F3A5F"/>
                </a:solidFill>
              </a:rPr>
              <a:t>MTL mode: leaves, ladder, condensed sigs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3721608"/>
            <a:ext cx="2103120" cy="54864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000">
                <a:solidFill>
                  <a:srgbClr val="1F3A5F"/>
                </a:solidFill>
              </a:rPr>
              <a:t>liboqs</a:t>
            </a:r>
          </a:p>
          <a:p>
            <a:pPr algn="ctr"/>
            <a:r>
              <a:rPr sz="800">
                <a:solidFill>
                  <a:srgbClr val="1F3A5F"/>
                </a:solidFill>
              </a:rPr>
              <a:t>SLH-DSA-SHA2-128s (direct)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9480" y="3721608"/>
            <a:ext cx="2103120" cy="54864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000">
                <a:solidFill>
                  <a:srgbClr val="1F3A5F"/>
                </a:solidFill>
              </a:rPr>
              <a:t>OpenSSL</a:t>
            </a:r>
          </a:p>
          <a:p>
            <a:pPr algn="ctr"/>
            <a:r>
              <a:rPr sz="800">
                <a:solidFill>
                  <a:srgbClr val="1F3A5F"/>
                </a:solidFill>
              </a:rPr>
              <a:t>RSA-2048 · ECDSA P-256 · Ed25519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0056" y="3154680"/>
            <a:ext cx="0" cy="27432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560320" y="4480560"/>
            <a:ext cx="69494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300">
                <a:solidFill>
                  <a:srgbClr val="4A5568"/>
                </a:solidFill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4498848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</a:rPr>
              <a:t>Real-traffic validation (live mode / cross-check)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97480" y="475488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587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000">
                <a:solidFill>
                  <a:srgbClr val="7A4A00"/>
                </a:solidFill>
              </a:rPr>
              <a:t>Live client</a:t>
            </a:r>
          </a:p>
          <a:p>
            <a:pPr algn="ctr"/>
            <a:r>
              <a:rPr sz="800">
                <a:solidFill>
                  <a:srgbClr val="7A4A00"/>
                </a:solidFill>
              </a:rPr>
              <a:t>live.py: UDP → TC → TCP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83480" y="475488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587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000">
                <a:solidFill>
                  <a:srgbClr val="7A4A00"/>
                </a:solidFill>
              </a:rPr>
              <a:t>NSD server</a:t>
            </a:r>
          </a:p>
          <a:p>
            <a:pPr algn="ctr"/>
            <a:r>
              <a:rPr sz="800">
                <a:solidFill>
                  <a:srgbClr val="7A4A00"/>
                </a:solidFill>
              </a:rPr>
              <a:t>serves the signed zone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69480" y="475488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587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000">
                <a:solidFill>
                  <a:srgbClr val="7A4A00"/>
                </a:solidFill>
              </a:rPr>
              <a:t>tcpdump</a:t>
            </a:r>
          </a:p>
          <a:p>
            <a:pPr algn="ctr"/>
            <a:r>
              <a:rPr sz="800">
                <a:solidFill>
                  <a:srgbClr val="7A4A00"/>
                </a:solidFill>
              </a:rPr>
              <a:t>packets → .pcap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800600" y="5006340"/>
            <a:ext cx="182880" cy="0"/>
          </a:xfrm>
          <a:prstGeom prst="line">
            <a:avLst/>
          </a:prstGeom>
          <a:ln w="22225">
            <a:solidFill>
              <a:srgbClr val="E08A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086600" y="5006340"/>
            <a:ext cx="182880" cy="0"/>
          </a:xfrm>
          <a:prstGeom prst="line">
            <a:avLst/>
          </a:prstGeom>
          <a:ln w="22225">
            <a:solidFill>
              <a:srgbClr val="E08A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692640" y="2103120"/>
            <a:ext cx="320040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012680" y="1097280"/>
            <a:ext cx="1920240" cy="237744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5875">
            <a:solidFill>
              <a:srgbClr val="7B52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300">
                <a:solidFill>
                  <a:srgbClr val="3F2560"/>
                </a:solidFill>
              </a:rPr>
              <a:t>OUTPUTS</a:t>
            </a:r>
          </a:p>
          <a:p>
            <a:pPr algn="ctr"/>
            <a:r>
              <a:rPr sz="900">
                <a:solidFill>
                  <a:srgbClr val="3F2560"/>
                </a:solidFill>
              </a:rPr>
              <a:t>results/runs/&lt;run_id&gt;/</a:t>
            </a:r>
          </a:p>
          <a:p>
            <a:pPr algn="ctr"/>
            <a:r>
              <a:rPr sz="900">
                <a:solidFill>
                  <a:srgbClr val="3F2560"/>
                </a:solidFill>
              </a:rPr>
              <a:t/>
            </a:r>
          </a:p>
          <a:p>
            <a:pPr algn="ctr"/>
            <a:r>
              <a:rPr sz="900">
                <a:solidFill>
                  <a:srgbClr val="3F2560"/>
                </a:solidFill>
              </a:rPr>
              <a:t>trials.csv</a:t>
            </a:r>
          </a:p>
          <a:p>
            <a:pPr algn="ctr"/>
            <a:r>
              <a:rPr sz="900">
                <a:solidFill>
                  <a:srgbClr val="3F2560"/>
                </a:solidFill>
              </a:rPr>
              <a:t>responses · workload</a:t>
            </a:r>
          </a:p>
          <a:p>
            <a:pPr algn="ctr"/>
            <a:r>
              <a:rPr sz="900">
                <a:solidFill>
                  <a:srgbClr val="3F2560"/>
                </a:solidFill>
              </a:rPr>
              <a:t>cache · sizes</a:t>
            </a:r>
          </a:p>
          <a:p>
            <a:pPr algn="ctr"/>
            <a:r>
              <a:rPr sz="900">
                <a:solidFill>
                  <a:srgbClr val="3F2560"/>
                </a:solidFill>
              </a:rPr>
              <a:t>summary.json</a:t>
            </a:r>
          </a:p>
          <a:p>
            <a:pPr algn="ctr"/>
            <a:r>
              <a:rPr sz="900">
                <a:solidFill>
                  <a:srgbClr val="3F2560"/>
                </a:solidFill>
              </a:rPr>
              <a:t>report md/html/pdf</a:t>
            </a:r>
          </a:p>
          <a:p>
            <a:pPr algn="ctr"/>
            <a:r>
              <a:rPr sz="900">
                <a:solidFill>
                  <a:srgbClr val="3F2560"/>
                </a:solidFill>
              </a:rPr>
              <a:t>live.csv · pcap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12680" y="3657600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5875">
            <a:solidFill>
              <a:srgbClr val="7B52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200">
                <a:solidFill>
                  <a:srgbClr val="3F2560"/>
                </a:solidFill>
              </a:rPr>
              <a:t>Dashboard</a:t>
            </a:r>
          </a:p>
          <a:p>
            <a:pPr algn="ctr"/>
            <a:r>
              <a:rPr sz="900">
                <a:solidFill>
                  <a:srgbClr val="3F2560"/>
                </a:solidFill>
              </a:rPr>
              <a:t>Streamlit (dashboard/app.py)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12680" y="4572000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5875">
            <a:solidFill>
              <a:srgbClr val="7B52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200">
                <a:solidFill>
                  <a:srgbClr val="3F2560"/>
                </a:solidFill>
              </a:rPr>
              <a:t>Wireshark</a:t>
            </a:r>
          </a:p>
          <a:p>
            <a:pPr algn="ctr"/>
            <a:r>
              <a:rPr sz="900">
                <a:solidFill>
                  <a:srgbClr val="3F2560"/>
                </a:solidFill>
              </a:rPr>
              <a:t>opens the .pcap files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972800" y="3474720"/>
            <a:ext cx="0" cy="182880"/>
          </a:xfrm>
          <a:prstGeom prst="line">
            <a:avLst/>
          </a:prstGeom>
          <a:ln w="22225">
            <a:solidFill>
              <a:srgbClr val="7B52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274320" y="5623560"/>
            <a:ext cx="116586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A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200">
                <a:solidFill>
                  <a:srgbClr val="1F3A5F"/>
                </a:solidFill>
              </a:rPr>
              <a:t>Compared on identical zones:   RSA-2048  ·  ECDSA P-256  ·  Ed25519  ·  SLH-DSA-SHA2-128s  ·  SLH-DSA-SHA2-128s + MTL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6172200"/>
            <a:ext cx="116586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A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200">
                <a:solidFill>
                  <a:srgbClr val="1F3A5F"/>
                </a:solidFill>
              </a:rPr>
              <a:t>Measured:   signing time  ·  verification time  ·  transmitted bytes (UDP 1232 / TCP fallback)  ·  cache usage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Cipherops: end-to-end run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777240"/>
            <a:ext cx="11521440" cy="4572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200">
                <a:solidFill>
                  <a:srgbClr val="FFFFFF"/>
                </a:solidFill>
              </a:rPr>
              <a:t>.\scripts\run_benchmark.ps1   →   docker compose run bench   →   python -m cipherops.runner run --config configs/quick.yaml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50876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300">
                <a:solidFill>
                  <a:srgbClr val="FFFFFF"/>
                </a:solidFill>
              </a:rPr>
              <a:t>1  Configure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runner.py · envinfo.py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423160"/>
            <a:ext cx="1554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/>
            <a:r>
              <a:rPr b="1" sz="1100">
                <a:solidFill>
                  <a:srgbClr val="4A5568"/>
                </a:solidFill>
              </a:rPr>
              <a:t>What it does</a:t>
            </a:r>
          </a:p>
          <a:p>
            <a:pPr algn="l"/>
            <a:r>
              <a:rPr sz="1100">
                <a:solidFill>
                  <a:srgbClr val="4A5568"/>
                </a:solidFill>
              </a:rPr>
              <a:t>• Load YAML</a:t>
            </a:r>
          </a:p>
          <a:p>
            <a:pPr algn="l"/>
            <a:r>
              <a:rPr sz="1100">
                <a:solidFill>
                  <a:srgbClr val="4A5568"/>
                </a:solidFill>
              </a:rPr>
              <a:t>• Record CPU, versions, git SHA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4023360"/>
            <a:ext cx="1554480" cy="123444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5875">
            <a:solidFill>
              <a:srgbClr val="7B52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100">
                <a:solidFill>
                  <a:srgbClr val="3F2560"/>
                </a:solidFill>
              </a:rPr>
              <a:t>Produces</a:t>
            </a:r>
          </a:p>
          <a:p>
            <a:pPr algn="ctr"/>
            <a:r>
              <a:rPr sz="1100">
                <a:solidFill>
                  <a:srgbClr val="3F2560"/>
                </a:solidFill>
              </a:rPr>
              <a:t>config.yaml</a:t>
            </a:r>
          </a:p>
          <a:p>
            <a:pPr algn="ctr"/>
            <a:r>
              <a:rPr sz="1100">
                <a:solidFill>
                  <a:srgbClr val="3F2560"/>
                </a:solidFill>
              </a:rPr>
              <a:t>environment.json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84248" y="150876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300">
                <a:solidFill>
                  <a:srgbClr val="FFFFFF"/>
                </a:solidFill>
              </a:rPr>
              <a:t>2  Go / No-Go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preflight.py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84248" y="2423160"/>
            <a:ext cx="1554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/>
            <a:r>
              <a:rPr b="1" sz="1100">
                <a:solidFill>
                  <a:srgbClr val="4A5568"/>
                </a:solidFill>
              </a:rPr>
              <a:t>What it does</a:t>
            </a:r>
          </a:p>
          <a:p>
            <a:pPr algn="l"/>
            <a:r>
              <a:rPr sz="1100">
                <a:solidFill>
                  <a:srgbClr val="4A5568"/>
                </a:solidFill>
              </a:rPr>
              <a:t>• Verisign's 89 tests</a:t>
            </a:r>
          </a:p>
          <a:p>
            <a:pPr algn="l"/>
            <a:r>
              <a:rPr sz="1100">
                <a:solidFill>
                  <a:srgbClr val="4A5568"/>
                </a:solidFill>
              </a:rPr>
              <a:t>• Tools round trip</a:t>
            </a:r>
          </a:p>
          <a:p>
            <a:pPr algn="l"/>
            <a:r>
              <a:rPr sz="1100">
                <a:solidFill>
                  <a:srgbClr val="4A5568"/>
                </a:solidFill>
              </a:rPr>
              <a:t>• Harness smoke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84248" y="4023360"/>
            <a:ext cx="1554480" cy="123444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5875">
            <a:solidFill>
              <a:srgbClr val="7B52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100">
                <a:solidFill>
                  <a:srgbClr val="3F2560"/>
                </a:solidFill>
              </a:rPr>
              <a:t>Produces</a:t>
            </a:r>
          </a:p>
          <a:p>
            <a:pPr algn="ctr"/>
            <a:r>
              <a:rPr sz="1100">
                <a:solidFill>
                  <a:srgbClr val="3F2560"/>
                </a:solidFill>
              </a:rPr>
              <a:t>preflight.json</a:t>
            </a:r>
          </a:p>
          <a:p>
            <a:pPr algn="ctr"/>
            <a:r>
              <a:rPr sz="1100">
                <a:solidFill>
                  <a:srgbClr val="3F2560"/>
                </a:solidFill>
              </a:rPr>
              <a:t>GO → continue</a:t>
            </a:r>
          </a:p>
          <a:p>
            <a:pPr algn="ctr"/>
            <a:r>
              <a:rPr sz="1100">
                <a:solidFill>
                  <a:srgbClr val="3F2560"/>
                </a:solidFill>
              </a:rPr>
              <a:t>NO-GO → stop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74519" y="1897380"/>
            <a:ext cx="109729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48456" y="150876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300">
                <a:solidFill>
                  <a:srgbClr val="FFFFFF"/>
                </a:solidFill>
              </a:rPr>
              <a:t>3  Build zones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workload.py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48456" y="2423160"/>
            <a:ext cx="1554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/>
            <a:r>
              <a:rPr b="1" sz="1100">
                <a:solidFill>
                  <a:srgbClr val="4A5568"/>
                </a:solidFill>
              </a:rPr>
              <a:t>What it does</a:t>
            </a:r>
          </a:p>
          <a:p>
            <a:pPr algn="l"/>
            <a:r>
              <a:rPr sz="1100">
                <a:solidFill>
                  <a:srgbClr val="4A5568"/>
                </a:solidFill>
              </a:rPr>
              <a:t>• bench.example in 3 sizes</a:t>
            </a:r>
          </a:p>
          <a:p>
            <a:pPr algn="l"/>
            <a:r>
              <a:rPr sz="1100">
                <a:solidFill>
                  <a:srgbClr val="4A5568"/>
                </a:solidFill>
              </a:rPr>
              <a:t>• RRsets = 2·names + 5</a:t>
            </a:r>
          </a:p>
          <a:p>
            <a:pPr algn="l"/>
            <a:r>
              <a:rPr sz="1100">
                <a:solidFill>
                  <a:srgbClr val="4A5568"/>
                </a:solidFill>
              </a:rPr>
              <a:t>• RFC 4034 signing inputs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48456" y="4023360"/>
            <a:ext cx="1554480" cy="123444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5875">
            <a:solidFill>
              <a:srgbClr val="7B52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100">
                <a:solidFill>
                  <a:srgbClr val="3F2560"/>
                </a:solidFill>
              </a:rPr>
              <a:t>Produces</a:t>
            </a:r>
          </a:p>
          <a:p>
            <a:pPr algn="ctr"/>
            <a:r>
              <a:rPr sz="1100">
                <a:solidFill>
                  <a:srgbClr val="3F2560"/>
                </a:solidFill>
              </a:rPr>
              <a:t>zone.txt</a:t>
            </a:r>
          </a:p>
          <a:p>
            <a:pPr algn="ctr"/>
            <a:r>
              <a:rPr sz="1100">
                <a:solidFill>
                  <a:srgbClr val="3F2560"/>
                </a:solidFill>
              </a:rPr>
              <a:t>messages.bin</a:t>
            </a:r>
          </a:p>
          <a:p>
            <a:pPr algn="ctr"/>
            <a:r>
              <a:rPr sz="1100">
                <a:solidFill>
                  <a:srgbClr val="3F2560"/>
                </a:solidFill>
              </a:rPr>
              <a:t>manifest.csv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38727" y="1897380"/>
            <a:ext cx="109729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12663" y="150876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300">
                <a:solidFill>
                  <a:srgbClr val="FFFFFF"/>
                </a:solidFill>
              </a:rPr>
              <a:t>4  Sign &amp; verify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harness.py → mtlbench.c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2663" y="2423160"/>
            <a:ext cx="1554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/>
            <a:r>
              <a:rPr b="1" sz="1100">
                <a:solidFill>
                  <a:srgbClr val="4A5568"/>
                </a:solidFill>
              </a:rPr>
              <a:t>What it does</a:t>
            </a:r>
          </a:p>
          <a:p>
            <a:pPr algn="l"/>
            <a:r>
              <a:rPr sz="1100">
                <a:solidFill>
                  <a:srgbClr val="4A5568"/>
                </a:solidFill>
              </a:rPr>
              <a:t>• Warm-up, then N trials</a:t>
            </a:r>
          </a:p>
          <a:p>
            <a:pPr algn="l"/>
            <a:r>
              <a:rPr sz="1100">
                <a:solidFill>
                  <a:srgbClr val="4A5568"/>
                </a:solidFill>
              </a:rPr>
              <a:t>• Shuffled mode order</a:t>
            </a:r>
          </a:p>
          <a:p>
            <a:pPr algn="l"/>
            <a:r>
              <a:rPr sz="1100">
                <a:solidFill>
                  <a:srgbClr val="4A5568"/>
                </a:solidFill>
              </a:rPr>
              <a:t>• Tamper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12663" y="4023360"/>
            <a:ext cx="1554480" cy="123444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5875">
            <a:solidFill>
              <a:srgbClr val="7B52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100">
                <a:solidFill>
                  <a:srgbClr val="3F2560"/>
                </a:solidFill>
              </a:rPr>
              <a:t>Produces</a:t>
            </a:r>
          </a:p>
          <a:p>
            <a:pPr algn="ctr"/>
            <a:r>
              <a:rPr sz="1100">
                <a:solidFill>
                  <a:srgbClr val="3F2560"/>
                </a:solidFill>
              </a:rPr>
              <a:t>trials.csv</a:t>
            </a:r>
          </a:p>
          <a:p>
            <a:pPr algn="ctr"/>
            <a:r>
              <a:rPr sz="1100">
                <a:solidFill>
                  <a:srgbClr val="3F2560"/>
                </a:solidFill>
              </a:rPr>
              <a:t>ops.parquet</a:t>
            </a:r>
          </a:p>
          <a:p>
            <a:pPr algn="ctr"/>
            <a:r>
              <a:rPr sz="1100">
                <a:solidFill>
                  <a:srgbClr val="3F2560"/>
                </a:solidFill>
              </a:rPr>
              <a:t>artifacts/ (signatures)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02935" y="1897380"/>
            <a:ext cx="109728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76871" y="150876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300">
                <a:solidFill>
                  <a:srgbClr val="FFFFFF"/>
                </a:solidFill>
              </a:rPr>
              <a:t>5  Bytes &amp; cache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dnswire.py · cache.py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76871" y="2423160"/>
            <a:ext cx="1554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/>
            <a:r>
              <a:rPr b="1" sz="1100">
                <a:solidFill>
                  <a:srgbClr val="4A5568"/>
                </a:solidFill>
              </a:rPr>
              <a:t>What it does</a:t>
            </a:r>
          </a:p>
          <a:p>
            <a:pPr algn="l"/>
            <a:r>
              <a:rPr sz="1100">
                <a:solidFill>
                  <a:srgbClr val="4A5568"/>
                </a:solidFill>
              </a:rPr>
              <a:t>• Real DNS answers</a:t>
            </a:r>
          </a:p>
          <a:p>
            <a:pPr algn="l"/>
            <a:r>
              <a:rPr sz="1100">
                <a:solidFill>
                  <a:srgbClr val="4A5568"/>
                </a:solidFill>
              </a:rPr>
              <a:t>• UDP 1232 vs TC → TCP</a:t>
            </a:r>
          </a:p>
          <a:p>
            <a:pPr algn="l"/>
            <a:r>
              <a:rPr sz="1100">
                <a:solidFill>
                  <a:srgbClr val="4A5568"/>
                </a:solidFill>
              </a:rPr>
              <a:t>• Resolver cache memory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76871" y="4023360"/>
            <a:ext cx="1554480" cy="123444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5875">
            <a:solidFill>
              <a:srgbClr val="7B52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100">
                <a:solidFill>
                  <a:srgbClr val="3F2560"/>
                </a:solidFill>
              </a:rPr>
              <a:t>Produces</a:t>
            </a:r>
          </a:p>
          <a:p>
            <a:pPr algn="ctr"/>
            <a:r>
              <a:rPr sz="1100">
                <a:solidFill>
                  <a:srgbClr val="3F2560"/>
                </a:solidFill>
              </a:rPr>
              <a:t>responses.csv</a:t>
            </a:r>
          </a:p>
          <a:p>
            <a:pPr algn="ctr"/>
            <a:r>
              <a:rPr sz="1100">
                <a:solidFill>
                  <a:srgbClr val="3F2560"/>
                </a:solidFill>
              </a:rPr>
              <a:t>workload.csv</a:t>
            </a:r>
          </a:p>
          <a:p>
            <a:pPr algn="ctr"/>
            <a:r>
              <a:rPr sz="1100">
                <a:solidFill>
                  <a:srgbClr val="3F2560"/>
                </a:solidFill>
              </a:rPr>
              <a:t>cache.csv · sizes.csv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67143" y="1897380"/>
            <a:ext cx="109728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641080" y="150876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300">
                <a:solidFill>
                  <a:srgbClr val="FFFFFF"/>
                </a:solidFill>
              </a:rPr>
              <a:t>6  Statistics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stats.py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2423160"/>
            <a:ext cx="1554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/>
            <a:r>
              <a:rPr b="1" sz="1100">
                <a:solidFill>
                  <a:srgbClr val="4A5568"/>
                </a:solidFill>
              </a:rPr>
              <a:t>What it does</a:t>
            </a:r>
          </a:p>
          <a:p>
            <a:pPr algn="l"/>
            <a:r>
              <a:rPr sz="1100">
                <a:solidFill>
                  <a:srgbClr val="4A5568"/>
                </a:solidFill>
              </a:rPr>
              <a:t>• Median per trial set</a:t>
            </a:r>
          </a:p>
          <a:p>
            <a:pPr algn="l"/>
            <a:r>
              <a:rPr sz="1100">
                <a:solidFill>
                  <a:srgbClr val="4A5568"/>
                </a:solidFill>
              </a:rPr>
              <a:t>• Bootstrap 95% CI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4023360"/>
            <a:ext cx="1554480" cy="123444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5875">
            <a:solidFill>
              <a:srgbClr val="7B52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100">
                <a:solidFill>
                  <a:srgbClr val="3F2560"/>
                </a:solidFill>
              </a:rPr>
              <a:t>Produces</a:t>
            </a:r>
          </a:p>
          <a:p>
            <a:pPr algn="ctr"/>
            <a:r>
              <a:rPr sz="1100">
                <a:solidFill>
                  <a:srgbClr val="3F2560"/>
                </a:solidFill>
              </a:rPr>
              <a:t>summary.json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31352" y="1897380"/>
            <a:ext cx="109728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305287" y="150876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300">
                <a:solidFill>
                  <a:srgbClr val="FFFFFF"/>
                </a:solidFill>
              </a:rPr>
              <a:t>7  Report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report.py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05287" y="2423160"/>
            <a:ext cx="1554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/>
            <a:r>
              <a:rPr b="1" sz="1100">
                <a:solidFill>
                  <a:srgbClr val="4A5568"/>
                </a:solidFill>
              </a:rPr>
              <a:t>What it does</a:t>
            </a:r>
          </a:p>
          <a:p>
            <a:pPr algn="l"/>
            <a:r>
              <a:rPr sz="1100">
                <a:solidFill>
                  <a:srgbClr val="4A5568"/>
                </a:solidFill>
              </a:rPr>
              <a:t>• Figures</a:t>
            </a:r>
          </a:p>
          <a:p>
            <a:pPr algn="l"/>
            <a:r>
              <a:rPr sz="1100">
                <a:solidFill>
                  <a:srgbClr val="4A5568"/>
                </a:solidFill>
              </a:rPr>
              <a:t>• Data-driven 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05287" y="4023360"/>
            <a:ext cx="1554480" cy="123444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5875">
            <a:solidFill>
              <a:srgbClr val="7B52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100">
                <a:solidFill>
                  <a:srgbClr val="3F2560"/>
                </a:solidFill>
              </a:rPr>
              <a:t>Produces</a:t>
            </a:r>
          </a:p>
          <a:p>
            <a:pPr algn="ctr"/>
            <a:r>
              <a:rPr sz="1100">
                <a:solidFill>
                  <a:srgbClr val="3F2560"/>
                </a:solidFill>
              </a:rPr>
              <a:t>report.md / .html</a:t>
            </a:r>
          </a:p>
          <a:p>
            <a:pPr algn="ctr"/>
            <a:r>
              <a:rPr sz="1100">
                <a:solidFill>
                  <a:srgbClr val="3F2560"/>
                </a:solidFill>
              </a:rPr>
              <a:t>figures/</a:t>
            </a:r>
          </a:p>
          <a:p>
            <a:pPr algn="ctr"/>
            <a:r>
              <a:rPr sz="1100">
                <a:solidFill>
                  <a:srgbClr val="3F2560"/>
                </a:solidFill>
              </a:rPr>
              <a:t>→ dashboard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195559" y="1897380"/>
            <a:ext cx="109728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20040" y="5486400"/>
            <a:ext cx="11521440" cy="86868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587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100">
                <a:solidFill>
                  <a:srgbClr val="7A4A00"/>
                </a:solidFill>
              </a:rPr>
              <a:t>Optional, after a run</a:t>
            </a:r>
          </a:p>
          <a:p>
            <a:pPr algn="ctr"/>
            <a:r>
              <a:rPr sz="1000">
                <a:solidFill>
                  <a:srgbClr val="7A4A00"/>
                </a:solidFill>
              </a:rPr>
              <a:t>runner live  → real NSD server + real client + tcpdump pcap        runner crosscheck  → model bytes vs NSD        streamlit run dashboard/app.py        scripts/make_pdf.ps1  → report.pdf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