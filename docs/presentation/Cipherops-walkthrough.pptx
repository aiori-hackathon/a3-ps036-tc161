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This session walks through Cipherops, our benchmark for problem statement PS-036: post-quantum DNSSEC with Merkle Tree Ladder mode, measured with the supplied reference implementation. I will explain why the problem matters, how the system is built, what happens in each of the seven stages of a run with real input and output values, what every measurement means, and what the results show. All numbers come from our quick demo run of October 7: three zone sizes, five signing modes, three trials each.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plan. First the problem and the one idea MTL brings. Then what PS-036 asks us to measure and how Cipherops is built to measure it. Then the core of the talk: the seven stages of a run, each with its inputs, what happens, and what comes out. Then the results, one slide per measurement, a single summary table, an honest look at what is measured versus modelled, and finally how anyone can reproduce and inspect every number.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DNSSEC attaches a signature to every answer. Classical signatures are tiny, 64 bytes for Ed25519 or ECDSA. The post-quantum scheme we test, SLH-DSA-SHA2-128s from FIPS 205, has 7,856-byte signatures and takes about half a second to sign one record set. Two consequences. First, an answer for a single IP address grows from 178 bytes to almost 8 kilobytes, which never fits the 1,232-byte UDP buffer recommended since DNS Flag Day 2020; every lookup is truncated and has to be repeated over TCP. Second, signing a ten-thousand-record zone takes about 80 minutes. MTL mode claims to solve both by signing once per zone. PS-036 asks us to measure that claim with Verisign's reference implementation, and to defer if that implementation does not 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idea of MTL in one picture. Each record set's signing input is hashed into a leaf of a Merkle tree. Leaves are paired and hashed upwards. With 6 record sets, 6 is binary 1-1-0, so the tree ends in two complete subtrees whose tops are called rungs: R1 covers leaves 0 to 3, R2 covers 4 and 5. The rungs together are the ladder, and only the ladder is signed with SLH-DSA, once for the whole zone. The answer for record set 2 carries only the condensed signature: the sibling hashes on its path to the rung, here L3 and N01, shown in green. A resolver that already holds the verified ladder recomputes L2, then N23, then R1 and checks that R1 is in the ladder: a few hash operations instead of an SLH-DSA verification. The first time, it needs the ladder itself, which it fetches once with the mtl-mode-full option. In our zones the condensed signature is 156 to 204 bytes and the signed ladder about 8 kilobytes.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PS-036 is specific, so we built the benchmark around its list. Use the reference implementation: we link Verisign's MTL library unmodified at a pinned commit. Defer if it fails: a go/no-go gate runs Verisign's own tests before anything is measured. One post-quantum algorithm with and without MTL: SLH-DSA in MTL mode against SLH-DSA signing every record set, with three classical algorithms as reference points. Then the four measurements: signing time and verification time come from a C harness that times each library call; transmitted bytes come from real DNS messages built around the real signatures; cache usage is measured in a real resolver cache. Three dataset sizes and repeated trials, summarised with medians and confidence intervals. The right column tells you which output file holds each number.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component view. On the Windows host there are only three things: the PowerShell script that starts a run, the results folder, and the Streamlit dashboard that reads it. Everything else runs in one pinned Docker container: Fedora 42 with OpenSSL 3.6.0, liboqs 0.16.0 and Verisign's MTL library, limited to one CPU core, 4 GB and no network, so timings are comparable. Inside, runner.py drives seven Python components, one per stage. The only component that touches cryptography is harness.py, which launches mtlbench, our small C program. mtlbench calls the three libraries directly: Verisign MTL for MTL mode, liboqs for SLH-DSA without MTL, OpenSSL for the classical algorithms. We implement no cryptography ourselves. The preflight component also uses Verisign's own test binary and command-line tools. The dashed box is optional: a cross-check against a real NSD DNS server and a live packet capture. Results reach Windows through a volume mount.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system as data flow. The operator starts a run. Process 1 validates the reference library against its own tests; only on GO do we continue. Process 2 builds the zones from the configuration, data store D1, and writes the signing inputs, D2. Process 3 sends those inputs to the reference libraries and gets back real signatures and timings, D3. Process 4 builds DNS answers around those signatures and computes bytes and cache use. Process 5 turns all tables, D4, into statistics, the report and the dashboard for reviewers. Each data store is a folder or file inside the run directory, so every number can be traced back.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is the first design rule. Every library is pinned to an exact tag or commit and built into one Docker image; the Verisign library is compiled with -O2 like liboqs. Each trial runs on a single dedicated CPU core with 4 GB of memory and no network, so nothing else competes with the measurement. One PowerShell script builds the image and starts the run; the same script runs only the go/no-go gate. A run writes a timestamped folder under results/runs, and the dashboard reads those folders. Our quick demo used configs/quick.yaml; the full PS-036 run uses the default scenarios file.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run is seven stages executed in order by cmd_run in runner.py. Stage 1 loads the configuration and records the environment. Stage 2 is the go/no-go gate. Stage 3 builds the DNS zones and, for every algorithm, the exact bytes each signature must cover. Stage 4 is the cryptography: our C harness signs and verifies everything, 45 times in the quick demo. Stage 5 turns signatures into DNS traffic and counts bytes and cache use. Stage 6 computes medians and confidence intervals. Stage 7 writes the report. The next slides take each stage in turn with its real values.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1 reads the configuration, creates a timestamped run folder and writes two files: the configuration as used, and environment.json, which records the CPU, the pinned core, every library version, the Git commit, the Docker image ID and a hash of our harness. Anyone reading a number later can see exactly what produced it. Stage 2 is the go/no-go gate PS-036 asks for. It checks the library is installed, runs Verisign's own test suite, 89 tests, runs Verisign's command-line tools end to end on 16 messages and checks a tampered message is rejected, and runs our harness on a tiny zone in all five modes. All passed, verdict GO. Had any critical check failed, the run would stop with exit code 3 and produce no numbers.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3 builds three DNS zones from the seed, so they are identical on every run. Each name gets one record set: 60 percent small, a single IP address; 30 percent medium, three mail servers or four IPv6 addresses; 10 percent large, a 1 to 2 kilobyte text record. Add the four apex record sets and the NSEC3 chain for denial of existence: 20 names become 45 record sets, 200 names become 405. Then, for every algorithm, we compute what DNSSEC actually signs: the RRSIG fields with an empty signature, 33 bytes here, followed by the record set in canonical form. For host000000's A record that is 73 bytes. Because the algorithm number and key tag are inside those bytes, every mode gets its own file, 15 in total. No keys exist yet; they are created inside each trial. Direct SLH-DSA is too slow to sign every record of the bigger zones, so it signs an evenly spaced sample and we extrapolate.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4 is where the cryptography happens. For each of the 45 trials, Python starts our C program mtlbench with one messages file. mtlbench makes a fresh key pair, signs every message, verifies every message, and times each library call with a nanosecond clock. For MTL on the small zone: 45 cheap hash operations add the record sets as leaves; the ladder is signed once with SLH-DSA, 486 milliseconds, which is almost all of the signing cost; the condensed signatures are extracted. On the verifier side it builds a separate verifier from the public key only, like a resolver, verifies the ladder once, then verifies each answer in about 2.4 microseconds. It also does 16 cold verifications with the full signature, and flips one bit in a message, a signature and the ladder: all three must be rejected. Direct SLH-DSA instead signs every record at half a second each. The output JSON is stored raw, summarised into one row of trials.csv, and the first trial's signatures are kept for stage 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5 answers a different question from stage 4: not how long the cryptography takes, but what travels over the network and what a resolver stores. We build real DNS queries and answers with dnspython and put the real signatures from stage 4 inside. For host000000's A record the answer is 178 bytes with Ed25519, 271 with MTL, and 7,970 with direct SLH-DSA, which does not fit 1,232 bytes, so the server sends an empty truncated reply and the client asks again over TCP. The transport model adds those exchanges up. Then we replay a realistic stream of 301 lookups: the DNSKEY first, popular names much more often than rare ones following Zipf's law, 10 percent non-existent names. Repeats are served from cache, so only 48 answers are sent for the small zone. For MTL the resolver fetches the ladder once over TCP after its first answer. Finally the received answers are loaded into dnspython's resolver cache and measured.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6 turns repeated trials into statistics. For every zone and mode we take the trial values and report the median, because a single slow trial should not move the result, and a 95 percent bootstrap confidence interval: resample the trial values two thousand times, take the median of each resample, and keep the middle 95 percent. For example, signing the large zone with MTL has a median of 0.516 seconds with an interval from 0.47 to 0.58. Everything goes into summary.json. Stage 7 writes a complete report in Markdown and HTML with the figures you will see next, and the Streamlit dashboard reads the same folder. The process exit code tells automation whether every check passed.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Signing time for the whole zone, on a log scale. The red bars are SLH-DSA without MTL; hatched means extrapolated from the measured sample. It grows with the zone: 22 seconds for 45 record sets, about 209 seconds for 405, and it would be about 80 minutes for the full 10,005. The green bars are MTL: about half a second at every size, because the expensive SLH-DSA signature is made once per zone and each record only adds a hash. That is about 400 times faster on the large zone, and the gap grows with zone size. Classical algorithms remain faster still, which is expected.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Verification, again whole zone and log scale. Once a resolver holds the verified ladder, every MTL answer is checked with a few hashes: 5.3 microseconds per answer on the large zone, including the one ladder verification spread over all answers. That is about 100 times faster than direct SLH-DSA and even faster than Ed25519 or ECDSA. The first answer is different: with nothing cached the resolver must verify the ladder's SLH-DSA signature, 513 microseconds, the same as one direct SLH-DSA verification. So MTL moves the post-quantum cost to the first contact with a zone.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Response sizes by record class for the large zone, with the 1,232-byte UDP limit as a dotted line. Every direct SLH-DSA answer is around 8 kilobytes, and NXDOMAIN answers over 30 kilobytes because they carry up to four signatures: none fit. With MTL, answers for apex, small and medium records sit at a few hundred bytes, close to RSA, and all fit. What still exceeds the limit with MTL are the large TXT records, which exceed it with every algorithm, and some NXDOMAIN answers that carry several condensed signatures.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Total bytes for the whole lookup stream. Direct SLH-DSA sends one and a half megabytes for 106 answers, and every single answer needs a TCP retry. MTL sends 89 kilobytes, 17 times less, including the one 8-kilobyte ladder fetch; 32 answers still need TCP, mostly the large TXT and some NXDOMAIN. That is within a factor of two of Ed25519 and slightly less than RSA-2048 today. In other words, MTL brings post-quantum DNSSEC traffic back to the range DNS already handles.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Cache usage. On the left, measured: the answers the resolver received are loaded into dnspython's real cache and we count the signature bytes it holds. Direct SLH-DSA needs one and a half megabytes for the large zone; MTL needs 44 kilobytes including the ladder, the same order as RSA. On the right, the same quantity from the formulas in section 12 of the MTL draft; measured and analytical agree, which also validates that the reference implementation produces the sizes the draft predicts. For the signer, storing all signatures for the zone drops from 3.18 megabytes to 87 kilobytes, 36 times less.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whole result. Against direct SLH-DSA, MTL signs the zone about 400 times faster, verifies a cached answer about 100 times faster, makes small answers fit in UDP again, cuts traffic 17 times and storage 36 times. Against today's Ed25519 it is close on traffic and faster on warm verification. The price is the first contact with a zone: one 8-kilobyte ladder fetch over TCP and one SLH-DSA verification. And every correctness check passed in every trial. These are quick-demo numbers; the full PS-036 run with zones up to 5,000 names and five trials replaces them.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important to be clear about what is measured. Timings are measured, call by call, on a pinned core. Message sizes are exact, because they come from real DNS encoding of real signatures. What is modelled is the transport arithmetic around those messages, and the resolver's behaviour: it caches everything for the run and fetches one ladder per zone, which is how the draft describes it. For direct SLH-DSA on the bigger zones, the zone total is extrapolated from a sample, and the charts mark that with hatching. Two limitations to state openly: the DNSKEY record contains a placeholder key of the correct length, so sizes are exact but an outside validator could not check the zone, and the maximum-memory figure reflects the Python parent process. The full PS-036 run adds bigger zones, more trials, and an optional cross-check against a real NSD server.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shown today can be reproduced with one command, and every number can be traced. For learning, the own.py script runs the whole pipeline on tiny zones and prints every variable at every stage. The outputs reference explains every file and column with its unit and formula, and the end-to-end flow document lists the inputs and outputs of each stage with exact values. The report and the dashboard present the results of any run.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Happy to take questions: on the design, on any stage, or on any number; each one can be traced to its file and the code that produced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iori-logo.png"/>
          <p:cNvPicPr>
            <a:picLocks noChangeAspect="1"/>
          </p:cNvPicPr>
          <p:nvPr/>
        </p:nvPicPr>
        <p:blipFill>
          <a:blip r:embed="rId2"/>
          <a:stretch>
            <a:fillRect/>
          </a:stretch>
        </p:blipFill>
        <p:spPr>
          <a:xfrm>
            <a:off x="530352" y="530352"/>
            <a:ext cx="1078992" cy="1078992"/>
          </a:xfrm>
          <a:prstGeom prst="rect">
            <a:avLst/>
          </a:prstGeom>
        </p:spPr>
      </p:pic>
      <p:sp>
        <p:nvSpPr>
          <p:cNvPr id="3" name="TextBox 2"/>
          <p:cNvSpPr txBox="1"/>
          <p:nvPr/>
        </p:nvSpPr>
        <p:spPr>
          <a:xfrm>
            <a:off x="539496" y="2331720"/>
            <a:ext cx="11109960" cy="685800"/>
          </a:xfrm>
          <a:prstGeom prst="rect">
            <a:avLst/>
          </a:prstGeom>
          <a:noFill/>
        </p:spPr>
        <p:txBody>
          <a:bodyPr wrap="square" anchor="t" lIns="0" rIns="0" tIns="0" bIns="0">
            <a:spAutoFit/>
          </a:bodyPr>
          <a:lstStyle/>
          <a:p>
            <a:pPr algn="l"/>
            <a:r>
              <a:rPr sz="4400" b="1" i="0">
                <a:solidFill>
                  <a:srgbClr val="0000DC"/>
                </a:solidFill>
                <a:latin typeface="Calibri"/>
              </a:rPr>
              <a:t>Cipherops</a:t>
            </a:r>
          </a:p>
        </p:txBody>
      </p:sp>
      <p:sp>
        <p:nvSpPr>
          <p:cNvPr id="4" name="TextBox 3"/>
          <p:cNvSpPr txBox="1"/>
          <p:nvPr/>
        </p:nvSpPr>
        <p:spPr>
          <a:xfrm>
            <a:off x="539496" y="3108960"/>
            <a:ext cx="11109960" cy="457200"/>
          </a:xfrm>
          <a:prstGeom prst="rect">
            <a:avLst/>
          </a:prstGeom>
          <a:noFill/>
        </p:spPr>
        <p:txBody>
          <a:bodyPr wrap="square" anchor="t" lIns="0" rIns="0" tIns="0" bIns="0">
            <a:spAutoFit/>
          </a:bodyPr>
          <a:lstStyle/>
          <a:p>
            <a:pPr algn="l"/>
            <a:r>
              <a:rPr sz="2400" b="0" i="0">
                <a:solidFill>
                  <a:srgbClr val="000000"/>
                </a:solidFill>
                <a:latin typeface="Calibri"/>
              </a:rPr>
              <a:t>PQC DNSSEC MTL Benchmark Using a Reference Implementation (PS-036)</a:t>
            </a:r>
          </a:p>
        </p:txBody>
      </p:sp>
      <p:sp>
        <p:nvSpPr>
          <p:cNvPr id="5" name="TextBox 4"/>
          <p:cNvSpPr txBox="1"/>
          <p:nvPr/>
        </p:nvSpPr>
        <p:spPr>
          <a:xfrm>
            <a:off x="539496" y="3611880"/>
            <a:ext cx="11109960" cy="411480"/>
          </a:xfrm>
          <a:prstGeom prst="rect">
            <a:avLst/>
          </a:prstGeom>
          <a:noFill/>
        </p:spPr>
        <p:txBody>
          <a:bodyPr wrap="square" anchor="t" lIns="0" rIns="0" tIns="0" bIns="0">
            <a:spAutoFit/>
          </a:bodyPr>
          <a:lstStyle/>
          <a:p>
            <a:pPr algn="l"/>
            <a:r>
              <a:rPr sz="2000" b="0" i="0">
                <a:solidFill>
                  <a:srgbClr val="555555"/>
                </a:solidFill>
                <a:latin typeface="Calibri"/>
              </a:rPr>
              <a:t>How it works: architecture, pipeline, measurements and results</a:t>
            </a:r>
          </a:p>
        </p:txBody>
      </p:sp>
      <p:sp>
        <p:nvSpPr>
          <p:cNvPr id="6" name="TextBox 5"/>
          <p:cNvSpPr txBox="1"/>
          <p:nvPr/>
        </p:nvSpPr>
        <p:spPr>
          <a:xfrm>
            <a:off x="539496" y="4526280"/>
            <a:ext cx="11109960" cy="731520"/>
          </a:xfrm>
          <a:prstGeom prst="rect">
            <a:avLst/>
          </a:prstGeom>
          <a:noFill/>
        </p:spPr>
        <p:txBody>
          <a:bodyPr wrap="square" anchor="t" lIns="0" rIns="0" tIns="0" bIns="0">
            <a:spAutoFit/>
          </a:bodyPr>
          <a:lstStyle/>
          <a:p>
            <a:pPr algn="l"/>
            <a:r>
              <a:rPr sz="1900" b="1" i="0">
                <a:solidFill>
                  <a:srgbClr val="000000"/>
                </a:solidFill>
                <a:latin typeface="Calibri"/>
              </a:rPr>
              <a:t>Akash Joshi  ·  A3-PS036-TC161</a:t>
            </a:r>
          </a:p>
          <a:p>
            <a:pPr algn="l"/>
            <a:r>
              <a:rPr sz="1900" b="1" i="0">
                <a:solidFill>
                  <a:srgbClr val="000000"/>
                </a:solidFill>
                <a:latin typeface="Calibri"/>
              </a:rPr>
              <a:t>akashjoshi2023@gmail.com</a:t>
            </a:r>
          </a:p>
        </p:txBody>
      </p:sp>
      <p:sp>
        <p:nvSpPr>
          <p:cNvPr id="7" name="TextBox 6"/>
          <p:cNvSpPr txBox="1"/>
          <p:nvPr/>
        </p:nvSpPr>
        <p:spPr>
          <a:xfrm>
            <a:off x="539496" y="5504688"/>
            <a:ext cx="11109960" cy="320040"/>
          </a:xfrm>
          <a:prstGeom prst="rect">
            <a:avLst/>
          </a:prstGeom>
          <a:noFill/>
        </p:spPr>
        <p:txBody>
          <a:bodyPr wrap="square" anchor="t" lIns="0" rIns="0" tIns="0" bIns="0">
            <a:spAutoFit/>
          </a:bodyPr>
          <a:lstStyle/>
          <a:p>
            <a:pPr algn="l"/>
            <a:r>
              <a:rPr sz="1700" b="0" i="0">
                <a:solidFill>
                  <a:srgbClr val="000000"/>
                </a:solidFill>
                <a:latin typeface="Calibri"/>
              </a:rPr>
              <a:t>AIORI Hackathon 3</a:t>
            </a:r>
          </a:p>
        </p:txBody>
      </p:sp>
      <p:sp>
        <p:nvSpPr>
          <p:cNvPr id="8" name="TextBox 7"/>
          <p:cNvSpPr txBox="1"/>
          <p:nvPr/>
        </p:nvSpPr>
        <p:spPr>
          <a:xfrm>
            <a:off x="539496" y="5943600"/>
            <a:ext cx="11109960" cy="365760"/>
          </a:xfrm>
          <a:prstGeom prst="rect">
            <a:avLst/>
          </a:prstGeom>
          <a:noFill/>
        </p:spPr>
        <p:txBody>
          <a:bodyPr wrap="square" anchor="t" lIns="0" rIns="0" tIns="0" bIns="0">
            <a:spAutoFit/>
          </a:bodyPr>
          <a:lstStyle/>
          <a:p>
            <a:pPr algn="l"/>
            <a:r>
              <a:rPr sz="1800" b="0" i="0">
                <a:solidFill>
                  <a:srgbClr val="000000"/>
                </a:solidFill>
                <a:latin typeface="Calibri"/>
              </a:rPr>
              <a:t>October 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6080" y="73152"/>
            <a:ext cx="3200400" cy="274320"/>
          </a:xfrm>
          <a:prstGeom prst="rect">
            <a:avLst/>
          </a:prstGeom>
          <a:noFill/>
        </p:spPr>
        <p:txBody>
          <a:bodyPr wrap="square" anchor="t" lIns="0" rIns="0" tIns="0" bIns="0">
            <a:spAutoFit/>
          </a:bodyPr>
          <a:lstStyle/>
          <a:p>
            <a:pPr algn="r"/>
            <a:r>
              <a:rPr sz="1200" b="1" i="0">
                <a:solidFill>
                  <a:srgbClr val="0000DC"/>
                </a:solidFill>
                <a:latin typeface="Calibri"/>
              </a:rPr>
              <a:t>AIORI 3</a:t>
            </a:r>
          </a:p>
        </p:txBody>
      </p:sp>
      <p:sp>
        <p:nvSpPr>
          <p:cNvPr id="3" name="TextBox 2"/>
          <p:cNvSpPr txBox="1"/>
          <p:nvPr/>
        </p:nvSpPr>
        <p:spPr>
          <a:xfrm>
            <a:off x="6263640" y="73152"/>
            <a:ext cx="5486400" cy="274320"/>
          </a:xfrm>
          <a:prstGeom prst="rect">
            <a:avLst/>
          </a:prstGeom>
          <a:noFill/>
        </p:spPr>
        <p:txBody>
          <a:bodyPr wrap="square" anchor="t" lIns="0" rIns="0" tIns="0" bIns="0">
            <a:spAutoFit/>
          </a:bodyPr>
          <a:lstStyle/>
          <a:p>
            <a:pPr algn="l"/>
            <a:r>
              <a:rPr sz="1200" b="1" i="0">
                <a:solidFill>
                  <a:srgbClr val="0000DC"/>
                </a:solidFill>
                <a:latin typeface="Calibri"/>
              </a:rPr>
              <a:t>Agenda</a:t>
            </a:r>
          </a:p>
        </p:txBody>
      </p:sp>
      <p:sp>
        <p:nvSpPr>
          <p:cNvPr id="4" name="TextBox 3"/>
          <p:cNvSpPr txBox="1"/>
          <p:nvPr/>
        </p:nvSpPr>
        <p:spPr>
          <a:xfrm>
            <a:off x="539496" y="384048"/>
            <a:ext cx="11109960" cy="548640"/>
          </a:xfrm>
          <a:prstGeom prst="rect">
            <a:avLst/>
          </a:prstGeom>
          <a:noFill/>
        </p:spPr>
        <p:txBody>
          <a:bodyPr wrap="square" anchor="t" lIns="0" rIns="0" tIns="0" bIns="0">
            <a:spAutoFit/>
          </a:bodyPr>
          <a:lstStyle/>
          <a:p>
            <a:pPr algn="l"/>
            <a:r>
              <a:rPr sz="3000" b="1" i="0">
                <a:solidFill>
                  <a:srgbClr val="0000DC"/>
                </a:solidFill>
                <a:latin typeface="Calibri"/>
              </a:rPr>
              <a:t>Agenda</a:t>
            </a:r>
          </a:p>
        </p:txBody>
      </p:sp>
      <p:sp>
        <p:nvSpPr>
          <p:cNvPr id="5" name="TextBox 4"/>
          <p:cNvSpPr txBox="1"/>
          <p:nvPr/>
        </p:nvSpPr>
        <p:spPr>
          <a:xfrm>
            <a:off x="539496" y="978408"/>
            <a:ext cx="11109960" cy="411480"/>
          </a:xfrm>
          <a:prstGeom prst="rect">
            <a:avLst/>
          </a:prstGeom>
          <a:noFill/>
        </p:spPr>
        <p:txBody>
          <a:bodyPr wrap="square" anchor="t" lIns="0" rIns="0" tIns="0" bIns="0">
            <a:spAutoFit/>
          </a:bodyPr>
          <a:lstStyle/>
          <a:p>
            <a:pPr algn="l"/>
            <a:r>
              <a:rPr sz="1700" b="1" i="0">
                <a:solidFill>
                  <a:srgbClr val="000000"/>
                </a:solidFill>
                <a:latin typeface="Calibri"/>
              </a:rPr>
              <a:t>From the problem to the numbers, in the order a run executes.</a:t>
            </a:r>
          </a:p>
        </p:txBody>
      </p:sp>
      <p:sp>
        <p:nvSpPr>
          <p:cNvPr id="6" name="Oval 5"/>
          <p:cNvSpPr/>
          <p:nvPr/>
        </p:nvSpPr>
        <p:spPr>
          <a:xfrm>
            <a:off x="539496" y="1783080"/>
            <a:ext cx="502920" cy="502920"/>
          </a:xfrm>
          <a:prstGeom prst="ellipse">
            <a:avLst/>
          </a:prstGeom>
          <a:solidFill>
            <a:srgbClr val="000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600" b="1" i="0">
                <a:solidFill>
                  <a:srgbClr val="FFFFFF"/>
                </a:solidFill>
                <a:latin typeface="Calibri"/>
              </a:rPr>
              <a:t>1</a:t>
            </a:r>
          </a:p>
        </p:txBody>
      </p:sp>
      <p:sp>
        <p:nvSpPr>
          <p:cNvPr id="7" name="TextBox 6"/>
          <p:cNvSpPr txBox="1"/>
          <p:nvPr/>
        </p:nvSpPr>
        <p:spPr>
          <a:xfrm>
            <a:off x="1225295" y="1801368"/>
            <a:ext cx="4754880" cy="731520"/>
          </a:xfrm>
          <a:prstGeom prst="rect">
            <a:avLst/>
          </a:prstGeom>
          <a:noFill/>
        </p:spPr>
        <p:txBody>
          <a:bodyPr wrap="square" anchor="t" lIns="0" rIns="0" tIns="0" bIns="0">
            <a:spAutoFit/>
          </a:bodyPr>
          <a:lstStyle/>
          <a:p>
            <a:pPr algn="l"/>
            <a:r>
              <a:rPr sz="1700" b="1" i="0">
                <a:solidFill>
                  <a:srgbClr val="000000"/>
                </a:solidFill>
                <a:latin typeface="Calibri"/>
              </a:rPr>
              <a:t>The problem</a:t>
            </a:r>
            <a:r>
              <a:rPr sz="1700" b="0" i="0">
                <a:solidFill>
                  <a:srgbClr val="000000"/>
                </a:solidFill>
                <a:latin typeface="Calibri"/>
              </a:rPr>
              <a:t>: post-quantum signatures in DNS</a:t>
            </a:r>
          </a:p>
        </p:txBody>
      </p:sp>
      <p:sp>
        <p:nvSpPr>
          <p:cNvPr id="8" name="Oval 7"/>
          <p:cNvSpPr/>
          <p:nvPr/>
        </p:nvSpPr>
        <p:spPr>
          <a:xfrm>
            <a:off x="539496" y="2651760"/>
            <a:ext cx="502920" cy="502920"/>
          </a:xfrm>
          <a:prstGeom prst="ellipse">
            <a:avLst/>
          </a:prstGeom>
          <a:solidFill>
            <a:srgbClr val="000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600" b="1" i="0">
                <a:solidFill>
                  <a:srgbClr val="FFFFFF"/>
                </a:solidFill>
                <a:latin typeface="Calibri"/>
              </a:rPr>
              <a:t>2</a:t>
            </a:r>
          </a:p>
        </p:txBody>
      </p:sp>
      <p:sp>
        <p:nvSpPr>
          <p:cNvPr id="9" name="TextBox 8"/>
          <p:cNvSpPr txBox="1"/>
          <p:nvPr/>
        </p:nvSpPr>
        <p:spPr>
          <a:xfrm>
            <a:off x="1225295" y="2670048"/>
            <a:ext cx="4754880" cy="731520"/>
          </a:xfrm>
          <a:prstGeom prst="rect">
            <a:avLst/>
          </a:prstGeom>
          <a:noFill/>
        </p:spPr>
        <p:txBody>
          <a:bodyPr wrap="square" anchor="t" lIns="0" rIns="0" tIns="0" bIns="0">
            <a:spAutoFit/>
          </a:bodyPr>
          <a:lstStyle/>
          <a:p>
            <a:pPr algn="l"/>
            <a:r>
              <a:rPr sz="1700" b="1" i="0">
                <a:solidFill>
                  <a:srgbClr val="000000"/>
                </a:solidFill>
                <a:latin typeface="Calibri"/>
              </a:rPr>
              <a:t>MTL mode</a:t>
            </a:r>
            <a:r>
              <a:rPr sz="1700" b="0" i="0">
                <a:solidFill>
                  <a:srgbClr val="000000"/>
                </a:solidFill>
                <a:latin typeface="Calibri"/>
              </a:rPr>
              <a:t> in one picture</a:t>
            </a:r>
          </a:p>
        </p:txBody>
      </p:sp>
      <p:sp>
        <p:nvSpPr>
          <p:cNvPr id="10" name="Oval 9"/>
          <p:cNvSpPr/>
          <p:nvPr/>
        </p:nvSpPr>
        <p:spPr>
          <a:xfrm>
            <a:off x="539496" y="3520439"/>
            <a:ext cx="502920" cy="502920"/>
          </a:xfrm>
          <a:prstGeom prst="ellipse">
            <a:avLst/>
          </a:prstGeom>
          <a:solidFill>
            <a:srgbClr val="000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600" b="1" i="0">
                <a:solidFill>
                  <a:srgbClr val="FFFFFF"/>
                </a:solidFill>
                <a:latin typeface="Calibri"/>
              </a:rPr>
              <a:t>3</a:t>
            </a:r>
          </a:p>
        </p:txBody>
      </p:sp>
      <p:sp>
        <p:nvSpPr>
          <p:cNvPr id="11" name="TextBox 10"/>
          <p:cNvSpPr txBox="1"/>
          <p:nvPr/>
        </p:nvSpPr>
        <p:spPr>
          <a:xfrm>
            <a:off x="1225295" y="3538727"/>
            <a:ext cx="4754880" cy="731520"/>
          </a:xfrm>
          <a:prstGeom prst="rect">
            <a:avLst/>
          </a:prstGeom>
          <a:noFill/>
        </p:spPr>
        <p:txBody>
          <a:bodyPr wrap="square" anchor="t" lIns="0" rIns="0" tIns="0" bIns="0">
            <a:spAutoFit/>
          </a:bodyPr>
          <a:lstStyle/>
          <a:p>
            <a:pPr algn="l"/>
            <a:r>
              <a:rPr sz="1700" b="1" i="0">
                <a:solidFill>
                  <a:srgbClr val="000000"/>
                </a:solidFill>
                <a:latin typeface="Calibri"/>
              </a:rPr>
              <a:t>What PS-036 asks</a:t>
            </a:r>
            <a:r>
              <a:rPr sz="1700" b="0" i="0">
                <a:solidFill>
                  <a:srgbClr val="000000"/>
                </a:solidFill>
                <a:latin typeface="Calibri"/>
              </a:rPr>
              <a:t> and how we measure it</a:t>
            </a:r>
          </a:p>
        </p:txBody>
      </p:sp>
      <p:sp>
        <p:nvSpPr>
          <p:cNvPr id="12" name="Oval 11"/>
          <p:cNvSpPr/>
          <p:nvPr/>
        </p:nvSpPr>
        <p:spPr>
          <a:xfrm>
            <a:off x="539496" y="4389120"/>
            <a:ext cx="502920" cy="502920"/>
          </a:xfrm>
          <a:prstGeom prst="ellipse">
            <a:avLst/>
          </a:prstGeom>
          <a:solidFill>
            <a:srgbClr val="000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600" b="1" i="0">
                <a:solidFill>
                  <a:srgbClr val="FFFFFF"/>
                </a:solidFill>
                <a:latin typeface="Calibri"/>
              </a:rPr>
              <a:t>4</a:t>
            </a:r>
          </a:p>
        </p:txBody>
      </p:sp>
      <p:sp>
        <p:nvSpPr>
          <p:cNvPr id="13" name="TextBox 12"/>
          <p:cNvSpPr txBox="1"/>
          <p:nvPr/>
        </p:nvSpPr>
        <p:spPr>
          <a:xfrm>
            <a:off x="1225295" y="4407407"/>
            <a:ext cx="4754880" cy="731520"/>
          </a:xfrm>
          <a:prstGeom prst="rect">
            <a:avLst/>
          </a:prstGeom>
          <a:noFill/>
        </p:spPr>
        <p:txBody>
          <a:bodyPr wrap="square" anchor="t" lIns="0" rIns="0" tIns="0" bIns="0">
            <a:spAutoFit/>
          </a:bodyPr>
          <a:lstStyle/>
          <a:p>
            <a:pPr algn="l"/>
            <a:r>
              <a:rPr sz="1700" b="1" i="0">
                <a:solidFill>
                  <a:srgbClr val="000000"/>
                </a:solidFill>
                <a:latin typeface="Calibri"/>
              </a:rPr>
              <a:t>Architecture</a:t>
            </a:r>
            <a:r>
              <a:rPr sz="1700" b="0" i="0">
                <a:solidFill>
                  <a:srgbClr val="000000"/>
                </a:solidFill>
                <a:latin typeface="Calibri"/>
              </a:rPr>
              <a:t>: components, container, data flow</a:t>
            </a:r>
          </a:p>
        </p:txBody>
      </p:sp>
      <p:sp>
        <p:nvSpPr>
          <p:cNvPr id="14" name="Oval 13"/>
          <p:cNvSpPr/>
          <p:nvPr/>
        </p:nvSpPr>
        <p:spPr>
          <a:xfrm>
            <a:off x="539496" y="5257800"/>
            <a:ext cx="502920" cy="502920"/>
          </a:xfrm>
          <a:prstGeom prst="ellipse">
            <a:avLst/>
          </a:prstGeom>
          <a:solidFill>
            <a:srgbClr val="000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600" b="1" i="0">
                <a:solidFill>
                  <a:srgbClr val="FFFFFF"/>
                </a:solidFill>
                <a:latin typeface="Calibri"/>
              </a:rPr>
              <a:t>5</a:t>
            </a:r>
          </a:p>
        </p:txBody>
      </p:sp>
      <p:sp>
        <p:nvSpPr>
          <p:cNvPr id="15" name="TextBox 14"/>
          <p:cNvSpPr txBox="1"/>
          <p:nvPr/>
        </p:nvSpPr>
        <p:spPr>
          <a:xfrm>
            <a:off x="1225295" y="5276088"/>
            <a:ext cx="4754880" cy="731520"/>
          </a:xfrm>
          <a:prstGeom prst="rect">
            <a:avLst/>
          </a:prstGeom>
          <a:noFill/>
        </p:spPr>
        <p:txBody>
          <a:bodyPr wrap="square" anchor="t" lIns="0" rIns="0" tIns="0" bIns="0">
            <a:spAutoFit/>
          </a:bodyPr>
          <a:lstStyle/>
          <a:p>
            <a:pPr algn="l"/>
            <a:r>
              <a:rPr sz="1700" b="1" i="0">
                <a:solidFill>
                  <a:srgbClr val="000000"/>
                </a:solidFill>
                <a:latin typeface="Calibri"/>
              </a:rPr>
              <a:t>How to run it</a:t>
            </a:r>
          </a:p>
        </p:txBody>
      </p:sp>
      <p:sp>
        <p:nvSpPr>
          <p:cNvPr id="16" name="Oval 15"/>
          <p:cNvSpPr/>
          <p:nvPr/>
        </p:nvSpPr>
        <p:spPr>
          <a:xfrm>
            <a:off x="6163056" y="1783080"/>
            <a:ext cx="502920" cy="502920"/>
          </a:xfrm>
          <a:prstGeom prst="ellipse">
            <a:avLst/>
          </a:prstGeom>
          <a:solidFill>
            <a:srgbClr val="000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600" b="1" i="0">
                <a:solidFill>
                  <a:srgbClr val="FFFFFF"/>
                </a:solidFill>
                <a:latin typeface="Calibri"/>
              </a:rPr>
              <a:t>6</a:t>
            </a:r>
          </a:p>
        </p:txBody>
      </p:sp>
      <p:sp>
        <p:nvSpPr>
          <p:cNvPr id="17" name="TextBox 16"/>
          <p:cNvSpPr txBox="1"/>
          <p:nvPr/>
        </p:nvSpPr>
        <p:spPr>
          <a:xfrm>
            <a:off x="6848856" y="1801368"/>
            <a:ext cx="4754880" cy="731520"/>
          </a:xfrm>
          <a:prstGeom prst="rect">
            <a:avLst/>
          </a:prstGeom>
          <a:noFill/>
        </p:spPr>
        <p:txBody>
          <a:bodyPr wrap="square" anchor="t" lIns="0" rIns="0" tIns="0" bIns="0">
            <a:spAutoFit/>
          </a:bodyPr>
          <a:lstStyle/>
          <a:p>
            <a:pPr algn="l"/>
            <a:r>
              <a:rPr sz="1700" b="1" i="0">
                <a:solidFill>
                  <a:srgbClr val="000000"/>
                </a:solidFill>
                <a:latin typeface="Calibri"/>
              </a:rPr>
              <a:t>The 7 stages of a run</a:t>
            </a:r>
            <a:r>
              <a:rPr sz="1700" b="0" i="0">
                <a:solidFill>
                  <a:srgbClr val="000000"/>
                </a:solidFill>
                <a:latin typeface="Calibri"/>
              </a:rPr>
              <a:t>, with real inputs and outputs</a:t>
            </a:r>
          </a:p>
        </p:txBody>
      </p:sp>
      <p:sp>
        <p:nvSpPr>
          <p:cNvPr id="18" name="Oval 17"/>
          <p:cNvSpPr/>
          <p:nvPr/>
        </p:nvSpPr>
        <p:spPr>
          <a:xfrm>
            <a:off x="6163056" y="2651760"/>
            <a:ext cx="502920" cy="502920"/>
          </a:xfrm>
          <a:prstGeom prst="ellipse">
            <a:avLst/>
          </a:prstGeom>
          <a:solidFill>
            <a:srgbClr val="000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600" b="1" i="0">
                <a:solidFill>
                  <a:srgbClr val="FFFFFF"/>
                </a:solidFill>
                <a:latin typeface="Calibri"/>
              </a:rPr>
              <a:t>7</a:t>
            </a:r>
          </a:p>
        </p:txBody>
      </p:sp>
      <p:sp>
        <p:nvSpPr>
          <p:cNvPr id="19" name="TextBox 18"/>
          <p:cNvSpPr txBox="1"/>
          <p:nvPr/>
        </p:nvSpPr>
        <p:spPr>
          <a:xfrm>
            <a:off x="6848856" y="2670048"/>
            <a:ext cx="4754880" cy="731520"/>
          </a:xfrm>
          <a:prstGeom prst="rect">
            <a:avLst/>
          </a:prstGeom>
          <a:noFill/>
        </p:spPr>
        <p:txBody>
          <a:bodyPr wrap="square" anchor="t" lIns="0" rIns="0" tIns="0" bIns="0">
            <a:spAutoFit/>
          </a:bodyPr>
          <a:lstStyle/>
          <a:p>
            <a:pPr algn="l"/>
            <a:r>
              <a:rPr sz="1700" b="1" i="0">
                <a:solidFill>
                  <a:srgbClr val="000000"/>
                </a:solidFill>
                <a:latin typeface="Calibri"/>
              </a:rPr>
              <a:t>Results</a:t>
            </a:r>
            <a:r>
              <a:rPr sz="1700" b="0" i="0">
                <a:solidFill>
                  <a:srgbClr val="000000"/>
                </a:solidFill>
                <a:latin typeface="Calibri"/>
              </a:rPr>
              <a:t>: signing, verification, answer sizes, bytes on the wire, cache</a:t>
            </a:r>
          </a:p>
        </p:txBody>
      </p:sp>
      <p:sp>
        <p:nvSpPr>
          <p:cNvPr id="20" name="Oval 19"/>
          <p:cNvSpPr/>
          <p:nvPr/>
        </p:nvSpPr>
        <p:spPr>
          <a:xfrm>
            <a:off x="6163056" y="3520439"/>
            <a:ext cx="502920" cy="502920"/>
          </a:xfrm>
          <a:prstGeom prst="ellipse">
            <a:avLst/>
          </a:prstGeom>
          <a:solidFill>
            <a:srgbClr val="000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600" b="1" i="0">
                <a:solidFill>
                  <a:srgbClr val="FFFFFF"/>
                </a:solidFill>
                <a:latin typeface="Calibri"/>
              </a:rPr>
              <a:t>8</a:t>
            </a:r>
          </a:p>
        </p:txBody>
      </p:sp>
      <p:sp>
        <p:nvSpPr>
          <p:cNvPr id="21" name="TextBox 20"/>
          <p:cNvSpPr txBox="1"/>
          <p:nvPr/>
        </p:nvSpPr>
        <p:spPr>
          <a:xfrm>
            <a:off x="6848856" y="3538727"/>
            <a:ext cx="4754880" cy="731520"/>
          </a:xfrm>
          <a:prstGeom prst="rect">
            <a:avLst/>
          </a:prstGeom>
          <a:noFill/>
        </p:spPr>
        <p:txBody>
          <a:bodyPr wrap="square" anchor="t" lIns="0" rIns="0" tIns="0" bIns="0">
            <a:spAutoFit/>
          </a:bodyPr>
          <a:lstStyle/>
          <a:p>
            <a:pPr algn="l"/>
            <a:r>
              <a:rPr sz="1700" b="1" i="0">
                <a:solidFill>
                  <a:srgbClr val="000000"/>
                </a:solidFill>
                <a:latin typeface="Calibri"/>
              </a:rPr>
              <a:t>The result in one table</a:t>
            </a:r>
          </a:p>
        </p:txBody>
      </p:sp>
      <p:sp>
        <p:nvSpPr>
          <p:cNvPr id="22" name="Oval 21"/>
          <p:cNvSpPr/>
          <p:nvPr/>
        </p:nvSpPr>
        <p:spPr>
          <a:xfrm>
            <a:off x="6163056" y="4389120"/>
            <a:ext cx="502920" cy="502920"/>
          </a:xfrm>
          <a:prstGeom prst="ellipse">
            <a:avLst/>
          </a:prstGeom>
          <a:solidFill>
            <a:srgbClr val="000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600" b="1" i="0">
                <a:solidFill>
                  <a:srgbClr val="FFFFFF"/>
                </a:solidFill>
                <a:latin typeface="Calibri"/>
              </a:rPr>
              <a:t>9</a:t>
            </a:r>
          </a:p>
        </p:txBody>
      </p:sp>
      <p:sp>
        <p:nvSpPr>
          <p:cNvPr id="23" name="TextBox 22"/>
          <p:cNvSpPr txBox="1"/>
          <p:nvPr/>
        </p:nvSpPr>
        <p:spPr>
          <a:xfrm>
            <a:off x="6848856" y="4407407"/>
            <a:ext cx="4754880" cy="731520"/>
          </a:xfrm>
          <a:prstGeom prst="rect">
            <a:avLst/>
          </a:prstGeom>
          <a:noFill/>
        </p:spPr>
        <p:txBody>
          <a:bodyPr wrap="square" anchor="t" lIns="0" rIns="0" tIns="0" bIns="0">
            <a:spAutoFit/>
          </a:bodyPr>
          <a:lstStyle/>
          <a:p>
            <a:pPr algn="l"/>
            <a:r>
              <a:rPr sz="1700" b="1" i="0">
                <a:solidFill>
                  <a:srgbClr val="000000"/>
                </a:solidFill>
                <a:latin typeface="Calibri"/>
              </a:rPr>
              <a:t>What is measured vs modelled</a:t>
            </a:r>
            <a:r>
              <a:rPr sz="1700" b="0" i="0">
                <a:solidFill>
                  <a:srgbClr val="000000"/>
                </a:solidFill>
                <a:latin typeface="Calibri"/>
              </a:rPr>
              <a:t>, limitations</a:t>
            </a:r>
          </a:p>
        </p:txBody>
      </p:sp>
      <p:sp>
        <p:nvSpPr>
          <p:cNvPr id="24" name="Oval 23"/>
          <p:cNvSpPr/>
          <p:nvPr/>
        </p:nvSpPr>
        <p:spPr>
          <a:xfrm>
            <a:off x="6163056" y="5257800"/>
            <a:ext cx="502920" cy="502920"/>
          </a:xfrm>
          <a:prstGeom prst="ellipse">
            <a:avLst/>
          </a:prstGeom>
          <a:solidFill>
            <a:srgbClr val="000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600" b="1" i="0">
                <a:solidFill>
                  <a:srgbClr val="FFFFFF"/>
                </a:solidFill>
                <a:latin typeface="Calibri"/>
              </a:rPr>
              <a:t>10</a:t>
            </a:r>
          </a:p>
        </p:txBody>
      </p:sp>
      <p:sp>
        <p:nvSpPr>
          <p:cNvPr id="25" name="TextBox 24"/>
          <p:cNvSpPr txBox="1"/>
          <p:nvPr/>
        </p:nvSpPr>
        <p:spPr>
          <a:xfrm>
            <a:off x="6848856" y="5276088"/>
            <a:ext cx="4754880" cy="731520"/>
          </a:xfrm>
          <a:prstGeom prst="rect">
            <a:avLst/>
          </a:prstGeom>
          <a:noFill/>
        </p:spPr>
        <p:txBody>
          <a:bodyPr wrap="square" anchor="t" lIns="0" rIns="0" tIns="0" bIns="0">
            <a:spAutoFit/>
          </a:bodyPr>
          <a:lstStyle/>
          <a:p>
            <a:pPr algn="l"/>
            <a:r>
              <a:rPr sz="1700" b="1" i="0">
                <a:solidFill>
                  <a:srgbClr val="000000"/>
                </a:solidFill>
                <a:latin typeface="Calibri"/>
              </a:rPr>
              <a:t>Reproduce and learn</a:t>
            </a:r>
            <a:r>
              <a:rPr sz="1700" b="0" i="0">
                <a:solidFill>
                  <a:srgbClr val="000000"/>
                </a:solidFill>
                <a:latin typeface="Calibri"/>
              </a:rPr>
              <a:t>: commands, trace script, docs</a:t>
            </a:r>
          </a:p>
        </p:txBody>
      </p:sp>
      <p:sp>
        <p:nvSpPr>
          <p:cNvPr id="26" name="TextBox 25"/>
          <p:cNvSpPr txBox="1"/>
          <p:nvPr/>
        </p:nvSpPr>
        <p:spPr>
          <a:xfrm>
            <a:off x="539496" y="6510528"/>
            <a:ext cx="7315200" cy="274320"/>
          </a:xfrm>
          <a:prstGeom prst="rect">
            <a:avLst/>
          </a:prstGeom>
          <a:noFill/>
        </p:spPr>
        <p:txBody>
          <a:bodyPr wrap="square" anchor="t" lIns="0" rIns="0" tIns="0" bIns="0">
            <a:spAutoFit/>
          </a:bodyPr>
          <a:lstStyle/>
          <a:p>
            <a:pPr algn="l"/>
            <a:r>
              <a:rPr sz="1200" b="0" i="0">
                <a:solidFill>
                  <a:srgbClr val="0000DC"/>
                </a:solidFill>
                <a:latin typeface="Calibri"/>
              </a:rPr>
              <a:t>A. Joshi  •  </a:t>
            </a:r>
            <a:r>
              <a:rPr sz="1200" b="1" i="0">
                <a:solidFill>
                  <a:srgbClr val="0000DC"/>
                </a:solidFill>
                <a:latin typeface="Calibri"/>
              </a:rPr>
              <a:t>A3-PS036-TC161</a:t>
            </a:r>
            <a:r>
              <a:rPr sz="1200" b="0" i="0">
                <a:solidFill>
                  <a:srgbClr val="0000DC"/>
                </a:solidFill>
                <a:latin typeface="Calibri"/>
              </a:rPr>
              <a:t>  •  October 8, 2026</a:t>
            </a:r>
          </a:p>
        </p:txBody>
      </p:sp>
      <p:sp>
        <p:nvSpPr>
          <p:cNvPr id="27" name="TextBox 26"/>
          <p:cNvSpPr txBox="1"/>
          <p:nvPr/>
        </p:nvSpPr>
        <p:spPr>
          <a:xfrm>
            <a:off x="9601200" y="6510528"/>
            <a:ext cx="2057400" cy="274320"/>
          </a:xfrm>
          <a:prstGeom prst="rect">
            <a:avLst/>
          </a:prstGeom>
          <a:noFill/>
        </p:spPr>
        <p:txBody>
          <a:bodyPr wrap="square" anchor="t" lIns="0" rIns="0" tIns="0" bIns="0">
            <a:spAutoFit/>
          </a:bodyPr>
          <a:lstStyle/>
          <a:p>
            <a:pPr algn="r"/>
            <a:r>
              <a:rPr sz="1200" b="0" i="0">
                <a:solidFill>
                  <a:srgbClr val="0000DC"/>
                </a:solidFill>
                <a:latin typeface="Calibri"/>
              </a:rPr>
              <a:t>2 /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6080" y="73152"/>
            <a:ext cx="3200400" cy="274320"/>
          </a:xfrm>
          <a:prstGeom prst="rect">
            <a:avLst/>
          </a:prstGeom>
          <a:noFill/>
        </p:spPr>
        <p:txBody>
          <a:bodyPr wrap="square" anchor="t" lIns="0" rIns="0" tIns="0" bIns="0">
            <a:spAutoFit/>
          </a:bodyPr>
          <a:lstStyle/>
          <a:p>
            <a:pPr algn="r"/>
            <a:r>
              <a:rPr sz="1200" b="1" i="0">
                <a:solidFill>
                  <a:srgbClr val="0000DC"/>
                </a:solidFill>
                <a:latin typeface="Calibri"/>
              </a:rPr>
              <a:t>AIORI 3</a:t>
            </a:r>
          </a:p>
        </p:txBody>
      </p:sp>
      <p:sp>
        <p:nvSpPr>
          <p:cNvPr id="3" name="TextBox 2"/>
          <p:cNvSpPr txBox="1"/>
          <p:nvPr/>
        </p:nvSpPr>
        <p:spPr>
          <a:xfrm>
            <a:off x="6263640" y="73152"/>
            <a:ext cx="5486400" cy="274320"/>
          </a:xfrm>
          <a:prstGeom prst="rect">
            <a:avLst/>
          </a:prstGeom>
          <a:noFill/>
        </p:spPr>
        <p:txBody>
          <a:bodyPr wrap="square" anchor="t" lIns="0" rIns="0" tIns="0" bIns="0">
            <a:spAutoFit/>
          </a:bodyPr>
          <a:lstStyle/>
          <a:p>
            <a:pPr algn="l"/>
            <a:r>
              <a:rPr sz="1200" b="1" i="0">
                <a:solidFill>
                  <a:srgbClr val="0000DC"/>
                </a:solidFill>
                <a:latin typeface="Calibri"/>
              </a:rPr>
              <a:t>The problem</a:t>
            </a:r>
          </a:p>
        </p:txBody>
      </p:sp>
      <p:sp>
        <p:nvSpPr>
          <p:cNvPr id="4" name="TextBox 3"/>
          <p:cNvSpPr txBox="1"/>
          <p:nvPr/>
        </p:nvSpPr>
        <p:spPr>
          <a:xfrm>
            <a:off x="539496" y="384048"/>
            <a:ext cx="11109960" cy="548640"/>
          </a:xfrm>
          <a:prstGeom prst="rect">
            <a:avLst/>
          </a:prstGeom>
          <a:noFill/>
        </p:spPr>
        <p:txBody>
          <a:bodyPr wrap="square" anchor="t" lIns="0" rIns="0" tIns="0" bIns="0">
            <a:spAutoFit/>
          </a:bodyPr>
          <a:lstStyle/>
          <a:p>
            <a:pPr algn="l"/>
            <a:r>
              <a:rPr sz="3000" b="1" i="0">
                <a:solidFill>
                  <a:srgbClr val="0000DC"/>
                </a:solidFill>
                <a:latin typeface="Calibri"/>
              </a:rPr>
              <a:t>Post-quantum signatures do not fit today's DNS</a:t>
            </a:r>
          </a:p>
        </p:txBody>
      </p:sp>
      <p:sp>
        <p:nvSpPr>
          <p:cNvPr id="5" name="TextBox 4"/>
          <p:cNvSpPr txBox="1"/>
          <p:nvPr/>
        </p:nvSpPr>
        <p:spPr>
          <a:xfrm>
            <a:off x="539496" y="978408"/>
            <a:ext cx="11109960" cy="411480"/>
          </a:xfrm>
          <a:prstGeom prst="rect">
            <a:avLst/>
          </a:prstGeom>
          <a:noFill/>
        </p:spPr>
        <p:txBody>
          <a:bodyPr wrap="square" anchor="t" lIns="0" rIns="0" tIns="0" bIns="0">
            <a:spAutoFit/>
          </a:bodyPr>
          <a:lstStyle/>
          <a:p>
            <a:pPr algn="l"/>
            <a:r>
              <a:rPr sz="1700" b="1" i="0">
                <a:solidFill>
                  <a:srgbClr val="000000"/>
                </a:solidFill>
                <a:latin typeface="Calibri"/>
              </a:rPr>
              <a:t>Every DNSSEC answer carries a signature. Post-quantum signatures are huge and slow to make.</a:t>
            </a:r>
          </a:p>
        </p:txBody>
      </p:sp>
      <p:graphicFrame>
        <p:nvGraphicFramePr>
          <p:cNvPr id="6" name="Table 5"/>
          <p:cNvGraphicFramePr>
            <a:graphicFrameLocks noGrp="1"/>
          </p:cNvGraphicFramePr>
          <p:nvPr/>
        </p:nvGraphicFramePr>
        <p:xfrm>
          <a:off x="539496" y="1691640"/>
          <a:ext cx="11109960" cy="2514600"/>
        </p:xfrm>
        <a:graphic>
          <a:graphicData uri="http://schemas.openxmlformats.org/drawingml/2006/table">
            <a:tbl>
              <a:tblPr firstRow="1" bandRow="1">
                <a:tableStyleId>{5C22544A-7EE6-4342-B048-85BDC9FD1C3A}</a:tableStyleId>
              </a:tblPr>
              <a:tblGrid>
                <a:gridCol w="3291840"/>
                <a:gridCol w="2194560"/>
                <a:gridCol w="1828800"/>
                <a:gridCol w="3794760"/>
              </a:tblGrid>
              <a:tr h="502920">
                <a:tc>
                  <a:txBody>
                    <a:bodyPr wrap="square"/>
                    <a:lstStyle/>
                    <a:p/>
                  </a:txBody>
                  <a:tcPr marL="64008" marR="64008" marT="27432" marB="27432" anchor="ctr">
                    <a:solidFill>
                      <a:srgbClr val="0000DC"/>
                    </a:solidFill>
                  </a:tcPr>
                </a:tc>
                <a:tc>
                  <a:txBody>
                    <a:bodyPr wrap="square"/>
                    <a:lstStyle/>
                    <a:p>
                      <a:r>
                        <a:rPr sz="1500" b="1" i="0">
                          <a:solidFill>
                            <a:srgbClr val="FFFFFF"/>
                          </a:solidFill>
                          <a:latin typeface="Calibri"/>
                        </a:rPr>
                        <a:t>Ed25519 / ECDSA</a:t>
                      </a:r>
                    </a:p>
                  </a:txBody>
                  <a:tcPr marL="64008" marR="64008" marT="27432" marB="27432" anchor="ctr">
                    <a:solidFill>
                      <a:srgbClr val="0000DC"/>
                    </a:solidFill>
                  </a:tcPr>
                </a:tc>
                <a:tc>
                  <a:txBody>
                    <a:bodyPr wrap="square"/>
                    <a:lstStyle/>
                    <a:p>
                      <a:r>
                        <a:rPr sz="1500" b="1" i="0">
                          <a:solidFill>
                            <a:srgbClr val="FFFFFF"/>
                          </a:solidFill>
                          <a:latin typeface="Calibri"/>
                        </a:rPr>
                        <a:t>RSA-2048</a:t>
                      </a:r>
                    </a:p>
                  </a:txBody>
                  <a:tcPr marL="64008" marR="64008" marT="27432" marB="27432" anchor="ctr">
                    <a:solidFill>
                      <a:srgbClr val="0000DC"/>
                    </a:solidFill>
                  </a:tcPr>
                </a:tc>
                <a:tc>
                  <a:txBody>
                    <a:bodyPr wrap="square"/>
                    <a:lstStyle/>
                    <a:p>
                      <a:r>
                        <a:rPr sz="1500" b="1" i="0">
                          <a:solidFill>
                            <a:srgbClr val="FFFFFF"/>
                          </a:solidFill>
                          <a:latin typeface="Calibri"/>
                        </a:rPr>
                        <a:t>SLH-DSA-SHA2-128s (post-quantum)</a:t>
                      </a:r>
                    </a:p>
                  </a:txBody>
                  <a:tcPr marL="64008" marR="64008" marT="27432" marB="27432" anchor="ctr">
                    <a:solidFill>
                      <a:srgbClr val="0000DC"/>
                    </a:solidFill>
                  </a:tcPr>
                </a:tc>
              </a:tr>
              <a:tr h="502920">
                <a:tc>
                  <a:txBody>
                    <a:bodyPr wrap="square"/>
                    <a:lstStyle/>
                    <a:p>
                      <a:r>
                        <a:rPr sz="1500" b="0" i="0">
                          <a:solidFill>
                            <a:srgbClr val="000000"/>
                          </a:solidFill>
                          <a:latin typeface="Calibri"/>
                        </a:rPr>
                        <a:t>Signature in every answer</a:t>
                      </a:r>
                    </a:p>
                  </a:txBody>
                  <a:tcPr marL="64008" marR="64008" marT="27432" marB="27432" anchor="ctr">
                    <a:solidFill>
                      <a:srgbClr val="F2F2FD"/>
                    </a:solidFill>
                  </a:tcPr>
                </a:tc>
                <a:tc>
                  <a:txBody>
                    <a:bodyPr wrap="square"/>
                    <a:lstStyle/>
                    <a:p>
                      <a:r>
                        <a:rPr sz="1500" b="0" i="0">
                          <a:solidFill>
                            <a:srgbClr val="000000"/>
                          </a:solidFill>
                          <a:latin typeface="Calibri"/>
                        </a:rPr>
                        <a:t>64 B</a:t>
                      </a:r>
                    </a:p>
                  </a:txBody>
                  <a:tcPr marL="64008" marR="64008" marT="27432" marB="27432" anchor="ctr">
                    <a:solidFill>
                      <a:srgbClr val="F2F2FD"/>
                    </a:solidFill>
                  </a:tcPr>
                </a:tc>
                <a:tc>
                  <a:txBody>
                    <a:bodyPr wrap="square"/>
                    <a:lstStyle/>
                    <a:p>
                      <a:r>
                        <a:rPr sz="1500" b="0" i="0">
                          <a:solidFill>
                            <a:srgbClr val="000000"/>
                          </a:solidFill>
                          <a:latin typeface="Calibri"/>
                        </a:rPr>
                        <a:t>256 B</a:t>
                      </a:r>
                    </a:p>
                  </a:txBody>
                  <a:tcPr marL="64008" marR="64008" marT="27432" marB="27432" anchor="ctr">
                    <a:solidFill>
                      <a:srgbClr val="F2F2FD"/>
                    </a:solidFill>
                  </a:tcPr>
                </a:tc>
                <a:tc>
                  <a:txBody>
                    <a:bodyPr wrap="square"/>
                    <a:lstStyle/>
                    <a:p>
                      <a:r>
                        <a:rPr sz="1500" b="1" i="0">
                          <a:solidFill>
                            <a:srgbClr val="000000"/>
                          </a:solidFill>
                          <a:latin typeface="Calibri"/>
                        </a:rPr>
                        <a:t>7,856 B</a:t>
                      </a:r>
                    </a:p>
                  </a:txBody>
                  <a:tcPr marL="64008" marR="64008" marT="27432" marB="27432" anchor="ctr">
                    <a:solidFill>
                      <a:srgbClr val="F2F2FD"/>
                    </a:solidFill>
                  </a:tcPr>
                </a:tc>
              </a:tr>
              <a:tr h="502920">
                <a:tc>
                  <a:txBody>
                    <a:bodyPr wrap="square"/>
                    <a:lstStyle/>
                    <a:p>
                      <a:r>
                        <a:rPr sz="1500" b="0" i="0">
                          <a:solidFill>
                            <a:srgbClr val="000000"/>
                          </a:solidFill>
                          <a:latin typeface="Calibri"/>
                        </a:rPr>
                        <a:t>Sign one record set</a:t>
                      </a:r>
                    </a:p>
                  </a:txBody>
                  <a:tcPr marL="64008" marR="64008" marT="27432" marB="27432" anchor="ctr">
                    <a:solidFill>
                      <a:srgbClr val="FFFFFF"/>
                    </a:solidFill>
                  </a:tcPr>
                </a:tc>
                <a:tc>
                  <a:txBody>
                    <a:bodyPr wrap="square"/>
                    <a:lstStyle/>
                    <a:p>
                      <a:r>
                        <a:rPr sz="1500" b="0" i="0">
                          <a:solidFill>
                            <a:srgbClr val="000000"/>
                          </a:solidFill>
                          <a:latin typeface="Calibri"/>
                        </a:rPr>
                        <a:t>≈ 30 µs</a:t>
                      </a:r>
                    </a:p>
                  </a:txBody>
                  <a:tcPr marL="64008" marR="64008" marT="27432" marB="27432" anchor="ctr">
                    <a:solidFill>
                      <a:srgbClr val="FFFFFF"/>
                    </a:solidFill>
                  </a:tcPr>
                </a:tc>
                <a:tc>
                  <a:txBody>
                    <a:bodyPr wrap="square"/>
                    <a:lstStyle/>
                    <a:p>
                      <a:r>
                        <a:rPr sz="1500" b="0" i="0">
                          <a:solidFill>
                            <a:srgbClr val="000000"/>
                          </a:solidFill>
                          <a:latin typeface="Calibri"/>
                        </a:rPr>
                        <a:t>≈ 0.6 ms</a:t>
                      </a:r>
                    </a:p>
                  </a:txBody>
                  <a:tcPr marL="64008" marR="64008" marT="27432" marB="27432" anchor="ctr">
                    <a:solidFill>
                      <a:srgbClr val="FFFFFF"/>
                    </a:solidFill>
                  </a:tcPr>
                </a:tc>
                <a:tc>
                  <a:txBody>
                    <a:bodyPr wrap="square"/>
                    <a:lstStyle/>
                    <a:p>
                      <a:r>
                        <a:rPr sz="1500" b="1" i="0">
                          <a:solidFill>
                            <a:srgbClr val="000000"/>
                          </a:solidFill>
                          <a:latin typeface="Calibri"/>
                        </a:rPr>
                        <a:t>≈ 0.5 s</a:t>
                      </a:r>
                    </a:p>
                  </a:txBody>
                  <a:tcPr marL="64008" marR="64008" marT="27432" marB="27432" anchor="ctr">
                    <a:solidFill>
                      <a:srgbClr val="FFFFFF"/>
                    </a:solidFill>
                  </a:tcPr>
                </a:tc>
              </a:tr>
              <a:tr h="502920">
                <a:tc>
                  <a:txBody>
                    <a:bodyPr wrap="square"/>
                    <a:lstStyle/>
                    <a:p>
                      <a:r>
                        <a:rPr sz="1500" b="0" i="0">
                          <a:solidFill>
                            <a:srgbClr val="000000"/>
                          </a:solidFill>
                          <a:latin typeface="Calibri"/>
                        </a:rPr>
                        <a:t>Small answer (one IP address)</a:t>
                      </a:r>
                    </a:p>
                  </a:txBody>
                  <a:tcPr marL="64008" marR="64008" marT="27432" marB="27432" anchor="ctr">
                    <a:solidFill>
                      <a:srgbClr val="F2F2FD"/>
                    </a:solidFill>
                  </a:tcPr>
                </a:tc>
                <a:tc>
                  <a:txBody>
                    <a:bodyPr wrap="square"/>
                    <a:lstStyle/>
                    <a:p>
                      <a:r>
                        <a:rPr sz="1500" b="0" i="0">
                          <a:solidFill>
                            <a:srgbClr val="000000"/>
                          </a:solidFill>
                          <a:latin typeface="Calibri"/>
                        </a:rPr>
                        <a:t>178 B</a:t>
                      </a:r>
                    </a:p>
                  </a:txBody>
                  <a:tcPr marL="64008" marR="64008" marT="27432" marB="27432" anchor="ctr">
                    <a:solidFill>
                      <a:srgbClr val="F2F2FD"/>
                    </a:solidFill>
                  </a:tcPr>
                </a:tc>
                <a:tc>
                  <a:txBody>
                    <a:bodyPr wrap="square"/>
                    <a:lstStyle/>
                    <a:p>
                      <a:r>
                        <a:rPr sz="1500" b="0" i="0">
                          <a:solidFill>
                            <a:srgbClr val="000000"/>
                          </a:solidFill>
                          <a:latin typeface="Calibri"/>
                        </a:rPr>
                        <a:t>370 B</a:t>
                      </a:r>
                    </a:p>
                  </a:txBody>
                  <a:tcPr marL="64008" marR="64008" marT="27432" marB="27432" anchor="ctr">
                    <a:solidFill>
                      <a:srgbClr val="F2F2FD"/>
                    </a:solidFill>
                  </a:tcPr>
                </a:tc>
                <a:tc>
                  <a:txBody>
                    <a:bodyPr wrap="square"/>
                    <a:lstStyle/>
                    <a:p>
                      <a:r>
                        <a:rPr sz="1500" b="1" i="0">
                          <a:solidFill>
                            <a:srgbClr val="000000"/>
                          </a:solidFill>
                          <a:latin typeface="Calibri"/>
                        </a:rPr>
                        <a:t>7,970 B</a:t>
                      </a:r>
                    </a:p>
                  </a:txBody>
                  <a:tcPr marL="64008" marR="64008" marT="27432" marB="27432" anchor="ctr">
                    <a:solidFill>
                      <a:srgbClr val="F2F2FD"/>
                    </a:solidFill>
                  </a:tcPr>
                </a:tc>
              </a:tr>
              <a:tr h="502920">
                <a:tc>
                  <a:txBody>
                    <a:bodyPr wrap="square"/>
                    <a:lstStyle/>
                    <a:p>
                      <a:r>
                        <a:rPr sz="1500" b="0" i="0">
                          <a:solidFill>
                            <a:srgbClr val="000000"/>
                          </a:solidFill>
                          <a:latin typeface="Calibri"/>
                        </a:rPr>
                        <a:t>Fits a 1,232-byte UDP answer?</a:t>
                      </a:r>
                    </a:p>
                  </a:txBody>
                  <a:tcPr marL="64008" marR="64008" marT="27432" marB="27432" anchor="ctr">
                    <a:solidFill>
                      <a:srgbClr val="FFFFFF"/>
                    </a:solidFill>
                  </a:tcPr>
                </a:tc>
                <a:tc>
                  <a:txBody>
                    <a:bodyPr wrap="square"/>
                    <a:lstStyle/>
                    <a:p>
                      <a:r>
                        <a:rPr sz="1500" b="0" i="0">
                          <a:solidFill>
                            <a:srgbClr val="000000"/>
                          </a:solidFill>
                          <a:latin typeface="Calibri"/>
                        </a:rPr>
                        <a:t>yes</a:t>
                      </a:r>
                    </a:p>
                  </a:txBody>
                  <a:tcPr marL="64008" marR="64008" marT="27432" marB="27432" anchor="ctr">
                    <a:solidFill>
                      <a:srgbClr val="FFFFFF"/>
                    </a:solidFill>
                  </a:tcPr>
                </a:tc>
                <a:tc>
                  <a:txBody>
                    <a:bodyPr wrap="square"/>
                    <a:lstStyle/>
                    <a:p>
                      <a:r>
                        <a:rPr sz="1500" b="0" i="0">
                          <a:solidFill>
                            <a:srgbClr val="000000"/>
                          </a:solidFill>
                          <a:latin typeface="Calibri"/>
                        </a:rPr>
                        <a:t>yes</a:t>
                      </a:r>
                    </a:p>
                  </a:txBody>
                  <a:tcPr marL="64008" marR="64008" marT="27432" marB="27432" anchor="ctr">
                    <a:solidFill>
                      <a:srgbClr val="FFFFFF"/>
                    </a:solidFill>
                  </a:tcPr>
                </a:tc>
                <a:tc>
                  <a:txBody>
                    <a:bodyPr wrap="square"/>
                    <a:lstStyle/>
                    <a:p>
                      <a:r>
                        <a:rPr sz="1500" b="1" i="0">
                          <a:solidFill>
                            <a:srgbClr val="000000"/>
                          </a:solidFill>
                          <a:latin typeface="Calibri"/>
                        </a:rPr>
                        <a:t>never → truncated, retried over TCP</a:t>
                      </a:r>
                    </a:p>
                  </a:txBody>
                  <a:tcPr marL="64008" marR="64008" marT="27432" marB="27432" anchor="ctr">
                    <a:solidFill>
                      <a:srgbClr val="FFFFFF"/>
                    </a:solidFill>
                  </a:tcPr>
                </a:tc>
              </a:tr>
            </a:tbl>
          </a:graphicData>
        </a:graphic>
      </p:graphicFrame>
      <p:sp>
        <p:nvSpPr>
          <p:cNvPr id="7" name="TextBox 6"/>
          <p:cNvSpPr txBox="1"/>
          <p:nvPr/>
        </p:nvSpPr>
        <p:spPr>
          <a:xfrm>
            <a:off x="539496" y="4434840"/>
            <a:ext cx="11109960" cy="1828800"/>
          </a:xfrm>
          <a:prstGeom prst="rect">
            <a:avLst/>
          </a:prstGeom>
          <a:noFill/>
        </p:spPr>
        <p:txBody>
          <a:bodyPr wrap="square" anchor="t" lIns="0" rIns="0" tIns="0" bIns="0">
            <a:spAutoFit/>
          </a:bodyPr>
          <a:lstStyle/>
          <a:p>
            <a:pPr algn="l" marL="274320" indent="-274320">
              <a:buClr>
                <a:srgbClr val="0000DC"/>
              </a:buClr>
              <a:buFont typeface="Arial"/>
              <a:buChar char="•"/>
            </a:pPr>
            <a:r>
              <a:rPr sz="1600" b="0" i="0">
                <a:solidFill>
                  <a:srgbClr val="000000"/>
                </a:solidFill>
                <a:latin typeface="Calibri"/>
              </a:rPr>
              <a:t>Re-signing a 10,005-record-set zone with SLH-DSA takes about </a:t>
            </a:r>
            <a:r>
              <a:rPr sz="1600" b="1" i="0">
                <a:solidFill>
                  <a:srgbClr val="000000"/>
                </a:solidFill>
                <a:latin typeface="Calibri"/>
              </a:rPr>
              <a:t>80 minutes</a:t>
            </a:r>
            <a:r>
              <a:rPr sz="1600" b="0" i="0">
                <a:solidFill>
                  <a:srgbClr val="000000"/>
                </a:solidFill>
                <a:latin typeface="Calibri"/>
              </a:rPr>
              <a:t> on one core.</a:t>
            </a:r>
          </a:p>
          <a:p>
            <a:pPr algn="l" marL="274320" indent="-274320">
              <a:spcBef>
                <a:spcPts val="900"/>
              </a:spcBef>
              <a:buClr>
                <a:srgbClr val="0000DC"/>
              </a:buClr>
              <a:buFont typeface="Arial"/>
              <a:buChar char="•"/>
            </a:pPr>
            <a:r>
              <a:rPr sz="1600" b="1" i="0">
                <a:solidFill>
                  <a:srgbClr val="000000"/>
                </a:solidFill>
                <a:latin typeface="Calibri"/>
              </a:rPr>
              <a:t>MTL mode</a:t>
            </a:r>
            <a:r>
              <a:rPr sz="1600" b="0" i="0">
                <a:solidFill>
                  <a:srgbClr val="000000"/>
                </a:solidFill>
                <a:latin typeface="Calibri"/>
              </a:rPr>
              <a:t> (Merkle Tree Ladder) promises to fix size and speed: sign the whole zone </a:t>
            </a:r>
            <a:r>
              <a:rPr sz="1600" b="1" i="0">
                <a:solidFill>
                  <a:srgbClr val="000000"/>
                </a:solidFill>
                <a:latin typeface="Calibri"/>
              </a:rPr>
              <a:t>once</a:t>
            </a:r>
            <a:r>
              <a:rPr sz="1600" b="0" i="0">
                <a:solidFill>
                  <a:srgbClr val="000000"/>
                </a:solidFill>
                <a:latin typeface="Calibri"/>
              </a:rPr>
              <a:t>, give each answer a small hash path. </a:t>
            </a:r>
            <a:r>
              <a:rPr sz="1600" b="1" i="0">
                <a:solidFill>
                  <a:srgbClr val="000000"/>
                </a:solidFill>
                <a:latin typeface="Calibri"/>
              </a:rPr>
              <a:t>PS-036</a:t>
            </a:r>
            <a:r>
              <a:rPr sz="1600" b="0" i="0">
                <a:solidFill>
                  <a:srgbClr val="000000"/>
                </a:solidFill>
                <a:latin typeface="Calibri"/>
              </a:rPr>
              <a:t>: measure whether it really does, with the reference implementation.</a:t>
            </a:r>
          </a:p>
        </p:txBody>
      </p:sp>
      <p:sp>
        <p:nvSpPr>
          <p:cNvPr id="8" name="TextBox 7"/>
          <p:cNvSpPr txBox="1"/>
          <p:nvPr/>
        </p:nvSpPr>
        <p:spPr>
          <a:xfrm>
            <a:off x="539496" y="6510528"/>
            <a:ext cx="7315200" cy="274320"/>
          </a:xfrm>
          <a:prstGeom prst="rect">
            <a:avLst/>
          </a:prstGeom>
          <a:noFill/>
        </p:spPr>
        <p:txBody>
          <a:bodyPr wrap="square" anchor="t" lIns="0" rIns="0" tIns="0" bIns="0">
            <a:spAutoFit/>
          </a:bodyPr>
          <a:lstStyle/>
          <a:p>
            <a:pPr algn="l"/>
            <a:r>
              <a:rPr sz="1200" b="0" i="0">
                <a:solidFill>
                  <a:srgbClr val="0000DC"/>
                </a:solidFill>
                <a:latin typeface="Calibri"/>
              </a:rPr>
              <a:t>A. Joshi  •  </a:t>
            </a:r>
            <a:r>
              <a:rPr sz="1200" b="1" i="0">
                <a:solidFill>
                  <a:srgbClr val="0000DC"/>
                </a:solidFill>
                <a:latin typeface="Calibri"/>
              </a:rPr>
              <a:t>A3-PS036-TC161</a:t>
            </a:r>
            <a:r>
              <a:rPr sz="1200" b="0" i="0">
                <a:solidFill>
                  <a:srgbClr val="0000DC"/>
                </a:solidFill>
                <a:latin typeface="Calibri"/>
              </a:rPr>
              <a:t>  •  October 8, 2026</a:t>
            </a:r>
          </a:p>
        </p:txBody>
      </p:sp>
      <p:sp>
        <p:nvSpPr>
          <p:cNvPr id="9" name="TextBox 8"/>
          <p:cNvSpPr txBox="1"/>
          <p:nvPr/>
        </p:nvSpPr>
        <p:spPr>
          <a:xfrm>
            <a:off x="9601200" y="6510528"/>
            <a:ext cx="2057400" cy="274320"/>
          </a:xfrm>
          <a:prstGeom prst="rect">
            <a:avLst/>
          </a:prstGeom>
          <a:noFill/>
        </p:spPr>
        <p:txBody>
          <a:bodyPr wrap="square" anchor="t" lIns="0" rIns="0" tIns="0" bIns="0">
            <a:spAutoFit/>
          </a:bodyPr>
          <a:lstStyle/>
          <a:p>
            <a:pPr algn="r"/>
            <a:r>
              <a:rPr sz="1200" b="0" i="0">
                <a:solidFill>
                  <a:srgbClr val="0000DC"/>
                </a:solidFill>
                <a:latin typeface="Calibri"/>
              </a:rPr>
              <a:t>3 /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6080" y="73152"/>
            <a:ext cx="3200400" cy="274320"/>
          </a:xfrm>
          <a:prstGeom prst="rect">
            <a:avLst/>
          </a:prstGeom>
          <a:noFill/>
        </p:spPr>
        <p:txBody>
          <a:bodyPr wrap="square" anchor="t" lIns="0" rIns="0" tIns="0" bIns="0">
            <a:spAutoFit/>
          </a:bodyPr>
          <a:lstStyle/>
          <a:p>
            <a:pPr algn="r"/>
            <a:r>
              <a:rPr sz="1200" b="1" i="0">
                <a:solidFill>
                  <a:srgbClr val="0000DC"/>
                </a:solidFill>
                <a:latin typeface="Calibri"/>
              </a:rPr>
              <a:t>AIORI 3</a:t>
            </a:r>
          </a:p>
        </p:txBody>
      </p:sp>
      <p:sp>
        <p:nvSpPr>
          <p:cNvPr id="3" name="TextBox 2"/>
          <p:cNvSpPr txBox="1"/>
          <p:nvPr/>
        </p:nvSpPr>
        <p:spPr>
          <a:xfrm>
            <a:off x="6263640" y="73152"/>
            <a:ext cx="5486400" cy="274320"/>
          </a:xfrm>
          <a:prstGeom prst="rect">
            <a:avLst/>
          </a:prstGeom>
          <a:noFill/>
        </p:spPr>
        <p:txBody>
          <a:bodyPr wrap="square" anchor="t" lIns="0" rIns="0" tIns="0" bIns="0">
            <a:spAutoFit/>
          </a:bodyPr>
          <a:lstStyle/>
          <a:p>
            <a:pPr algn="l"/>
            <a:r>
              <a:rPr sz="1200" b="1" i="0">
                <a:solidFill>
                  <a:srgbClr val="0000DC"/>
                </a:solidFill>
                <a:latin typeface="Calibri"/>
              </a:rPr>
              <a:t>Background</a:t>
            </a:r>
          </a:p>
        </p:txBody>
      </p:sp>
      <p:sp>
        <p:nvSpPr>
          <p:cNvPr id="4" name="TextBox 3"/>
          <p:cNvSpPr txBox="1"/>
          <p:nvPr/>
        </p:nvSpPr>
        <p:spPr>
          <a:xfrm>
            <a:off x="539496" y="384048"/>
            <a:ext cx="11109960" cy="548640"/>
          </a:xfrm>
          <a:prstGeom prst="rect">
            <a:avLst/>
          </a:prstGeom>
          <a:noFill/>
        </p:spPr>
        <p:txBody>
          <a:bodyPr wrap="square" anchor="t" lIns="0" rIns="0" tIns="0" bIns="0">
            <a:spAutoFit/>
          </a:bodyPr>
          <a:lstStyle/>
          <a:p>
            <a:pPr algn="l"/>
            <a:r>
              <a:rPr sz="3000" b="1" i="0">
                <a:solidFill>
                  <a:srgbClr val="0000DC"/>
                </a:solidFill>
                <a:latin typeface="Calibri"/>
              </a:rPr>
              <a:t>MTL mode in one picture</a:t>
            </a:r>
          </a:p>
        </p:txBody>
      </p:sp>
      <p:sp>
        <p:nvSpPr>
          <p:cNvPr id="5" name="TextBox 4"/>
          <p:cNvSpPr txBox="1"/>
          <p:nvPr/>
        </p:nvSpPr>
        <p:spPr>
          <a:xfrm>
            <a:off x="539496" y="978408"/>
            <a:ext cx="11109960" cy="411480"/>
          </a:xfrm>
          <a:prstGeom prst="rect">
            <a:avLst/>
          </a:prstGeom>
          <a:noFill/>
        </p:spPr>
        <p:txBody>
          <a:bodyPr wrap="square" anchor="t" lIns="0" rIns="0" tIns="0" bIns="0">
            <a:spAutoFit/>
          </a:bodyPr>
          <a:lstStyle/>
          <a:p>
            <a:pPr algn="l"/>
            <a:r>
              <a:rPr sz="1700" b="1" i="0">
                <a:solidFill>
                  <a:srgbClr val="000000"/>
                </a:solidFill>
                <a:latin typeface="Calibri"/>
              </a:rPr>
              <a:t>Example zone with 6 record sets. Real zones: 45, 125, 405 (quick demo) up to 10,005.</a:t>
            </a:r>
          </a:p>
        </p:txBody>
      </p:sp>
      <p:sp>
        <p:nvSpPr>
          <p:cNvPr id="6" name="Rectangle 5"/>
          <p:cNvSpPr/>
          <p:nvPr/>
        </p:nvSpPr>
        <p:spPr>
          <a:xfrm>
            <a:off x="685800" y="4892040"/>
            <a:ext cx="777240" cy="457200"/>
          </a:xfrm>
          <a:prstGeom prst="rect">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1" i="0">
                <a:solidFill>
                  <a:srgbClr val="000000"/>
                </a:solidFill>
                <a:latin typeface="Calibri"/>
              </a:rPr>
              <a:t>L0</a:t>
            </a:r>
          </a:p>
          <a:p>
            <a:pPr algn="ctr"/>
            <a:r>
              <a:rPr sz="900" b="0" i="0">
                <a:solidFill>
                  <a:srgbClr val="555555"/>
                </a:solidFill>
                <a:latin typeface="Calibri"/>
              </a:rPr>
              <a:t>H(m0)</a:t>
            </a:r>
          </a:p>
        </p:txBody>
      </p:sp>
      <p:cxnSp>
        <p:nvCxnSpPr>
          <p:cNvPr id="7" name="Connector 6"/>
          <p:cNvCxnSpPr/>
          <p:nvPr/>
        </p:nvCxnSpPr>
        <p:spPr>
          <a:xfrm flipV="1">
            <a:off x="1074420" y="5349240"/>
            <a:ext cx="0" cy="411480"/>
          </a:xfrm>
          <a:prstGeom prst="line">
            <a:avLst/>
          </a:prstGeom>
          <a:ln w="15875">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17220" y="5779007"/>
            <a:ext cx="914400" cy="228600"/>
          </a:xfrm>
          <a:prstGeom prst="rect">
            <a:avLst/>
          </a:prstGeom>
          <a:noFill/>
        </p:spPr>
        <p:txBody>
          <a:bodyPr wrap="square" anchor="t" lIns="0" rIns="0" tIns="0" bIns="0">
            <a:spAutoFit/>
          </a:bodyPr>
          <a:lstStyle/>
          <a:p>
            <a:pPr algn="ctr"/>
            <a:r>
              <a:rPr sz="950" b="0" i="0">
                <a:solidFill>
                  <a:srgbClr val="555555"/>
                </a:solidFill>
                <a:latin typeface="Calibri"/>
              </a:rPr>
              <a:t>RRset 0</a:t>
            </a:r>
          </a:p>
        </p:txBody>
      </p:sp>
      <p:sp>
        <p:nvSpPr>
          <p:cNvPr id="9" name="Rectangle 8"/>
          <p:cNvSpPr/>
          <p:nvPr/>
        </p:nvSpPr>
        <p:spPr>
          <a:xfrm>
            <a:off x="1645920" y="4892040"/>
            <a:ext cx="777240" cy="457200"/>
          </a:xfrm>
          <a:prstGeom prst="rect">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1" i="0">
                <a:solidFill>
                  <a:srgbClr val="000000"/>
                </a:solidFill>
                <a:latin typeface="Calibri"/>
              </a:rPr>
              <a:t>L1</a:t>
            </a:r>
          </a:p>
          <a:p>
            <a:pPr algn="ctr"/>
            <a:r>
              <a:rPr sz="900" b="0" i="0">
                <a:solidFill>
                  <a:srgbClr val="555555"/>
                </a:solidFill>
                <a:latin typeface="Calibri"/>
              </a:rPr>
              <a:t>H(m1)</a:t>
            </a:r>
          </a:p>
        </p:txBody>
      </p:sp>
      <p:cxnSp>
        <p:nvCxnSpPr>
          <p:cNvPr id="10" name="Connector 9"/>
          <p:cNvCxnSpPr/>
          <p:nvPr/>
        </p:nvCxnSpPr>
        <p:spPr>
          <a:xfrm flipV="1">
            <a:off x="2034540" y="5349240"/>
            <a:ext cx="0" cy="411480"/>
          </a:xfrm>
          <a:prstGeom prst="line">
            <a:avLst/>
          </a:prstGeom>
          <a:ln w="15875">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577340" y="5779007"/>
            <a:ext cx="914400" cy="228600"/>
          </a:xfrm>
          <a:prstGeom prst="rect">
            <a:avLst/>
          </a:prstGeom>
          <a:noFill/>
        </p:spPr>
        <p:txBody>
          <a:bodyPr wrap="square" anchor="t" lIns="0" rIns="0" tIns="0" bIns="0">
            <a:spAutoFit/>
          </a:bodyPr>
          <a:lstStyle/>
          <a:p>
            <a:pPr algn="ctr"/>
            <a:r>
              <a:rPr sz="950" b="0" i="0">
                <a:solidFill>
                  <a:srgbClr val="555555"/>
                </a:solidFill>
                <a:latin typeface="Calibri"/>
              </a:rPr>
              <a:t>RRset 1</a:t>
            </a:r>
          </a:p>
        </p:txBody>
      </p:sp>
      <p:sp>
        <p:nvSpPr>
          <p:cNvPr id="12" name="Rectangle 11"/>
          <p:cNvSpPr/>
          <p:nvPr/>
        </p:nvSpPr>
        <p:spPr>
          <a:xfrm>
            <a:off x="2606040" y="4892040"/>
            <a:ext cx="777240" cy="457200"/>
          </a:xfrm>
          <a:prstGeom prst="rect">
            <a:avLst/>
          </a:prstGeom>
          <a:solidFill>
            <a:srgbClr val="E3E3FA"/>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1" i="0">
                <a:solidFill>
                  <a:srgbClr val="000000"/>
                </a:solidFill>
                <a:latin typeface="Calibri"/>
              </a:rPr>
              <a:t>L2</a:t>
            </a:r>
          </a:p>
          <a:p>
            <a:pPr algn="ctr"/>
            <a:r>
              <a:rPr sz="900" b="0" i="0">
                <a:solidFill>
                  <a:srgbClr val="555555"/>
                </a:solidFill>
                <a:latin typeface="Calibri"/>
              </a:rPr>
              <a:t>H(m2)</a:t>
            </a:r>
          </a:p>
        </p:txBody>
      </p:sp>
      <p:cxnSp>
        <p:nvCxnSpPr>
          <p:cNvPr id="13" name="Connector 12"/>
          <p:cNvCxnSpPr/>
          <p:nvPr/>
        </p:nvCxnSpPr>
        <p:spPr>
          <a:xfrm flipV="1">
            <a:off x="2994660" y="5349240"/>
            <a:ext cx="0" cy="411480"/>
          </a:xfrm>
          <a:prstGeom prst="line">
            <a:avLst/>
          </a:prstGeom>
          <a:ln w="15875">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537460" y="5779007"/>
            <a:ext cx="914400" cy="228600"/>
          </a:xfrm>
          <a:prstGeom prst="rect">
            <a:avLst/>
          </a:prstGeom>
          <a:noFill/>
        </p:spPr>
        <p:txBody>
          <a:bodyPr wrap="square" anchor="t" lIns="0" rIns="0" tIns="0" bIns="0">
            <a:spAutoFit/>
          </a:bodyPr>
          <a:lstStyle/>
          <a:p>
            <a:pPr algn="ctr"/>
            <a:r>
              <a:rPr sz="950" b="0" i="0">
                <a:solidFill>
                  <a:srgbClr val="555555"/>
                </a:solidFill>
                <a:latin typeface="Calibri"/>
              </a:rPr>
              <a:t>RRset 2</a:t>
            </a:r>
          </a:p>
        </p:txBody>
      </p:sp>
      <p:sp>
        <p:nvSpPr>
          <p:cNvPr id="15" name="Rectangle 14"/>
          <p:cNvSpPr/>
          <p:nvPr/>
        </p:nvSpPr>
        <p:spPr>
          <a:xfrm>
            <a:off x="3566160" y="4892040"/>
            <a:ext cx="777240" cy="457200"/>
          </a:xfrm>
          <a:prstGeom prst="rect">
            <a:avLst/>
          </a:prstGeom>
          <a:solidFill>
            <a:srgbClr val="E2F2E3"/>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1" i="0">
                <a:solidFill>
                  <a:srgbClr val="000000"/>
                </a:solidFill>
                <a:latin typeface="Calibri"/>
              </a:rPr>
              <a:t>L3</a:t>
            </a:r>
          </a:p>
          <a:p>
            <a:pPr algn="ctr"/>
            <a:r>
              <a:rPr sz="900" b="0" i="0">
                <a:solidFill>
                  <a:srgbClr val="555555"/>
                </a:solidFill>
                <a:latin typeface="Calibri"/>
              </a:rPr>
              <a:t>H(m3)</a:t>
            </a:r>
          </a:p>
        </p:txBody>
      </p:sp>
      <p:cxnSp>
        <p:nvCxnSpPr>
          <p:cNvPr id="16" name="Connector 15"/>
          <p:cNvCxnSpPr/>
          <p:nvPr/>
        </p:nvCxnSpPr>
        <p:spPr>
          <a:xfrm flipV="1">
            <a:off x="3954780" y="5349240"/>
            <a:ext cx="0" cy="411480"/>
          </a:xfrm>
          <a:prstGeom prst="line">
            <a:avLst/>
          </a:prstGeom>
          <a:ln w="15875">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497580" y="5779007"/>
            <a:ext cx="914400" cy="228600"/>
          </a:xfrm>
          <a:prstGeom prst="rect">
            <a:avLst/>
          </a:prstGeom>
          <a:noFill/>
        </p:spPr>
        <p:txBody>
          <a:bodyPr wrap="square" anchor="t" lIns="0" rIns="0" tIns="0" bIns="0">
            <a:spAutoFit/>
          </a:bodyPr>
          <a:lstStyle/>
          <a:p>
            <a:pPr algn="ctr"/>
            <a:r>
              <a:rPr sz="950" b="0" i="0">
                <a:solidFill>
                  <a:srgbClr val="555555"/>
                </a:solidFill>
                <a:latin typeface="Calibri"/>
              </a:rPr>
              <a:t>RRset 3</a:t>
            </a:r>
          </a:p>
        </p:txBody>
      </p:sp>
      <p:sp>
        <p:nvSpPr>
          <p:cNvPr id="18" name="Rectangle 17"/>
          <p:cNvSpPr/>
          <p:nvPr/>
        </p:nvSpPr>
        <p:spPr>
          <a:xfrm>
            <a:off x="4526280" y="4892040"/>
            <a:ext cx="777240" cy="457200"/>
          </a:xfrm>
          <a:prstGeom prst="rect">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1" i="0">
                <a:solidFill>
                  <a:srgbClr val="000000"/>
                </a:solidFill>
                <a:latin typeface="Calibri"/>
              </a:rPr>
              <a:t>L4</a:t>
            </a:r>
          </a:p>
          <a:p>
            <a:pPr algn="ctr"/>
            <a:r>
              <a:rPr sz="900" b="0" i="0">
                <a:solidFill>
                  <a:srgbClr val="555555"/>
                </a:solidFill>
                <a:latin typeface="Calibri"/>
              </a:rPr>
              <a:t>H(m4)</a:t>
            </a:r>
          </a:p>
        </p:txBody>
      </p:sp>
      <p:cxnSp>
        <p:nvCxnSpPr>
          <p:cNvPr id="19" name="Connector 18"/>
          <p:cNvCxnSpPr/>
          <p:nvPr/>
        </p:nvCxnSpPr>
        <p:spPr>
          <a:xfrm flipV="1">
            <a:off x="4914900" y="5349240"/>
            <a:ext cx="0" cy="411480"/>
          </a:xfrm>
          <a:prstGeom prst="line">
            <a:avLst/>
          </a:prstGeom>
          <a:ln w="15875">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457700" y="5779007"/>
            <a:ext cx="914400" cy="228600"/>
          </a:xfrm>
          <a:prstGeom prst="rect">
            <a:avLst/>
          </a:prstGeom>
          <a:noFill/>
        </p:spPr>
        <p:txBody>
          <a:bodyPr wrap="square" anchor="t" lIns="0" rIns="0" tIns="0" bIns="0">
            <a:spAutoFit/>
          </a:bodyPr>
          <a:lstStyle/>
          <a:p>
            <a:pPr algn="ctr"/>
            <a:r>
              <a:rPr sz="950" b="0" i="0">
                <a:solidFill>
                  <a:srgbClr val="555555"/>
                </a:solidFill>
                <a:latin typeface="Calibri"/>
              </a:rPr>
              <a:t>RRset 4</a:t>
            </a:r>
          </a:p>
        </p:txBody>
      </p:sp>
      <p:sp>
        <p:nvSpPr>
          <p:cNvPr id="21" name="Rectangle 20"/>
          <p:cNvSpPr/>
          <p:nvPr/>
        </p:nvSpPr>
        <p:spPr>
          <a:xfrm>
            <a:off x="5486400" y="4892040"/>
            <a:ext cx="777240" cy="457200"/>
          </a:xfrm>
          <a:prstGeom prst="rect">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1" i="0">
                <a:solidFill>
                  <a:srgbClr val="000000"/>
                </a:solidFill>
                <a:latin typeface="Calibri"/>
              </a:rPr>
              <a:t>L5</a:t>
            </a:r>
          </a:p>
          <a:p>
            <a:pPr algn="ctr"/>
            <a:r>
              <a:rPr sz="900" b="0" i="0">
                <a:solidFill>
                  <a:srgbClr val="555555"/>
                </a:solidFill>
                <a:latin typeface="Calibri"/>
              </a:rPr>
              <a:t>H(m5)</a:t>
            </a:r>
          </a:p>
        </p:txBody>
      </p:sp>
      <p:cxnSp>
        <p:nvCxnSpPr>
          <p:cNvPr id="22" name="Connector 21"/>
          <p:cNvCxnSpPr/>
          <p:nvPr/>
        </p:nvCxnSpPr>
        <p:spPr>
          <a:xfrm flipV="1">
            <a:off x="5875020" y="5349240"/>
            <a:ext cx="0" cy="411480"/>
          </a:xfrm>
          <a:prstGeom prst="line">
            <a:avLst/>
          </a:prstGeom>
          <a:ln w="15875">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17820" y="5779007"/>
            <a:ext cx="914400" cy="228600"/>
          </a:xfrm>
          <a:prstGeom prst="rect">
            <a:avLst/>
          </a:prstGeom>
          <a:noFill/>
        </p:spPr>
        <p:txBody>
          <a:bodyPr wrap="square" anchor="t" lIns="0" rIns="0" tIns="0" bIns="0">
            <a:spAutoFit/>
          </a:bodyPr>
          <a:lstStyle/>
          <a:p>
            <a:pPr algn="ctr"/>
            <a:r>
              <a:rPr sz="950" b="0" i="0">
                <a:solidFill>
                  <a:srgbClr val="555555"/>
                </a:solidFill>
                <a:latin typeface="Calibri"/>
              </a:rPr>
              <a:t>RRset 5</a:t>
            </a:r>
          </a:p>
        </p:txBody>
      </p:sp>
      <p:sp>
        <p:nvSpPr>
          <p:cNvPr id="24" name="Rectangle 23"/>
          <p:cNvSpPr/>
          <p:nvPr/>
        </p:nvSpPr>
        <p:spPr>
          <a:xfrm>
            <a:off x="1097280" y="3977639"/>
            <a:ext cx="914400" cy="457200"/>
          </a:xfrm>
          <a:prstGeom prst="rect">
            <a:avLst/>
          </a:prstGeom>
          <a:solidFill>
            <a:srgbClr val="E2F2E3"/>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1" i="0">
                <a:solidFill>
                  <a:srgbClr val="000000"/>
                </a:solidFill>
                <a:latin typeface="Calibri"/>
              </a:rPr>
              <a:t>N01</a:t>
            </a:r>
          </a:p>
        </p:txBody>
      </p:sp>
      <p:cxnSp>
        <p:nvCxnSpPr>
          <p:cNvPr id="25" name="Connector 24"/>
          <p:cNvCxnSpPr/>
          <p:nvPr/>
        </p:nvCxnSpPr>
        <p:spPr>
          <a:xfrm flipV="1">
            <a:off x="1074420" y="4434840"/>
            <a:ext cx="480060" cy="457200"/>
          </a:xfrm>
          <a:prstGeom prst="line">
            <a:avLst/>
          </a:prstGeom>
          <a:ln w="15875">
            <a:solidFill>
              <a:srgbClr val="5555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554480" y="4434840"/>
            <a:ext cx="480060" cy="457200"/>
          </a:xfrm>
          <a:prstGeom prst="line">
            <a:avLst/>
          </a:prstGeom>
          <a:ln w="15875">
            <a:solidFill>
              <a:srgbClr val="55555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3017520" y="3977639"/>
            <a:ext cx="914400" cy="457200"/>
          </a:xfrm>
          <a:prstGeom prst="rect">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1" i="0">
                <a:solidFill>
                  <a:srgbClr val="000000"/>
                </a:solidFill>
                <a:latin typeface="Calibri"/>
              </a:rPr>
              <a:t>N23</a:t>
            </a:r>
          </a:p>
        </p:txBody>
      </p:sp>
      <p:cxnSp>
        <p:nvCxnSpPr>
          <p:cNvPr id="28" name="Connector 27"/>
          <p:cNvCxnSpPr/>
          <p:nvPr/>
        </p:nvCxnSpPr>
        <p:spPr>
          <a:xfrm flipV="1">
            <a:off x="2994660" y="4434840"/>
            <a:ext cx="480060" cy="457200"/>
          </a:xfrm>
          <a:prstGeom prst="line">
            <a:avLst/>
          </a:prstGeom>
          <a:ln w="15875">
            <a:solidFill>
              <a:srgbClr val="555555"/>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3474720" y="4434840"/>
            <a:ext cx="480060" cy="457200"/>
          </a:xfrm>
          <a:prstGeom prst="line">
            <a:avLst/>
          </a:prstGeom>
          <a:ln w="15875">
            <a:solidFill>
              <a:srgbClr val="55555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4892040" y="3977639"/>
            <a:ext cx="1005840" cy="457200"/>
          </a:xfrm>
          <a:prstGeom prst="rect">
            <a:avLst/>
          </a:prstGeom>
          <a:solidFill>
            <a:srgbClr val="E3E3FA"/>
          </a:solidFill>
          <a:ln w="285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000000"/>
                </a:solidFill>
                <a:latin typeface="Calibri"/>
              </a:rPr>
              <a:t>R2 = N45</a:t>
            </a:r>
          </a:p>
          <a:p>
            <a:pPr algn="ctr"/>
            <a:r>
              <a:rPr sz="900" b="0" i="0">
                <a:solidFill>
                  <a:srgbClr val="0000DC"/>
                </a:solidFill>
                <a:latin typeface="Calibri"/>
              </a:rPr>
              <a:t>rung</a:t>
            </a:r>
          </a:p>
        </p:txBody>
      </p:sp>
      <p:cxnSp>
        <p:nvCxnSpPr>
          <p:cNvPr id="31" name="Connector 30"/>
          <p:cNvCxnSpPr/>
          <p:nvPr/>
        </p:nvCxnSpPr>
        <p:spPr>
          <a:xfrm flipV="1">
            <a:off x="4914900" y="4434840"/>
            <a:ext cx="480060" cy="457200"/>
          </a:xfrm>
          <a:prstGeom prst="line">
            <a:avLst/>
          </a:prstGeom>
          <a:ln w="15875">
            <a:solidFill>
              <a:srgbClr val="555555"/>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5394960" y="4434840"/>
            <a:ext cx="480060" cy="457200"/>
          </a:xfrm>
          <a:prstGeom prst="line">
            <a:avLst/>
          </a:prstGeom>
          <a:ln w="15875">
            <a:solidFill>
              <a:srgbClr val="55555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1920240" y="3063240"/>
            <a:ext cx="1188720" cy="457200"/>
          </a:xfrm>
          <a:prstGeom prst="rect">
            <a:avLst/>
          </a:prstGeom>
          <a:solidFill>
            <a:srgbClr val="E3E3FA"/>
          </a:solidFill>
          <a:ln w="285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000000"/>
                </a:solidFill>
                <a:latin typeface="Calibri"/>
              </a:rPr>
              <a:t>R1 = N0123</a:t>
            </a:r>
          </a:p>
          <a:p>
            <a:pPr algn="ctr"/>
            <a:r>
              <a:rPr sz="900" b="0" i="0">
                <a:solidFill>
                  <a:srgbClr val="0000DC"/>
                </a:solidFill>
                <a:latin typeface="Calibri"/>
              </a:rPr>
              <a:t>rung</a:t>
            </a:r>
          </a:p>
        </p:txBody>
      </p:sp>
      <p:cxnSp>
        <p:nvCxnSpPr>
          <p:cNvPr id="34" name="Connector 33"/>
          <p:cNvCxnSpPr/>
          <p:nvPr/>
        </p:nvCxnSpPr>
        <p:spPr>
          <a:xfrm flipV="1">
            <a:off x="1554480" y="3520440"/>
            <a:ext cx="960120" cy="457199"/>
          </a:xfrm>
          <a:prstGeom prst="line">
            <a:avLst/>
          </a:prstGeom>
          <a:ln w="15875">
            <a:solidFill>
              <a:srgbClr val="555555"/>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514600" y="3520440"/>
            <a:ext cx="960120" cy="457199"/>
          </a:xfrm>
          <a:prstGeom prst="line">
            <a:avLst/>
          </a:prstGeom>
          <a:ln w="15875">
            <a:solidFill>
              <a:srgbClr val="555555"/>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662940" y="1691640"/>
            <a:ext cx="5623560" cy="868680"/>
          </a:xfrm>
          <a:prstGeom prst="rect">
            <a:avLst/>
          </a:prstGeom>
          <a:solidFill>
            <a:srgbClr val="F2F2FD"/>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000000"/>
                </a:solidFill>
                <a:latin typeface="Calibri"/>
              </a:rPr>
              <a:t>Ladder = R1 ‖ R2</a:t>
            </a:r>
            <a:r>
              <a:rPr sz="1300" b="0" i="0">
                <a:solidFill>
                  <a:srgbClr val="000000"/>
                </a:solidFill>
                <a:latin typeface="Calibri"/>
              </a:rPr>
              <a:t>  →  signed </a:t>
            </a:r>
            <a:r>
              <a:rPr sz="1300" b="1" i="0">
                <a:solidFill>
                  <a:srgbClr val="000000"/>
                </a:solidFill>
                <a:latin typeface="Calibri"/>
              </a:rPr>
              <a:t>once</a:t>
            </a:r>
            <a:r>
              <a:rPr sz="1300" b="0" i="0">
                <a:solidFill>
                  <a:srgbClr val="000000"/>
                </a:solidFill>
                <a:latin typeface="Calibri"/>
              </a:rPr>
              <a:t> with SLH-DSA</a:t>
            </a:r>
          </a:p>
          <a:p>
            <a:pPr algn="ctr"/>
            <a:r>
              <a:rPr sz="1100" b="0" i="0">
                <a:solidFill>
                  <a:srgbClr val="555555"/>
                </a:solidFill>
                <a:latin typeface="Calibri"/>
              </a:rPr>
              <a:t>signed ladder ≈ 8 KB (7,856 B signature + rungs)</a:t>
            </a:r>
          </a:p>
        </p:txBody>
      </p:sp>
      <p:cxnSp>
        <p:nvCxnSpPr>
          <p:cNvPr id="37" name="Connector 36"/>
          <p:cNvCxnSpPr/>
          <p:nvPr/>
        </p:nvCxnSpPr>
        <p:spPr>
          <a:xfrm flipV="1">
            <a:off x="2514600" y="2560320"/>
            <a:ext cx="0" cy="502920"/>
          </a:xfrm>
          <a:prstGeom prst="line">
            <a:avLst/>
          </a:prstGeom>
          <a:ln w="15875">
            <a:solidFill>
              <a:srgbClr val="0000D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5394960" y="2560320"/>
            <a:ext cx="0" cy="1417319"/>
          </a:xfrm>
          <a:prstGeom prst="line">
            <a:avLst/>
          </a:prstGeom>
          <a:ln w="15875">
            <a:solidFill>
              <a:srgbClr val="0000D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62940" y="5989320"/>
            <a:ext cx="5623560" cy="274320"/>
          </a:xfrm>
          <a:prstGeom prst="rect">
            <a:avLst/>
          </a:prstGeom>
          <a:noFill/>
        </p:spPr>
        <p:txBody>
          <a:bodyPr wrap="square" anchor="t" lIns="0" rIns="0" tIns="0" bIns="0">
            <a:spAutoFit/>
          </a:bodyPr>
          <a:lstStyle/>
          <a:p>
            <a:pPr algn="ctr"/>
            <a:r>
              <a:rPr sz="1100" b="0" i="0">
                <a:solidFill>
                  <a:srgbClr val="555555"/>
                </a:solidFill>
                <a:latin typeface="Calibri"/>
              </a:rPr>
              <a:t>6 = binary 110 → 2 rungs (one per 1-bit). 45 = 101101 → 4 rungs.</a:t>
            </a:r>
          </a:p>
        </p:txBody>
      </p:sp>
      <p:sp>
        <p:nvSpPr>
          <p:cNvPr id="40" name="TextBox 39"/>
          <p:cNvSpPr txBox="1"/>
          <p:nvPr/>
        </p:nvSpPr>
        <p:spPr>
          <a:xfrm>
            <a:off x="6812280" y="1691640"/>
            <a:ext cx="4846320" cy="365760"/>
          </a:xfrm>
          <a:prstGeom prst="rect">
            <a:avLst/>
          </a:prstGeom>
          <a:noFill/>
        </p:spPr>
        <p:txBody>
          <a:bodyPr wrap="square" anchor="t" lIns="0" rIns="0" tIns="0" bIns="0">
            <a:spAutoFit/>
          </a:bodyPr>
          <a:lstStyle/>
          <a:p>
            <a:pPr algn="l"/>
            <a:r>
              <a:rPr sz="1800" b="1" i="0">
                <a:solidFill>
                  <a:srgbClr val="0000DC"/>
                </a:solidFill>
                <a:latin typeface="Calibri"/>
              </a:rPr>
              <a:t>Key terms</a:t>
            </a:r>
          </a:p>
        </p:txBody>
      </p:sp>
      <p:sp>
        <p:nvSpPr>
          <p:cNvPr id="41" name="TextBox 40"/>
          <p:cNvSpPr txBox="1"/>
          <p:nvPr/>
        </p:nvSpPr>
        <p:spPr>
          <a:xfrm>
            <a:off x="6812280" y="2148840"/>
            <a:ext cx="4846320" cy="4023360"/>
          </a:xfrm>
          <a:prstGeom prst="rect">
            <a:avLst/>
          </a:prstGeom>
          <a:noFill/>
        </p:spPr>
        <p:txBody>
          <a:bodyPr wrap="square" anchor="t" lIns="0" rIns="0" tIns="0" bIns="0">
            <a:spAutoFit/>
          </a:bodyPr>
          <a:lstStyle/>
          <a:p>
            <a:pPr algn="l" marL="274320" indent="-274320">
              <a:buClr>
                <a:srgbClr val="0000DC"/>
              </a:buClr>
              <a:buFont typeface="Arial"/>
              <a:buChar char="•"/>
            </a:pPr>
            <a:r>
              <a:rPr sz="1450" b="1" i="0">
                <a:solidFill>
                  <a:srgbClr val="000000"/>
                </a:solidFill>
                <a:latin typeface="Calibri"/>
              </a:rPr>
              <a:t>Condensed signature</a:t>
            </a:r>
            <a:r>
              <a:rPr sz="1450" b="0" i="0">
                <a:solidFill>
                  <a:srgbClr val="000000"/>
                </a:solidFill>
                <a:latin typeface="Calibri"/>
              </a:rPr>
              <a:t> of RRset 2 = the hash path to its rung: </a:t>
            </a:r>
            <a:r>
              <a:rPr sz="1450" b="1" i="0">
                <a:solidFill>
                  <a:srgbClr val="000000"/>
                </a:solidFill>
                <a:latin typeface="Calibri"/>
              </a:rPr>
              <a:t>L3, N01</a:t>
            </a:r>
            <a:r>
              <a:rPr sz="1450" b="0" i="0">
                <a:solidFill>
                  <a:srgbClr val="000000"/>
                </a:solidFill>
                <a:latin typeface="Calibri"/>
              </a:rPr>
              <a:t> (green). That, plus a 1-byte type, is what goes in its RRSIG: </a:t>
            </a:r>
            <a:r>
              <a:rPr sz="1450" b="1" i="0">
                <a:solidFill>
                  <a:srgbClr val="000000"/>
                </a:solidFill>
                <a:latin typeface="Calibri"/>
              </a:rPr>
              <a:t>156–204 B</a:t>
            </a:r>
            <a:r>
              <a:rPr sz="1450" b="0" i="0">
                <a:solidFill>
                  <a:srgbClr val="000000"/>
                </a:solidFill>
                <a:latin typeface="Calibri"/>
              </a:rPr>
              <a:t> in our zones instead of 7,856 B.</a:t>
            </a:r>
          </a:p>
          <a:p>
            <a:pPr algn="l" marL="274320" indent="-274320">
              <a:spcBef>
                <a:spcPts val="800"/>
              </a:spcBef>
              <a:buClr>
                <a:srgbClr val="0000DC"/>
              </a:buClr>
              <a:buFont typeface="Arial"/>
              <a:buChar char="•"/>
            </a:pPr>
            <a:r>
              <a:rPr sz="1450" b="1" i="0">
                <a:solidFill>
                  <a:srgbClr val="000000"/>
                </a:solidFill>
                <a:latin typeface="Calibri"/>
              </a:rPr>
              <a:t>Signed ladder</a:t>
            </a:r>
            <a:r>
              <a:rPr sz="1450" b="0" i="0">
                <a:solidFill>
                  <a:srgbClr val="000000"/>
                </a:solidFill>
                <a:latin typeface="Calibri"/>
              </a:rPr>
              <a:t> = the rungs + one SLH-DSA signature. One per zone, about </a:t>
            </a:r>
            <a:r>
              <a:rPr sz="1450" b="1" i="0">
                <a:solidFill>
                  <a:srgbClr val="000000"/>
                </a:solidFill>
                <a:latin typeface="Calibri"/>
              </a:rPr>
              <a:t>8 KB</a:t>
            </a:r>
            <a:r>
              <a:rPr sz="1450" b="0" i="0">
                <a:solidFill>
                  <a:srgbClr val="000000"/>
                </a:solidFill>
                <a:latin typeface="Calibri"/>
              </a:rPr>
              <a:t>. A resolver fetches it once (EDNS option mtl-mode-full, over TCP) and caches it.</a:t>
            </a:r>
          </a:p>
          <a:p>
            <a:pPr algn="l" marL="274320" indent="-274320">
              <a:spcBef>
                <a:spcPts val="800"/>
              </a:spcBef>
              <a:buClr>
                <a:srgbClr val="0000DC"/>
              </a:buClr>
              <a:buFont typeface="Arial"/>
              <a:buChar char="•"/>
            </a:pPr>
            <a:r>
              <a:rPr sz="1450" b="1" i="0">
                <a:solidFill>
                  <a:srgbClr val="000000"/>
                </a:solidFill>
                <a:latin typeface="Calibri"/>
              </a:rPr>
              <a:t>Full signature</a:t>
            </a:r>
            <a:r>
              <a:rPr sz="1450" b="0" i="0">
                <a:solidFill>
                  <a:srgbClr val="000000"/>
                </a:solidFill>
                <a:latin typeface="Calibri"/>
              </a:rPr>
              <a:t> = condensed + signed ladder. Used only when the resolver has no ladder yet.</a:t>
            </a:r>
          </a:p>
          <a:p>
            <a:pPr algn="l" marL="274320" indent="-274320">
              <a:spcBef>
                <a:spcPts val="800"/>
              </a:spcBef>
              <a:buClr>
                <a:srgbClr val="0000DC"/>
              </a:buClr>
              <a:buFont typeface="Arial"/>
              <a:buChar char="•"/>
            </a:pPr>
            <a:r>
              <a:rPr sz="1450" b="0" i="0">
                <a:solidFill>
                  <a:srgbClr val="000000"/>
                </a:solidFill>
                <a:latin typeface="Calibri"/>
              </a:rPr>
              <a:t>Verify with a cached ladder: recompute L2 → N23 → R1, compare with the ladder: </a:t>
            </a:r>
            <a:r>
              <a:rPr sz="1450" b="1" i="0">
                <a:solidFill>
                  <a:srgbClr val="000000"/>
                </a:solidFill>
                <a:latin typeface="Calibri"/>
              </a:rPr>
              <a:t>hashes only</a:t>
            </a:r>
            <a:r>
              <a:rPr sz="1450" b="0" i="0">
                <a:solidFill>
                  <a:srgbClr val="000000"/>
                </a:solidFill>
                <a:latin typeface="Calibri"/>
              </a:rPr>
              <a:t>.</a:t>
            </a:r>
          </a:p>
        </p:txBody>
      </p:sp>
      <p:sp>
        <p:nvSpPr>
          <p:cNvPr id="42" name="TextBox 41"/>
          <p:cNvSpPr txBox="1"/>
          <p:nvPr/>
        </p:nvSpPr>
        <p:spPr>
          <a:xfrm>
            <a:off x="539496" y="6510528"/>
            <a:ext cx="7315200" cy="274320"/>
          </a:xfrm>
          <a:prstGeom prst="rect">
            <a:avLst/>
          </a:prstGeom>
          <a:noFill/>
        </p:spPr>
        <p:txBody>
          <a:bodyPr wrap="square" anchor="t" lIns="0" rIns="0" tIns="0" bIns="0">
            <a:spAutoFit/>
          </a:bodyPr>
          <a:lstStyle/>
          <a:p>
            <a:pPr algn="l"/>
            <a:r>
              <a:rPr sz="1200" b="0" i="0">
                <a:solidFill>
                  <a:srgbClr val="0000DC"/>
                </a:solidFill>
                <a:latin typeface="Calibri"/>
              </a:rPr>
              <a:t>A. Joshi  •  </a:t>
            </a:r>
            <a:r>
              <a:rPr sz="1200" b="1" i="0">
                <a:solidFill>
                  <a:srgbClr val="0000DC"/>
                </a:solidFill>
                <a:latin typeface="Calibri"/>
              </a:rPr>
              <a:t>A3-PS036-TC161</a:t>
            </a:r>
            <a:r>
              <a:rPr sz="1200" b="0" i="0">
                <a:solidFill>
                  <a:srgbClr val="0000DC"/>
                </a:solidFill>
                <a:latin typeface="Calibri"/>
              </a:rPr>
              <a:t>  •  October 8, 2026</a:t>
            </a:r>
          </a:p>
        </p:txBody>
      </p:sp>
      <p:sp>
        <p:nvSpPr>
          <p:cNvPr id="43" name="TextBox 42"/>
          <p:cNvSpPr txBox="1"/>
          <p:nvPr/>
        </p:nvSpPr>
        <p:spPr>
          <a:xfrm>
            <a:off x="9601200" y="6510528"/>
            <a:ext cx="2057400" cy="274320"/>
          </a:xfrm>
          <a:prstGeom prst="rect">
            <a:avLst/>
          </a:prstGeom>
          <a:noFill/>
        </p:spPr>
        <p:txBody>
          <a:bodyPr wrap="square" anchor="t" lIns="0" rIns="0" tIns="0" bIns="0">
            <a:spAutoFit/>
          </a:bodyPr>
          <a:lstStyle/>
          <a:p>
            <a:pPr algn="r"/>
            <a:r>
              <a:rPr sz="1200" b="0" i="0">
                <a:solidFill>
                  <a:srgbClr val="0000DC"/>
                </a:solidFill>
                <a:latin typeface="Calibri"/>
              </a:rPr>
              <a:t>4 /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6080" y="73152"/>
            <a:ext cx="3200400" cy="274320"/>
          </a:xfrm>
          <a:prstGeom prst="rect">
            <a:avLst/>
          </a:prstGeom>
          <a:noFill/>
        </p:spPr>
        <p:txBody>
          <a:bodyPr wrap="square" anchor="t" lIns="0" rIns="0" tIns="0" bIns="0">
            <a:spAutoFit/>
          </a:bodyPr>
          <a:lstStyle/>
          <a:p>
            <a:pPr algn="r"/>
            <a:r>
              <a:rPr sz="1200" b="1" i="0">
                <a:solidFill>
                  <a:srgbClr val="0000DC"/>
                </a:solidFill>
                <a:latin typeface="Calibri"/>
              </a:rPr>
              <a:t>AIORI 3</a:t>
            </a:r>
          </a:p>
        </p:txBody>
      </p:sp>
      <p:sp>
        <p:nvSpPr>
          <p:cNvPr id="3" name="TextBox 2"/>
          <p:cNvSpPr txBox="1"/>
          <p:nvPr/>
        </p:nvSpPr>
        <p:spPr>
          <a:xfrm>
            <a:off x="6263640" y="73152"/>
            <a:ext cx="5486400" cy="274320"/>
          </a:xfrm>
          <a:prstGeom prst="rect">
            <a:avLst/>
          </a:prstGeom>
          <a:noFill/>
        </p:spPr>
        <p:txBody>
          <a:bodyPr wrap="square" anchor="t" lIns="0" rIns="0" tIns="0" bIns="0">
            <a:spAutoFit/>
          </a:bodyPr>
          <a:lstStyle/>
          <a:p>
            <a:pPr algn="l"/>
            <a:r>
              <a:rPr sz="1200" b="1" i="0">
                <a:solidFill>
                  <a:srgbClr val="0000DC"/>
                </a:solidFill>
                <a:latin typeface="Calibri"/>
              </a:rPr>
              <a:t>PS-036</a:t>
            </a:r>
          </a:p>
        </p:txBody>
      </p:sp>
      <p:sp>
        <p:nvSpPr>
          <p:cNvPr id="4" name="TextBox 3"/>
          <p:cNvSpPr txBox="1"/>
          <p:nvPr/>
        </p:nvSpPr>
        <p:spPr>
          <a:xfrm>
            <a:off x="539496" y="384048"/>
            <a:ext cx="11109960" cy="548640"/>
          </a:xfrm>
          <a:prstGeom prst="rect">
            <a:avLst/>
          </a:prstGeom>
          <a:noFill/>
        </p:spPr>
        <p:txBody>
          <a:bodyPr wrap="square" anchor="t" lIns="0" rIns="0" tIns="0" bIns="0">
            <a:spAutoFit/>
          </a:bodyPr>
          <a:lstStyle/>
          <a:p>
            <a:pPr algn="l"/>
            <a:r>
              <a:rPr sz="3000" b="1" i="0">
                <a:solidFill>
                  <a:srgbClr val="0000DC"/>
                </a:solidFill>
                <a:latin typeface="Calibri"/>
              </a:rPr>
              <a:t>What PS-036 asks, and how we measure it</a:t>
            </a:r>
          </a:p>
        </p:txBody>
      </p:sp>
      <p:sp>
        <p:nvSpPr>
          <p:cNvPr id="5" name="TextBox 4"/>
          <p:cNvSpPr txBox="1"/>
          <p:nvPr/>
        </p:nvSpPr>
        <p:spPr>
          <a:xfrm>
            <a:off x="539496" y="978408"/>
            <a:ext cx="11109960" cy="411480"/>
          </a:xfrm>
          <a:prstGeom prst="rect">
            <a:avLst/>
          </a:prstGeom>
          <a:noFill/>
        </p:spPr>
        <p:txBody>
          <a:bodyPr wrap="square" anchor="t" lIns="0" rIns="0" tIns="0" bIns="0">
            <a:spAutoFit/>
          </a:bodyPr>
          <a:lstStyle/>
          <a:p>
            <a:pPr algn="l"/>
            <a:r>
              <a:rPr sz="1700" b="1" i="0">
                <a:solidFill>
                  <a:srgbClr val="000000"/>
                </a:solidFill>
                <a:latin typeface="Calibri"/>
              </a:rPr>
              <a:t>Every requirement maps to one stage of the run and one output file.</a:t>
            </a:r>
          </a:p>
        </p:txBody>
      </p:sp>
      <p:graphicFrame>
        <p:nvGraphicFramePr>
          <p:cNvPr id="6" name="Table 5"/>
          <p:cNvGraphicFramePr>
            <a:graphicFrameLocks noGrp="1"/>
          </p:cNvGraphicFramePr>
          <p:nvPr/>
        </p:nvGraphicFramePr>
        <p:xfrm>
          <a:off x="539496" y="1600200"/>
          <a:ext cx="11109960" cy="4389120"/>
        </p:xfrm>
        <a:graphic>
          <a:graphicData uri="http://schemas.openxmlformats.org/drawingml/2006/table">
            <a:tbl>
              <a:tblPr firstRow="1" bandRow="1">
                <a:tableStyleId>{5C22544A-7EE6-4342-B048-85BDC9FD1C3A}</a:tableStyleId>
              </a:tblPr>
              <a:tblGrid>
                <a:gridCol w="3246120"/>
                <a:gridCol w="5486400"/>
                <a:gridCol w="2377440"/>
              </a:tblGrid>
              <a:tr h="548640">
                <a:tc>
                  <a:txBody>
                    <a:bodyPr wrap="square"/>
                    <a:lstStyle/>
                    <a:p>
                      <a:r>
                        <a:rPr sz="1300" b="1" i="0">
                          <a:solidFill>
                            <a:srgbClr val="FFFFFF"/>
                          </a:solidFill>
                          <a:latin typeface="Calibri"/>
                        </a:rPr>
                        <a:t>PS-036 requirement</a:t>
                      </a:r>
                    </a:p>
                  </a:txBody>
                  <a:tcPr marL="64008" marR="64008" marT="27432" marB="27432" anchor="ctr">
                    <a:solidFill>
                      <a:srgbClr val="0000DC"/>
                    </a:solidFill>
                  </a:tcPr>
                </a:tc>
                <a:tc>
                  <a:txBody>
                    <a:bodyPr wrap="square"/>
                    <a:lstStyle/>
                    <a:p>
                      <a:r>
                        <a:rPr sz="1300" b="1" i="0">
                          <a:solidFill>
                            <a:srgbClr val="FFFFFF"/>
                          </a:solidFill>
                          <a:latin typeface="Calibri"/>
                        </a:rPr>
                        <a:t>How Cipherops does it</a:t>
                      </a:r>
                    </a:p>
                  </a:txBody>
                  <a:tcPr marL="64008" marR="64008" marT="27432" marB="27432" anchor="ctr">
                    <a:solidFill>
                      <a:srgbClr val="0000DC"/>
                    </a:solidFill>
                  </a:tcPr>
                </a:tc>
                <a:tc>
                  <a:txBody>
                    <a:bodyPr wrap="square"/>
                    <a:lstStyle/>
                    <a:p>
                      <a:r>
                        <a:rPr sz="1300" b="1" i="0">
                          <a:solidFill>
                            <a:srgbClr val="FFFFFF"/>
                          </a:solidFill>
                          <a:latin typeface="Calibri"/>
                        </a:rPr>
                        <a:t>Where the number is</a:t>
                      </a:r>
                    </a:p>
                  </a:txBody>
                  <a:tcPr marL="64008" marR="64008" marT="27432" marB="27432" anchor="ctr">
                    <a:solidFill>
                      <a:srgbClr val="0000DC"/>
                    </a:solidFill>
                  </a:tcPr>
                </a:tc>
              </a:tr>
              <a:tr h="548640">
                <a:tc>
                  <a:txBody>
                    <a:bodyPr wrap="square"/>
                    <a:lstStyle/>
                    <a:p>
                      <a:r>
                        <a:rPr sz="1300" b="0" i="0">
                          <a:solidFill>
                            <a:srgbClr val="000000"/>
                          </a:solidFill>
                          <a:latin typeface="Calibri"/>
                        </a:rPr>
                        <a:t>Use the supplied reference implementation</a:t>
                      </a:r>
                    </a:p>
                  </a:txBody>
                  <a:tcPr marL="64008" marR="64008" marT="27432" marB="27432" anchor="ctr">
                    <a:solidFill>
                      <a:srgbClr val="F2F2FD"/>
                    </a:solidFill>
                  </a:tcPr>
                </a:tc>
                <a:tc>
                  <a:txBody>
                    <a:bodyPr wrap="square"/>
                    <a:lstStyle/>
                    <a:p>
                      <a:r>
                        <a:rPr sz="1300" b="0" i="0">
                          <a:solidFill>
                            <a:srgbClr val="000000"/>
                          </a:solidFill>
                          <a:latin typeface="Calibri"/>
                        </a:rPr>
                        <a:t>Verisign MTL library, unmodified, pinned commit 7cef019</a:t>
                      </a:r>
                    </a:p>
                  </a:txBody>
                  <a:tcPr marL="64008" marR="64008" marT="27432" marB="27432" anchor="ctr">
                    <a:solidFill>
                      <a:srgbClr val="F2F2FD"/>
                    </a:solidFill>
                  </a:tcPr>
                </a:tc>
                <a:tc>
                  <a:txBody>
                    <a:bodyPr wrap="square"/>
                    <a:lstStyle/>
                    <a:p>
                      <a:r>
                        <a:rPr sz="1300" b="0" i="0">
                          <a:solidFill>
                            <a:srgbClr val="000000"/>
                          </a:solidFill>
                          <a:latin typeface="Calibri"/>
                        </a:rPr>
                        <a:t>environment.json</a:t>
                      </a:r>
                    </a:p>
                  </a:txBody>
                  <a:tcPr marL="64008" marR="64008" marT="27432" marB="27432" anchor="ctr">
                    <a:solidFill>
                      <a:srgbClr val="F2F2FD"/>
                    </a:solidFill>
                  </a:tcPr>
                </a:tc>
              </a:tr>
              <a:tr h="548640">
                <a:tc>
                  <a:txBody>
                    <a:bodyPr wrap="square"/>
                    <a:lstStyle/>
                    <a:p>
                      <a:r>
                        <a:rPr sz="1300" b="0" i="0">
                          <a:solidFill>
                            <a:srgbClr val="000000"/>
                          </a:solidFill>
                          <a:latin typeface="Calibri"/>
                        </a:rPr>
                        <a:t>Defer if it or its fixtures fail</a:t>
                      </a:r>
                    </a:p>
                  </a:txBody>
                  <a:tcPr marL="64008" marR="64008" marT="27432" marB="27432" anchor="ctr">
                    <a:solidFill>
                      <a:srgbClr val="FFFFFF"/>
                    </a:solidFill>
                  </a:tcPr>
                </a:tc>
                <a:tc>
                  <a:txBody>
                    <a:bodyPr wrap="square"/>
                    <a:lstStyle/>
                    <a:p>
                      <a:r>
                        <a:rPr sz="1300" b="0" i="0">
                          <a:solidFill>
                            <a:srgbClr val="000000"/>
                          </a:solidFill>
                          <a:latin typeface="Calibri"/>
                        </a:rPr>
                        <a:t>Go/no-go gate: Verisign test suite, tool round trip, harness smoke test; NO-GO stops the run (exit 3)</a:t>
                      </a:r>
                    </a:p>
                  </a:txBody>
                  <a:tcPr marL="64008" marR="64008" marT="27432" marB="27432" anchor="ctr">
                    <a:solidFill>
                      <a:srgbClr val="FFFFFF"/>
                    </a:solidFill>
                  </a:tcPr>
                </a:tc>
                <a:tc>
                  <a:txBody>
                    <a:bodyPr wrap="square"/>
                    <a:lstStyle/>
                    <a:p>
                      <a:r>
                        <a:rPr sz="1300" b="0" i="0">
                          <a:solidFill>
                            <a:srgbClr val="000000"/>
                          </a:solidFill>
                          <a:latin typeface="Calibri"/>
                        </a:rPr>
                        <a:t>preflight.json</a:t>
                      </a:r>
                    </a:p>
                  </a:txBody>
                  <a:tcPr marL="64008" marR="64008" marT="27432" marB="27432" anchor="ctr">
                    <a:solidFill>
                      <a:srgbClr val="FFFFFF"/>
                    </a:solidFill>
                  </a:tcPr>
                </a:tc>
              </a:tr>
              <a:tr h="548640">
                <a:tc>
                  <a:txBody>
                    <a:bodyPr wrap="square"/>
                    <a:lstStyle/>
                    <a:p>
                      <a:r>
                        <a:rPr sz="1300" b="0" i="0">
                          <a:solidFill>
                            <a:srgbClr val="000000"/>
                          </a:solidFill>
                          <a:latin typeface="Calibri"/>
                        </a:rPr>
                        <a:t>One PQC algorithm, with and without MTL</a:t>
                      </a:r>
                    </a:p>
                  </a:txBody>
                  <a:tcPr marL="64008" marR="64008" marT="27432" marB="27432" anchor="ctr">
                    <a:solidFill>
                      <a:srgbClr val="F2F2FD"/>
                    </a:solidFill>
                  </a:tcPr>
                </a:tc>
                <a:tc>
                  <a:txBody>
                    <a:bodyPr wrap="square"/>
                    <a:lstStyle/>
                    <a:p>
                      <a:r>
                        <a:rPr sz="1300" b="0" i="0">
                          <a:solidFill>
                            <a:srgbClr val="000000"/>
                          </a:solidFill>
                          <a:latin typeface="Calibri"/>
                        </a:rPr>
                        <a:t>SLH-DSA-SHA2-128s in MTL mode vs signing every RRset; Ed25519, ECDSA, RSA as references</a:t>
                      </a:r>
                    </a:p>
                  </a:txBody>
                  <a:tcPr marL="64008" marR="64008" marT="27432" marB="27432" anchor="ctr">
                    <a:solidFill>
                      <a:srgbClr val="F2F2FD"/>
                    </a:solidFill>
                  </a:tcPr>
                </a:tc>
                <a:tc>
                  <a:txBody>
                    <a:bodyPr wrap="square"/>
                    <a:lstStyle/>
                    <a:p>
                      <a:r>
                        <a:rPr sz="1300" b="0" i="0">
                          <a:solidFill>
                            <a:srgbClr val="000000"/>
                          </a:solidFill>
                          <a:latin typeface="Calibri"/>
                        </a:rPr>
                        <a:t>trials.csv</a:t>
                      </a:r>
                    </a:p>
                  </a:txBody>
                  <a:tcPr marL="64008" marR="64008" marT="27432" marB="27432" anchor="ctr">
                    <a:solidFill>
                      <a:srgbClr val="F2F2FD"/>
                    </a:solidFill>
                  </a:tcPr>
                </a:tc>
              </a:tr>
              <a:tr h="548640">
                <a:tc>
                  <a:txBody>
                    <a:bodyPr wrap="square"/>
                    <a:lstStyle/>
                    <a:p>
                      <a:r>
                        <a:rPr sz="1300" b="0" i="0">
                          <a:solidFill>
                            <a:srgbClr val="000000"/>
                          </a:solidFill>
                          <a:latin typeface="Calibri"/>
                        </a:rPr>
                        <a:t>Signing time, verification time</a:t>
                      </a:r>
                    </a:p>
                  </a:txBody>
                  <a:tcPr marL="64008" marR="64008" marT="27432" marB="27432" anchor="ctr">
                    <a:solidFill>
                      <a:srgbClr val="FFFFFF"/>
                    </a:solidFill>
                  </a:tcPr>
                </a:tc>
                <a:tc>
                  <a:txBody>
                    <a:bodyPr wrap="square"/>
                    <a:lstStyle/>
                    <a:p>
                      <a:r>
                        <a:rPr sz="1300" b="0" i="0">
                          <a:solidFill>
                            <a:srgbClr val="000000"/>
                          </a:solidFill>
                          <a:latin typeface="Calibri"/>
                        </a:rPr>
                        <a:t>C harness times every library call in nanoseconds; warm and cold verification</a:t>
                      </a:r>
                    </a:p>
                  </a:txBody>
                  <a:tcPr marL="64008" marR="64008" marT="27432" marB="27432" anchor="ctr">
                    <a:solidFill>
                      <a:srgbClr val="FFFFFF"/>
                    </a:solidFill>
                  </a:tcPr>
                </a:tc>
                <a:tc>
                  <a:txBody>
                    <a:bodyPr wrap="square"/>
                    <a:lstStyle/>
                    <a:p>
                      <a:r>
                        <a:rPr sz="1300" b="0" i="0">
                          <a:solidFill>
                            <a:srgbClr val="000000"/>
                          </a:solidFill>
                          <a:latin typeface="Calibri"/>
                        </a:rPr>
                        <a:t>trials.csv, ops.parquet</a:t>
                      </a:r>
                    </a:p>
                  </a:txBody>
                  <a:tcPr marL="64008" marR="64008" marT="27432" marB="27432" anchor="ctr">
                    <a:solidFill>
                      <a:srgbClr val="FFFFFF"/>
                    </a:solidFill>
                  </a:tcPr>
                </a:tc>
              </a:tr>
              <a:tr h="548640">
                <a:tc>
                  <a:txBody>
                    <a:bodyPr wrap="square"/>
                    <a:lstStyle/>
                    <a:p>
                      <a:r>
                        <a:rPr sz="1300" b="0" i="0">
                          <a:solidFill>
                            <a:srgbClr val="000000"/>
                          </a:solidFill>
                          <a:latin typeface="Calibri"/>
                        </a:rPr>
                        <a:t>Transmitted bytes</a:t>
                      </a:r>
                    </a:p>
                  </a:txBody>
                  <a:tcPr marL="64008" marR="64008" marT="27432" marB="27432" anchor="ctr">
                    <a:solidFill>
                      <a:srgbClr val="F2F2FD"/>
                    </a:solidFill>
                  </a:tcPr>
                </a:tc>
                <a:tc>
                  <a:txBody>
                    <a:bodyPr wrap="square"/>
                    <a:lstStyle/>
                    <a:p>
                      <a:r>
                        <a:rPr sz="1300" b="0" i="0">
                          <a:solidFill>
                            <a:srgbClr val="000000"/>
                          </a:solidFill>
                          <a:latin typeface="Calibri"/>
                        </a:rPr>
                        <a:t>Real DNS answers with the real signatures; UDP, truncation, TCP; 301-lookup stream</a:t>
                      </a:r>
                    </a:p>
                  </a:txBody>
                  <a:tcPr marL="64008" marR="64008" marT="27432" marB="27432" anchor="ctr">
                    <a:solidFill>
                      <a:srgbClr val="F2F2FD"/>
                    </a:solidFill>
                  </a:tcPr>
                </a:tc>
                <a:tc>
                  <a:txBody>
                    <a:bodyPr wrap="square"/>
                    <a:lstStyle/>
                    <a:p>
                      <a:r>
                        <a:rPr sz="1300" b="0" i="0">
                          <a:solidFill>
                            <a:srgbClr val="000000"/>
                          </a:solidFill>
                          <a:latin typeface="Calibri"/>
                        </a:rPr>
                        <a:t>responses.csv, workload.csv</a:t>
                      </a:r>
                    </a:p>
                  </a:txBody>
                  <a:tcPr marL="64008" marR="64008" marT="27432" marB="27432" anchor="ctr">
                    <a:solidFill>
                      <a:srgbClr val="F2F2FD"/>
                    </a:solidFill>
                  </a:tcPr>
                </a:tc>
              </a:tr>
              <a:tr h="548640">
                <a:tc>
                  <a:txBody>
                    <a:bodyPr wrap="square"/>
                    <a:lstStyle/>
                    <a:p>
                      <a:r>
                        <a:rPr sz="1300" b="0" i="0">
                          <a:solidFill>
                            <a:srgbClr val="000000"/>
                          </a:solidFill>
                          <a:latin typeface="Calibri"/>
                        </a:rPr>
                        <a:t>Cache usage</a:t>
                      </a:r>
                    </a:p>
                  </a:txBody>
                  <a:tcPr marL="64008" marR="64008" marT="27432" marB="27432" anchor="ctr">
                    <a:solidFill>
                      <a:srgbClr val="FFFFFF"/>
                    </a:solidFill>
                  </a:tcPr>
                </a:tc>
                <a:tc>
                  <a:txBody>
                    <a:bodyPr wrap="square"/>
                    <a:lstStyle/>
                    <a:p>
                      <a:r>
                        <a:rPr sz="1300" b="0" i="0">
                          <a:solidFill>
                            <a:srgbClr val="000000"/>
                          </a:solidFill>
                          <a:latin typeface="Calibri"/>
                        </a:rPr>
                        <a:t>Resolver cache measured (dnspython LRUCache); draft §12 formulas alongside</a:t>
                      </a:r>
                    </a:p>
                  </a:txBody>
                  <a:tcPr marL="64008" marR="64008" marT="27432" marB="27432" anchor="ctr">
                    <a:solidFill>
                      <a:srgbClr val="FFFFFF"/>
                    </a:solidFill>
                  </a:tcPr>
                </a:tc>
                <a:tc>
                  <a:txBody>
                    <a:bodyPr wrap="square"/>
                    <a:lstStyle/>
                    <a:p>
                      <a:r>
                        <a:rPr sz="1300" b="0" i="0">
                          <a:solidFill>
                            <a:srgbClr val="000000"/>
                          </a:solidFill>
                          <a:latin typeface="Calibri"/>
                        </a:rPr>
                        <a:t>cache.csv, sizes.csv</a:t>
                      </a:r>
                    </a:p>
                  </a:txBody>
                  <a:tcPr marL="64008" marR="64008" marT="27432" marB="27432" anchor="ctr">
                    <a:solidFill>
                      <a:srgbClr val="FFFFFF"/>
                    </a:solidFill>
                  </a:tcPr>
                </a:tc>
              </a:tr>
              <a:tr h="548640">
                <a:tc>
                  <a:txBody>
                    <a:bodyPr wrap="square"/>
                    <a:lstStyle/>
                    <a:p>
                      <a:r>
                        <a:rPr sz="1300" b="0" i="0">
                          <a:solidFill>
                            <a:srgbClr val="000000"/>
                          </a:solidFill>
                          <a:latin typeface="Calibri"/>
                        </a:rPr>
                        <a:t>Several dataset sizes, repeated trials</a:t>
                      </a:r>
                    </a:p>
                  </a:txBody>
                  <a:tcPr marL="64008" marR="64008" marT="27432" marB="27432" anchor="ctr">
                    <a:solidFill>
                      <a:srgbClr val="F2F2FD"/>
                    </a:solidFill>
                  </a:tcPr>
                </a:tc>
                <a:tc>
                  <a:txBody>
                    <a:bodyPr wrap="square"/>
                    <a:lstStyle/>
                    <a:p>
                      <a:r>
                        <a:rPr sz="1300" b="0" i="0">
                          <a:solidFill>
                            <a:srgbClr val="000000"/>
                          </a:solidFill>
                          <a:latin typeface="Calibri"/>
                        </a:rPr>
                        <a:t>3 zone sizes; 3 trials (5 in the full run); medians with 95% bootstrap CI</a:t>
                      </a:r>
                    </a:p>
                  </a:txBody>
                  <a:tcPr marL="64008" marR="64008" marT="27432" marB="27432" anchor="ctr">
                    <a:solidFill>
                      <a:srgbClr val="F2F2FD"/>
                    </a:solidFill>
                  </a:tcPr>
                </a:tc>
                <a:tc>
                  <a:txBody>
                    <a:bodyPr wrap="square"/>
                    <a:lstStyle/>
                    <a:p>
                      <a:r>
                        <a:rPr sz="1300" b="0" i="0">
                          <a:solidFill>
                            <a:srgbClr val="000000"/>
                          </a:solidFill>
                          <a:latin typeface="Calibri"/>
                        </a:rPr>
                        <a:t>summary.json, report</a:t>
                      </a:r>
                    </a:p>
                  </a:txBody>
                  <a:tcPr marL="64008" marR="64008" marT="27432" marB="27432" anchor="ctr">
                    <a:solidFill>
                      <a:srgbClr val="F2F2FD"/>
                    </a:solidFill>
                  </a:tcPr>
                </a:tc>
              </a:tr>
            </a:tbl>
          </a:graphicData>
        </a:graphic>
      </p:graphicFrame>
      <p:sp>
        <p:nvSpPr>
          <p:cNvPr id="7" name="TextBox 6"/>
          <p:cNvSpPr txBox="1"/>
          <p:nvPr/>
        </p:nvSpPr>
        <p:spPr>
          <a:xfrm>
            <a:off x="539496" y="6510528"/>
            <a:ext cx="7315200" cy="274320"/>
          </a:xfrm>
          <a:prstGeom prst="rect">
            <a:avLst/>
          </a:prstGeom>
          <a:noFill/>
        </p:spPr>
        <p:txBody>
          <a:bodyPr wrap="square" anchor="t" lIns="0" rIns="0" tIns="0" bIns="0">
            <a:spAutoFit/>
          </a:bodyPr>
          <a:lstStyle/>
          <a:p>
            <a:pPr algn="l"/>
            <a:r>
              <a:rPr sz="1200" b="0" i="0">
                <a:solidFill>
                  <a:srgbClr val="0000DC"/>
                </a:solidFill>
                <a:latin typeface="Calibri"/>
              </a:rPr>
              <a:t>A. Joshi  •  </a:t>
            </a:r>
            <a:r>
              <a:rPr sz="1200" b="1" i="0">
                <a:solidFill>
                  <a:srgbClr val="0000DC"/>
                </a:solidFill>
                <a:latin typeface="Calibri"/>
              </a:rPr>
              <a:t>A3-PS036-TC161</a:t>
            </a:r>
            <a:r>
              <a:rPr sz="1200" b="0" i="0">
                <a:solidFill>
                  <a:srgbClr val="0000DC"/>
                </a:solidFill>
                <a:latin typeface="Calibri"/>
              </a:rPr>
              <a:t>  •  October 8, 2026</a:t>
            </a:r>
          </a:p>
        </p:txBody>
      </p:sp>
      <p:sp>
        <p:nvSpPr>
          <p:cNvPr id="8" name="TextBox 7"/>
          <p:cNvSpPr txBox="1"/>
          <p:nvPr/>
        </p:nvSpPr>
        <p:spPr>
          <a:xfrm>
            <a:off x="9601200" y="6510528"/>
            <a:ext cx="2057400" cy="274320"/>
          </a:xfrm>
          <a:prstGeom prst="rect">
            <a:avLst/>
          </a:prstGeom>
          <a:noFill/>
        </p:spPr>
        <p:txBody>
          <a:bodyPr wrap="square" anchor="t" lIns="0" rIns="0" tIns="0" bIns="0">
            <a:spAutoFit/>
          </a:bodyPr>
          <a:lstStyle/>
          <a:p>
            <a:pPr algn="r"/>
            <a:r>
              <a:rPr sz="1200" b="0" i="0">
                <a:solidFill>
                  <a:srgbClr val="0000DC"/>
                </a:solidFill>
                <a:latin typeface="Calibri"/>
              </a:rPr>
              <a:t>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6080" y="73152"/>
            <a:ext cx="3200400" cy="274320"/>
          </a:xfrm>
          <a:prstGeom prst="rect">
            <a:avLst/>
          </a:prstGeom>
          <a:noFill/>
        </p:spPr>
        <p:txBody>
          <a:bodyPr wrap="square" anchor="t" lIns="0" rIns="0" tIns="0" bIns="0">
            <a:spAutoFit/>
          </a:bodyPr>
          <a:lstStyle/>
          <a:p>
            <a:pPr algn="r"/>
            <a:r>
              <a:rPr sz="1200" b="1" i="0">
                <a:solidFill>
                  <a:srgbClr val="0000DC"/>
                </a:solidFill>
                <a:latin typeface="Calibri"/>
              </a:rPr>
              <a:t>AIORI 3</a:t>
            </a:r>
          </a:p>
        </p:txBody>
      </p:sp>
      <p:sp>
        <p:nvSpPr>
          <p:cNvPr id="3" name="TextBox 2"/>
          <p:cNvSpPr txBox="1"/>
          <p:nvPr/>
        </p:nvSpPr>
        <p:spPr>
          <a:xfrm>
            <a:off x="6263640" y="73152"/>
            <a:ext cx="5486400" cy="274320"/>
          </a:xfrm>
          <a:prstGeom prst="rect">
            <a:avLst/>
          </a:prstGeom>
          <a:noFill/>
        </p:spPr>
        <p:txBody>
          <a:bodyPr wrap="square" anchor="t" lIns="0" rIns="0" tIns="0" bIns="0">
            <a:spAutoFit/>
          </a:bodyPr>
          <a:lstStyle/>
          <a:p>
            <a:pPr algn="l"/>
            <a:r>
              <a:rPr sz="1200" b="1" i="0">
                <a:solidFill>
                  <a:srgbClr val="0000DC"/>
                </a:solidFill>
                <a:latin typeface="Calibri"/>
              </a:rPr>
              <a:t>Architecture Design (UML Diagram)</a:t>
            </a:r>
          </a:p>
        </p:txBody>
      </p:sp>
      <p:sp>
        <p:nvSpPr>
          <p:cNvPr id="4" name="TextBox 3"/>
          <p:cNvSpPr txBox="1"/>
          <p:nvPr/>
        </p:nvSpPr>
        <p:spPr>
          <a:xfrm>
            <a:off x="539496" y="384048"/>
            <a:ext cx="11109960" cy="548640"/>
          </a:xfrm>
          <a:prstGeom prst="rect">
            <a:avLst/>
          </a:prstGeom>
          <a:noFill/>
        </p:spPr>
        <p:txBody>
          <a:bodyPr wrap="square" anchor="t" lIns="0" rIns="0" tIns="0" bIns="0">
            <a:spAutoFit/>
          </a:bodyPr>
          <a:lstStyle/>
          <a:p>
            <a:pPr algn="l"/>
            <a:r>
              <a:rPr sz="3000" b="1" i="0">
                <a:solidFill>
                  <a:srgbClr val="0000DC"/>
                </a:solidFill>
                <a:latin typeface="Calibri"/>
              </a:rPr>
              <a:t>Solution Architecture &amp; Design</a:t>
            </a:r>
          </a:p>
        </p:txBody>
      </p:sp>
      <p:sp>
        <p:nvSpPr>
          <p:cNvPr id="5" name="TextBox 4"/>
          <p:cNvSpPr txBox="1"/>
          <p:nvPr/>
        </p:nvSpPr>
        <p:spPr>
          <a:xfrm>
            <a:off x="539496" y="978408"/>
            <a:ext cx="11109960" cy="411480"/>
          </a:xfrm>
          <a:prstGeom prst="rect">
            <a:avLst/>
          </a:prstGeom>
          <a:noFill/>
        </p:spPr>
        <p:txBody>
          <a:bodyPr wrap="square" anchor="t" lIns="0" rIns="0" tIns="0" bIns="0">
            <a:spAutoFit/>
          </a:bodyPr>
          <a:lstStyle/>
          <a:p>
            <a:pPr algn="l"/>
            <a:r>
              <a:rPr sz="1700" b="1" i="0">
                <a:solidFill>
                  <a:srgbClr val="000000"/>
                </a:solidFill>
                <a:latin typeface="Calibri"/>
              </a:rPr>
              <a:t>UML component view: one pinned container runs every stage and calls the unmodified reference libraries.</a:t>
            </a:r>
          </a:p>
        </p:txBody>
      </p:sp>
      <p:sp>
        <p:nvSpPr>
          <p:cNvPr id="6" name="Rectangle 5"/>
          <p:cNvSpPr/>
          <p:nvPr/>
        </p:nvSpPr>
        <p:spPr>
          <a:xfrm>
            <a:off x="502920" y="1481328"/>
            <a:ext cx="2423160" cy="4206240"/>
          </a:xfrm>
          <a:prstGeom prst="rect">
            <a:avLst/>
          </a:prstGeom>
          <a:solidFill>
            <a:srgbClr val="F2F2FD"/>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7432" bIns="27432"/>
          <a:lstStyle/>
          <a:p>
            <a:pPr algn="ctr"/>
            <a:r>
              <a:rPr sz="1100" b="0" i="0">
                <a:solidFill>
                  <a:srgbClr val="000000"/>
                </a:solidFill>
                <a:latin typeface="Calibri"/>
              </a:rPr>
              <a:t>«device»  Windows host</a:t>
            </a:r>
          </a:p>
        </p:txBody>
      </p:sp>
      <p:sp>
        <p:nvSpPr>
          <p:cNvPr id="7" name="Rectangle 6"/>
          <p:cNvSpPr/>
          <p:nvPr/>
        </p:nvSpPr>
        <p:spPr>
          <a:xfrm>
            <a:off x="640080" y="1920240"/>
            <a:ext cx="2148840" cy="822960"/>
          </a:xfrm>
          <a:prstGeom prst="rect">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850" b="0" i="0">
                <a:solidFill>
                  <a:srgbClr val="555555"/>
                </a:solidFill>
                <a:latin typeface="Calibri"/>
              </a:rPr>
              <a:t>«script»</a:t>
            </a:r>
          </a:p>
          <a:p>
            <a:pPr algn="ctr"/>
            <a:r>
              <a:rPr sz="1100" b="1" i="0">
                <a:solidFill>
                  <a:srgbClr val="000000"/>
                </a:solidFill>
                <a:latin typeface="Calibri"/>
              </a:rPr>
              <a:t>run_benchmark.ps1</a:t>
            </a:r>
          </a:p>
          <a:p>
            <a:pPr algn="ctr"/>
            <a:r>
              <a:rPr sz="850" b="0" i="0">
                <a:solidFill>
                  <a:srgbClr val="000000"/>
                </a:solidFill>
                <a:latin typeface="Calibri"/>
              </a:rPr>
              <a:t>-Config  -Cpuset  -Command</a:t>
            </a:r>
          </a:p>
          <a:p>
            <a:pPr algn="ctr"/>
            <a:r>
              <a:rPr sz="850" b="0" i="0">
                <a:solidFill>
                  <a:srgbClr val="555555"/>
                </a:solidFill>
                <a:latin typeface="Calibri"/>
              </a:rPr>
              <a:t>→ docker compose run</a:t>
            </a:r>
          </a:p>
        </p:txBody>
      </p:sp>
      <p:sp>
        <p:nvSpPr>
          <p:cNvPr id="8" name="Rectangle 7"/>
          <p:cNvSpPr/>
          <p:nvPr/>
        </p:nvSpPr>
        <p:spPr>
          <a:xfrm>
            <a:off x="640080" y="3063240"/>
            <a:ext cx="2148840" cy="914400"/>
          </a:xfrm>
          <a:prstGeom prst="rect">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850" b="0" i="0">
                <a:solidFill>
                  <a:srgbClr val="555555"/>
                </a:solidFill>
                <a:latin typeface="Calibri"/>
              </a:rPr>
              <a:t>«artifact»  volume mount</a:t>
            </a:r>
          </a:p>
          <a:p>
            <a:pPr algn="ctr"/>
            <a:r>
              <a:rPr sz="1100" b="1" i="0">
                <a:solidFill>
                  <a:srgbClr val="000000"/>
                </a:solidFill>
                <a:latin typeface="Calibri"/>
              </a:rPr>
              <a:t>results/runs/&lt;run_id&gt;/</a:t>
            </a:r>
          </a:p>
          <a:p>
            <a:pPr algn="ctr"/>
            <a:r>
              <a:rPr sz="850" b="0" i="0">
                <a:solidFill>
                  <a:srgbClr val="000000"/>
                </a:solidFill>
                <a:latin typeface="Calibri"/>
              </a:rPr>
              <a:t>config, environment, preflight, tables, report</a:t>
            </a:r>
          </a:p>
        </p:txBody>
      </p:sp>
      <p:sp>
        <p:nvSpPr>
          <p:cNvPr id="9" name="Rectangle 8"/>
          <p:cNvSpPr/>
          <p:nvPr/>
        </p:nvSpPr>
        <p:spPr>
          <a:xfrm>
            <a:off x="640080" y="4434840"/>
            <a:ext cx="2148840" cy="822960"/>
          </a:xfrm>
          <a:prstGeom prst="rect">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850" b="0" i="0">
                <a:solidFill>
                  <a:srgbClr val="555555"/>
                </a:solidFill>
                <a:latin typeface="Calibri"/>
              </a:rPr>
              <a:t>«component»</a:t>
            </a:r>
          </a:p>
          <a:p>
            <a:pPr algn="ctr"/>
            <a:r>
              <a:rPr sz="1100" b="1" i="0">
                <a:solidFill>
                  <a:srgbClr val="000000"/>
                </a:solidFill>
                <a:latin typeface="Calibri"/>
              </a:rPr>
              <a:t>Streamlit dashboard</a:t>
            </a:r>
          </a:p>
          <a:p>
            <a:pPr algn="ctr"/>
            <a:r>
              <a:rPr sz="850" b="0" i="0">
                <a:solidFill>
                  <a:srgbClr val="000000"/>
                </a:solidFill>
                <a:latin typeface="Calibri"/>
              </a:rPr>
              <a:t>dashboard/app.py</a:t>
            </a:r>
          </a:p>
        </p:txBody>
      </p:sp>
      <p:cxnSp>
        <p:nvCxnSpPr>
          <p:cNvPr id="10" name="Connector 9"/>
          <p:cNvCxnSpPr/>
          <p:nvPr/>
        </p:nvCxnSpPr>
        <p:spPr>
          <a:xfrm flipV="1">
            <a:off x="1714500" y="3977639"/>
            <a:ext cx="0" cy="457201"/>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783080" y="4087368"/>
            <a:ext cx="1005840" cy="228600"/>
          </a:xfrm>
          <a:prstGeom prst="rect">
            <a:avLst/>
          </a:prstGeom>
          <a:noFill/>
        </p:spPr>
        <p:txBody>
          <a:bodyPr wrap="square" anchor="t" lIns="0" rIns="0" tIns="0" bIns="0">
            <a:spAutoFit/>
          </a:bodyPr>
          <a:lstStyle/>
          <a:p>
            <a:pPr algn="l"/>
            <a:r>
              <a:rPr sz="850" b="0" i="0">
                <a:solidFill>
                  <a:srgbClr val="555555"/>
                </a:solidFill>
                <a:latin typeface="Calibri"/>
              </a:rPr>
              <a:t>reads</a:t>
            </a:r>
          </a:p>
        </p:txBody>
      </p:sp>
      <p:sp>
        <p:nvSpPr>
          <p:cNvPr id="12" name="Rectangle 11"/>
          <p:cNvSpPr/>
          <p:nvPr/>
        </p:nvSpPr>
        <p:spPr>
          <a:xfrm>
            <a:off x="3200400" y="1481328"/>
            <a:ext cx="8503920" cy="4206240"/>
          </a:xfrm>
          <a:prstGeom prst="rect">
            <a:avLst/>
          </a:prstGeom>
          <a:solidFill>
            <a:srgbClr val="F2F2FD"/>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7432" bIns="27432"/>
          <a:lstStyle/>
          <a:p>
            <a:pPr algn="ctr"/>
            <a:r>
              <a:rPr sz="1100" b="0" i="0">
                <a:solidFill>
                  <a:srgbClr val="000000"/>
                </a:solidFill>
                <a:latin typeface="Calibri"/>
              </a:rPr>
              <a:t>«execution environment»  Docker container  cipherops-bench:pinned</a:t>
            </a:r>
          </a:p>
          <a:p>
            <a:pPr algn="ctr"/>
            <a:r>
              <a:rPr sz="850" b="0" i="0">
                <a:solidFill>
                  <a:srgbClr val="000000"/>
                </a:solidFill>
                <a:latin typeface="Calibri"/>
              </a:rPr>
              <a:t>Fedora 42 · OpenSSL 3.6.0 · liboqs 0.16.0 · Verisign MTL @7cef019 · 1 CPU core · 4 GB · no network</a:t>
            </a:r>
          </a:p>
        </p:txBody>
      </p:sp>
      <p:sp>
        <p:nvSpPr>
          <p:cNvPr id="13" name="Rectangle 12"/>
          <p:cNvSpPr/>
          <p:nvPr/>
        </p:nvSpPr>
        <p:spPr>
          <a:xfrm>
            <a:off x="3383280" y="2011680"/>
            <a:ext cx="8138160" cy="457200"/>
          </a:xfrm>
          <a:prstGeom prst="rect">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0" i="0">
                <a:solidFill>
                  <a:srgbClr val="000000"/>
                </a:solidFill>
                <a:latin typeface="Calibri"/>
              </a:rPr>
              <a:t>«component»  </a:t>
            </a:r>
            <a:r>
              <a:rPr sz="1100" b="1" i="0">
                <a:solidFill>
                  <a:srgbClr val="000000"/>
                </a:solidFill>
                <a:latin typeface="Calibri"/>
              </a:rPr>
              <a:t>runner.py</a:t>
            </a:r>
            <a:r>
              <a:rPr sz="1100" b="0" i="0">
                <a:solidFill>
                  <a:srgbClr val="000000"/>
                </a:solidFill>
                <a:latin typeface="Calibri"/>
              </a:rPr>
              <a:t>   main() → cmd_run(): stages 1–7</a:t>
            </a:r>
          </a:p>
        </p:txBody>
      </p:sp>
      <p:cxnSp>
        <p:nvCxnSpPr>
          <p:cNvPr id="14" name="Connector 13"/>
          <p:cNvCxnSpPr/>
          <p:nvPr/>
        </p:nvCxnSpPr>
        <p:spPr>
          <a:xfrm flipV="1">
            <a:off x="2788920" y="2240280"/>
            <a:ext cx="594360" cy="4572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383280" y="2743200"/>
            <a:ext cx="1084217" cy="777240"/>
          </a:xfrm>
          <a:prstGeom prst="rect">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850" b="0" i="0">
                <a:solidFill>
                  <a:srgbClr val="555555"/>
                </a:solidFill>
                <a:latin typeface="Calibri"/>
              </a:rPr>
              <a:t>«component»</a:t>
            </a:r>
          </a:p>
          <a:p>
            <a:pPr algn="ctr"/>
            <a:r>
              <a:rPr sz="1050" b="1" i="0">
                <a:solidFill>
                  <a:srgbClr val="000000"/>
                </a:solidFill>
                <a:latin typeface="Calibri"/>
              </a:rPr>
              <a:t>preflight.py</a:t>
            </a:r>
          </a:p>
          <a:p>
            <a:pPr algn="ctr"/>
            <a:r>
              <a:rPr sz="850" b="0" i="0">
                <a:solidFill>
                  <a:srgbClr val="000000"/>
                </a:solidFill>
                <a:latin typeface="Calibri"/>
              </a:rPr>
              <a:t>go / no-go</a:t>
            </a:r>
          </a:p>
        </p:txBody>
      </p:sp>
      <p:cxnSp>
        <p:nvCxnSpPr>
          <p:cNvPr id="16" name="Connector 15"/>
          <p:cNvCxnSpPr/>
          <p:nvPr/>
        </p:nvCxnSpPr>
        <p:spPr>
          <a:xfrm>
            <a:off x="3925388" y="2468880"/>
            <a:ext cx="0" cy="27432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558937" y="2743200"/>
            <a:ext cx="1084217" cy="777240"/>
          </a:xfrm>
          <a:prstGeom prst="rect">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850" b="0" i="0">
                <a:solidFill>
                  <a:srgbClr val="555555"/>
                </a:solidFill>
                <a:latin typeface="Calibri"/>
              </a:rPr>
              <a:t>«component»</a:t>
            </a:r>
          </a:p>
          <a:p>
            <a:pPr algn="ctr"/>
            <a:r>
              <a:rPr sz="1050" b="1" i="0">
                <a:solidFill>
                  <a:srgbClr val="000000"/>
                </a:solidFill>
                <a:latin typeface="Calibri"/>
              </a:rPr>
              <a:t>workload.py</a:t>
            </a:r>
          </a:p>
          <a:p>
            <a:pPr algn="ctr"/>
            <a:r>
              <a:rPr sz="850" b="0" i="0">
                <a:solidFill>
                  <a:srgbClr val="000000"/>
                </a:solidFill>
                <a:latin typeface="Calibri"/>
              </a:rPr>
              <a:t>zones, signing inputs</a:t>
            </a:r>
          </a:p>
        </p:txBody>
      </p:sp>
      <p:cxnSp>
        <p:nvCxnSpPr>
          <p:cNvPr id="18" name="Connector 17"/>
          <p:cNvCxnSpPr/>
          <p:nvPr/>
        </p:nvCxnSpPr>
        <p:spPr>
          <a:xfrm>
            <a:off x="5101045" y="2468880"/>
            <a:ext cx="0" cy="27432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734594" y="2743200"/>
            <a:ext cx="1084217" cy="777240"/>
          </a:xfrm>
          <a:prstGeom prst="rect">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850" b="0" i="0">
                <a:solidFill>
                  <a:srgbClr val="555555"/>
                </a:solidFill>
                <a:latin typeface="Calibri"/>
              </a:rPr>
              <a:t>«component»</a:t>
            </a:r>
          </a:p>
          <a:p>
            <a:pPr algn="ctr"/>
            <a:r>
              <a:rPr sz="1050" b="1" i="0">
                <a:solidFill>
                  <a:srgbClr val="000000"/>
                </a:solidFill>
                <a:latin typeface="Calibri"/>
              </a:rPr>
              <a:t>harness.py</a:t>
            </a:r>
          </a:p>
          <a:p>
            <a:pPr algn="ctr"/>
            <a:r>
              <a:rPr sz="850" b="0" i="0">
                <a:solidFill>
                  <a:srgbClr val="000000"/>
                </a:solidFill>
                <a:latin typeface="Calibri"/>
              </a:rPr>
              <a:t>run_trial()</a:t>
            </a:r>
          </a:p>
        </p:txBody>
      </p:sp>
      <p:cxnSp>
        <p:nvCxnSpPr>
          <p:cNvPr id="20" name="Connector 19"/>
          <p:cNvCxnSpPr/>
          <p:nvPr/>
        </p:nvCxnSpPr>
        <p:spPr>
          <a:xfrm>
            <a:off x="6276702" y="2468880"/>
            <a:ext cx="0" cy="27432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910251" y="2743200"/>
            <a:ext cx="1084217" cy="777240"/>
          </a:xfrm>
          <a:prstGeom prst="rect">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850" b="0" i="0">
                <a:solidFill>
                  <a:srgbClr val="555555"/>
                </a:solidFill>
                <a:latin typeface="Calibri"/>
              </a:rPr>
              <a:t>«component»</a:t>
            </a:r>
          </a:p>
          <a:p>
            <a:pPr algn="ctr"/>
            <a:r>
              <a:rPr sz="1050" b="1" i="0">
                <a:solidFill>
                  <a:srgbClr val="000000"/>
                </a:solidFill>
                <a:latin typeface="Calibri"/>
              </a:rPr>
              <a:t>dnswire.py</a:t>
            </a:r>
          </a:p>
          <a:p>
            <a:pPr algn="ctr"/>
            <a:r>
              <a:rPr sz="850" b="0" i="0">
                <a:solidFill>
                  <a:srgbClr val="000000"/>
                </a:solidFill>
                <a:latin typeface="Calibri"/>
              </a:rPr>
              <a:t>DNS answers, bytes</a:t>
            </a:r>
          </a:p>
        </p:txBody>
      </p:sp>
      <p:cxnSp>
        <p:nvCxnSpPr>
          <p:cNvPr id="22" name="Connector 21"/>
          <p:cNvCxnSpPr/>
          <p:nvPr/>
        </p:nvCxnSpPr>
        <p:spPr>
          <a:xfrm>
            <a:off x="7452360" y="2468880"/>
            <a:ext cx="0" cy="27432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8085908" y="2743200"/>
            <a:ext cx="1084217" cy="777240"/>
          </a:xfrm>
          <a:prstGeom prst="rect">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850" b="0" i="0">
                <a:solidFill>
                  <a:srgbClr val="555555"/>
                </a:solidFill>
                <a:latin typeface="Calibri"/>
              </a:rPr>
              <a:t>«component»</a:t>
            </a:r>
          </a:p>
          <a:p>
            <a:pPr algn="ctr"/>
            <a:r>
              <a:rPr sz="1050" b="1" i="0">
                <a:solidFill>
                  <a:srgbClr val="000000"/>
                </a:solidFill>
                <a:latin typeface="Calibri"/>
              </a:rPr>
              <a:t>cache.py</a:t>
            </a:r>
          </a:p>
          <a:p>
            <a:pPr algn="ctr"/>
            <a:r>
              <a:rPr sz="850" b="0" i="0">
                <a:solidFill>
                  <a:srgbClr val="000000"/>
                </a:solidFill>
                <a:latin typeface="Calibri"/>
              </a:rPr>
              <a:t>analytical.py</a:t>
            </a:r>
          </a:p>
        </p:txBody>
      </p:sp>
      <p:cxnSp>
        <p:nvCxnSpPr>
          <p:cNvPr id="24" name="Connector 23"/>
          <p:cNvCxnSpPr/>
          <p:nvPr/>
        </p:nvCxnSpPr>
        <p:spPr>
          <a:xfrm>
            <a:off x="8628017" y="2468880"/>
            <a:ext cx="0" cy="27432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9261565" y="2743200"/>
            <a:ext cx="1084217" cy="777240"/>
          </a:xfrm>
          <a:prstGeom prst="rect">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850" b="0" i="0">
                <a:solidFill>
                  <a:srgbClr val="555555"/>
                </a:solidFill>
                <a:latin typeface="Calibri"/>
              </a:rPr>
              <a:t>«component»</a:t>
            </a:r>
          </a:p>
          <a:p>
            <a:pPr algn="ctr"/>
            <a:r>
              <a:rPr sz="1050" b="1" i="0">
                <a:solidFill>
                  <a:srgbClr val="000000"/>
                </a:solidFill>
                <a:latin typeface="Calibri"/>
              </a:rPr>
              <a:t>stats.py</a:t>
            </a:r>
          </a:p>
          <a:p>
            <a:pPr algn="ctr"/>
            <a:r>
              <a:rPr sz="850" b="0" i="0">
                <a:solidFill>
                  <a:srgbClr val="000000"/>
                </a:solidFill>
                <a:latin typeface="Calibri"/>
              </a:rPr>
              <a:t>median, 95% CI</a:t>
            </a:r>
          </a:p>
        </p:txBody>
      </p:sp>
      <p:cxnSp>
        <p:nvCxnSpPr>
          <p:cNvPr id="26" name="Connector 25"/>
          <p:cNvCxnSpPr/>
          <p:nvPr/>
        </p:nvCxnSpPr>
        <p:spPr>
          <a:xfrm>
            <a:off x="9803674" y="2468880"/>
            <a:ext cx="0" cy="27432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0437222" y="2743200"/>
            <a:ext cx="1084217" cy="777240"/>
          </a:xfrm>
          <a:prstGeom prst="rect">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850" b="0" i="0">
                <a:solidFill>
                  <a:srgbClr val="555555"/>
                </a:solidFill>
                <a:latin typeface="Calibri"/>
              </a:rPr>
              <a:t>«component»</a:t>
            </a:r>
          </a:p>
          <a:p>
            <a:pPr algn="ctr"/>
            <a:r>
              <a:rPr sz="1050" b="1" i="0">
                <a:solidFill>
                  <a:srgbClr val="000000"/>
                </a:solidFill>
                <a:latin typeface="Calibri"/>
              </a:rPr>
              <a:t>report.py</a:t>
            </a:r>
          </a:p>
          <a:p>
            <a:pPr algn="ctr"/>
            <a:r>
              <a:rPr sz="850" b="0" i="0">
                <a:solidFill>
                  <a:srgbClr val="000000"/>
                </a:solidFill>
                <a:latin typeface="Calibri"/>
              </a:rPr>
              <a:t>md, html, figures</a:t>
            </a:r>
          </a:p>
        </p:txBody>
      </p:sp>
      <p:cxnSp>
        <p:nvCxnSpPr>
          <p:cNvPr id="28" name="Connector 27"/>
          <p:cNvCxnSpPr/>
          <p:nvPr/>
        </p:nvCxnSpPr>
        <p:spPr>
          <a:xfrm>
            <a:off x="10979331" y="2468880"/>
            <a:ext cx="0" cy="27432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545182" y="3794760"/>
            <a:ext cx="1463040" cy="548640"/>
          </a:xfrm>
          <a:prstGeom prst="rect">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850" b="0" i="0">
                <a:solidFill>
                  <a:srgbClr val="555555"/>
                </a:solidFill>
                <a:latin typeface="Calibri"/>
              </a:rPr>
              <a:t>«executable»</a:t>
            </a:r>
          </a:p>
          <a:p>
            <a:pPr algn="ctr"/>
            <a:r>
              <a:rPr sz="1050" b="1" i="0">
                <a:solidFill>
                  <a:srgbClr val="000000"/>
                </a:solidFill>
                <a:latin typeface="Calibri"/>
              </a:rPr>
              <a:t>mtlbench (C)</a:t>
            </a:r>
          </a:p>
        </p:txBody>
      </p:sp>
      <p:cxnSp>
        <p:nvCxnSpPr>
          <p:cNvPr id="30" name="Connector 29"/>
          <p:cNvCxnSpPr/>
          <p:nvPr/>
        </p:nvCxnSpPr>
        <p:spPr>
          <a:xfrm>
            <a:off x="6276702" y="3520440"/>
            <a:ext cx="0" cy="27432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3383280" y="4709160"/>
            <a:ext cx="1828800" cy="685800"/>
          </a:xfrm>
          <a:prstGeom prst="rect">
            <a:avLst/>
          </a:prstGeom>
          <a:solidFill>
            <a:srgbClr val="E3E3FA"/>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850" b="0" i="0">
                <a:solidFill>
                  <a:srgbClr val="555555"/>
                </a:solidFill>
                <a:latin typeface="Calibri"/>
              </a:rPr>
              <a:t>«library»</a:t>
            </a:r>
          </a:p>
          <a:p>
            <a:pPr algn="ctr"/>
            <a:r>
              <a:rPr sz="1050" b="1" i="0">
                <a:solidFill>
                  <a:srgbClr val="000000"/>
                </a:solidFill>
                <a:latin typeface="Calibri"/>
              </a:rPr>
              <a:t>libmtlslib</a:t>
            </a:r>
          </a:p>
          <a:p>
            <a:pPr algn="ctr"/>
            <a:r>
              <a:rPr sz="850" b="0" i="0">
                <a:solidFill>
                  <a:srgbClr val="000000"/>
                </a:solidFill>
                <a:latin typeface="Calibri"/>
              </a:rPr>
              <a:t>Verisign MTL</a:t>
            </a:r>
          </a:p>
        </p:txBody>
      </p:sp>
      <p:cxnSp>
        <p:nvCxnSpPr>
          <p:cNvPr id="32" name="Connector 31"/>
          <p:cNvCxnSpPr/>
          <p:nvPr/>
        </p:nvCxnSpPr>
        <p:spPr>
          <a:xfrm flipH="1">
            <a:off x="4297680" y="4343400"/>
            <a:ext cx="1979022" cy="365760"/>
          </a:xfrm>
          <a:prstGeom prst="line">
            <a:avLst/>
          </a:prstGeom>
          <a:ln w="15875">
            <a:solidFill>
              <a:srgbClr val="00000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49240" y="4709160"/>
            <a:ext cx="1828800" cy="685800"/>
          </a:xfrm>
          <a:prstGeom prst="rect">
            <a:avLst/>
          </a:prstGeom>
          <a:solidFill>
            <a:srgbClr val="E3E3FA"/>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850" b="0" i="0">
                <a:solidFill>
                  <a:srgbClr val="555555"/>
                </a:solidFill>
                <a:latin typeface="Calibri"/>
              </a:rPr>
              <a:t>«library»</a:t>
            </a:r>
          </a:p>
          <a:p>
            <a:pPr algn="ctr"/>
            <a:r>
              <a:rPr sz="1050" b="1" i="0">
                <a:solidFill>
                  <a:srgbClr val="000000"/>
                </a:solidFill>
                <a:latin typeface="Calibri"/>
              </a:rPr>
              <a:t>liboqs</a:t>
            </a:r>
          </a:p>
          <a:p>
            <a:pPr algn="ctr"/>
            <a:r>
              <a:rPr sz="850" b="0" i="0">
                <a:solidFill>
                  <a:srgbClr val="000000"/>
                </a:solidFill>
                <a:latin typeface="Calibri"/>
              </a:rPr>
              <a:t>SLH-DSA direct</a:t>
            </a:r>
          </a:p>
        </p:txBody>
      </p:sp>
      <p:cxnSp>
        <p:nvCxnSpPr>
          <p:cNvPr id="34" name="Connector 33"/>
          <p:cNvCxnSpPr/>
          <p:nvPr/>
        </p:nvCxnSpPr>
        <p:spPr>
          <a:xfrm flipH="1">
            <a:off x="6263640" y="4343400"/>
            <a:ext cx="13062" cy="365760"/>
          </a:xfrm>
          <a:prstGeom prst="line">
            <a:avLst/>
          </a:prstGeom>
          <a:ln w="15875">
            <a:solidFill>
              <a:srgbClr val="00000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315200" y="4709160"/>
            <a:ext cx="1828800" cy="685800"/>
          </a:xfrm>
          <a:prstGeom prst="rect">
            <a:avLst/>
          </a:prstGeom>
          <a:solidFill>
            <a:srgbClr val="E3E3FA"/>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850" b="0" i="0">
                <a:solidFill>
                  <a:srgbClr val="555555"/>
                </a:solidFill>
                <a:latin typeface="Calibri"/>
              </a:rPr>
              <a:t>«library»</a:t>
            </a:r>
          </a:p>
          <a:p>
            <a:pPr algn="ctr"/>
            <a:r>
              <a:rPr sz="1050" b="1" i="0">
                <a:solidFill>
                  <a:srgbClr val="000000"/>
                </a:solidFill>
                <a:latin typeface="Calibri"/>
              </a:rPr>
              <a:t>libcrypto</a:t>
            </a:r>
          </a:p>
          <a:p>
            <a:pPr algn="ctr"/>
            <a:r>
              <a:rPr sz="850" b="0" i="0">
                <a:solidFill>
                  <a:srgbClr val="000000"/>
                </a:solidFill>
                <a:latin typeface="Calibri"/>
              </a:rPr>
              <a:t>OpenSSL: RSA, ECDSA, Ed25519</a:t>
            </a:r>
          </a:p>
        </p:txBody>
      </p:sp>
      <p:cxnSp>
        <p:nvCxnSpPr>
          <p:cNvPr id="36" name="Connector 35"/>
          <p:cNvCxnSpPr/>
          <p:nvPr/>
        </p:nvCxnSpPr>
        <p:spPr>
          <a:xfrm>
            <a:off x="6276702" y="4343400"/>
            <a:ext cx="1952898" cy="365760"/>
          </a:xfrm>
          <a:prstGeom prst="line">
            <a:avLst/>
          </a:prstGeom>
          <a:ln w="15875">
            <a:solidFill>
              <a:srgbClr val="00000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413862" y="4389120"/>
            <a:ext cx="548640" cy="228600"/>
          </a:xfrm>
          <a:prstGeom prst="rect">
            <a:avLst/>
          </a:prstGeom>
          <a:noFill/>
        </p:spPr>
        <p:txBody>
          <a:bodyPr wrap="square" anchor="t" lIns="0" rIns="0" tIns="0" bIns="0">
            <a:spAutoFit/>
          </a:bodyPr>
          <a:lstStyle/>
          <a:p>
            <a:pPr algn="l"/>
            <a:r>
              <a:rPr sz="850" b="0" i="0">
                <a:solidFill>
                  <a:srgbClr val="555555"/>
                </a:solidFill>
                <a:latin typeface="Calibri"/>
              </a:rPr>
              <a:t>«use»</a:t>
            </a:r>
          </a:p>
        </p:txBody>
      </p:sp>
      <p:cxnSp>
        <p:nvCxnSpPr>
          <p:cNvPr id="38" name="Connector 37"/>
          <p:cNvCxnSpPr/>
          <p:nvPr/>
        </p:nvCxnSpPr>
        <p:spPr>
          <a:xfrm>
            <a:off x="3925388" y="3520440"/>
            <a:ext cx="97972" cy="1188720"/>
          </a:xfrm>
          <a:prstGeom prst="line">
            <a:avLst/>
          </a:prstGeom>
          <a:ln w="15875">
            <a:solidFill>
              <a:srgbClr val="00000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096512" y="3840480"/>
            <a:ext cx="1143000" cy="411480"/>
          </a:xfrm>
          <a:prstGeom prst="rect">
            <a:avLst/>
          </a:prstGeom>
          <a:noFill/>
        </p:spPr>
        <p:txBody>
          <a:bodyPr wrap="square" anchor="t" lIns="0" rIns="0" tIns="0" bIns="0">
            <a:spAutoFit/>
          </a:bodyPr>
          <a:lstStyle/>
          <a:p>
            <a:pPr algn="l"/>
            <a:r>
              <a:rPr sz="850" b="0" i="0">
                <a:solidFill>
                  <a:srgbClr val="555555"/>
                </a:solidFill>
                <a:latin typeface="Calibri"/>
              </a:rPr>
              <a:t>«use»</a:t>
            </a:r>
          </a:p>
          <a:p>
            <a:pPr algn="l"/>
            <a:r>
              <a:rPr sz="850" b="0" i="0">
                <a:solidFill>
                  <a:srgbClr val="555555"/>
                </a:solidFill>
                <a:latin typeface="Calibri"/>
              </a:rPr>
              <a:t>mtltest, CLI tools</a:t>
            </a:r>
          </a:p>
        </p:txBody>
      </p:sp>
      <p:sp>
        <p:nvSpPr>
          <p:cNvPr id="40" name="Rectangle 39"/>
          <p:cNvSpPr/>
          <p:nvPr/>
        </p:nvSpPr>
        <p:spPr>
          <a:xfrm>
            <a:off x="9372600" y="3794760"/>
            <a:ext cx="2148840" cy="1600200"/>
          </a:xfrm>
          <a:prstGeom prst="rect">
            <a:avLst/>
          </a:prstGeom>
          <a:solidFill>
            <a:srgbClr val="FFFFFF"/>
          </a:solidFill>
          <a:ln w="15875">
            <a:solidFill>
              <a:srgbClr val="0000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850" b="0" i="0">
                <a:solidFill>
                  <a:srgbClr val="555555"/>
                </a:solidFill>
                <a:latin typeface="Calibri"/>
              </a:rPr>
              <a:t>«component»  optional</a:t>
            </a:r>
          </a:p>
          <a:p>
            <a:pPr algn="ctr"/>
            <a:r>
              <a:rPr sz="1050" b="1" i="0">
                <a:solidFill>
                  <a:srgbClr val="000000"/>
                </a:solidFill>
                <a:latin typeface="Calibri"/>
              </a:rPr>
              <a:t>crosscheck.py · live.py</a:t>
            </a:r>
          </a:p>
          <a:p>
            <a:pPr algn="ctr"/>
            <a:r>
              <a:rPr sz="850" b="0" i="0">
                <a:solidFill>
                  <a:srgbClr val="000000"/>
                </a:solidFill>
                <a:latin typeface="Calibri"/>
              </a:rPr>
              <a:t>real NSD server, live client, tcpdump pcap</a:t>
            </a:r>
          </a:p>
        </p:txBody>
      </p:sp>
      <p:cxnSp>
        <p:nvCxnSpPr>
          <p:cNvPr id="41" name="Connector 40"/>
          <p:cNvCxnSpPr/>
          <p:nvPr/>
        </p:nvCxnSpPr>
        <p:spPr>
          <a:xfrm flipH="1">
            <a:off x="2788920" y="3520440"/>
            <a:ext cx="411480" cy="0"/>
          </a:xfrm>
          <a:prstGeom prst="line">
            <a:avLst/>
          </a:prstGeom>
          <a:ln w="15875">
            <a:solidFill>
              <a:srgbClr val="00000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0" y="5870448"/>
            <a:ext cx="12191695" cy="320040"/>
          </a:xfrm>
          <a:prstGeom prst="rect">
            <a:avLst/>
          </a:prstGeom>
          <a:noFill/>
        </p:spPr>
        <p:txBody>
          <a:bodyPr wrap="square" anchor="t" lIns="0" rIns="0" tIns="0" bIns="0">
            <a:spAutoFit/>
          </a:bodyPr>
          <a:lstStyle/>
          <a:p>
            <a:pPr algn="ctr"/>
            <a:r>
              <a:rPr sz="1500" b="0" i="0">
                <a:solidFill>
                  <a:srgbClr val="0000DC"/>
                </a:solidFill>
                <a:latin typeface="Calibri"/>
              </a:rPr>
              <a:t>Figure:</a:t>
            </a:r>
            <a:r>
              <a:rPr sz="1500">
                <a:solidFill>
                  <a:srgbClr val="000000"/>
                </a:solidFill>
                <a:latin typeface="Calibri"/>
              </a:rPr>
              <a:t> System Architecture UML Diagram</a:t>
            </a:r>
          </a:p>
        </p:txBody>
      </p:sp>
      <p:sp>
        <p:nvSpPr>
          <p:cNvPr id="43" name="TextBox 42"/>
          <p:cNvSpPr txBox="1"/>
          <p:nvPr/>
        </p:nvSpPr>
        <p:spPr>
          <a:xfrm>
            <a:off x="539496" y="6510528"/>
            <a:ext cx="7315200" cy="274320"/>
          </a:xfrm>
          <a:prstGeom prst="rect">
            <a:avLst/>
          </a:prstGeom>
          <a:noFill/>
        </p:spPr>
        <p:txBody>
          <a:bodyPr wrap="square" anchor="t" lIns="0" rIns="0" tIns="0" bIns="0">
            <a:spAutoFit/>
          </a:bodyPr>
          <a:lstStyle/>
          <a:p>
            <a:pPr algn="l"/>
            <a:r>
              <a:rPr sz="1200" b="0" i="0">
                <a:solidFill>
                  <a:srgbClr val="0000DC"/>
                </a:solidFill>
                <a:latin typeface="Calibri"/>
              </a:rPr>
              <a:t>A. Joshi  •  </a:t>
            </a:r>
            <a:r>
              <a:rPr sz="1200" b="1" i="0">
                <a:solidFill>
                  <a:srgbClr val="0000DC"/>
                </a:solidFill>
                <a:latin typeface="Calibri"/>
              </a:rPr>
              <a:t>A3-PS036-TC161</a:t>
            </a:r>
            <a:r>
              <a:rPr sz="1200" b="0" i="0">
                <a:solidFill>
                  <a:srgbClr val="0000DC"/>
                </a:solidFill>
                <a:latin typeface="Calibri"/>
              </a:rPr>
              <a:t>  •  October 8, 2026</a:t>
            </a:r>
          </a:p>
        </p:txBody>
      </p:sp>
      <p:sp>
        <p:nvSpPr>
          <p:cNvPr id="44" name="TextBox 43"/>
          <p:cNvSpPr txBox="1"/>
          <p:nvPr/>
        </p:nvSpPr>
        <p:spPr>
          <a:xfrm>
            <a:off x="9601200" y="6510528"/>
            <a:ext cx="2057400" cy="274320"/>
          </a:xfrm>
          <a:prstGeom prst="rect">
            <a:avLst/>
          </a:prstGeom>
          <a:noFill/>
        </p:spPr>
        <p:txBody>
          <a:bodyPr wrap="square" anchor="t" lIns="0" rIns="0" tIns="0" bIns="0">
            <a:spAutoFit/>
          </a:bodyPr>
          <a:lstStyle/>
          <a:p>
            <a:pPr algn="r"/>
            <a:r>
              <a:rPr sz="1200" b="0" i="0">
                <a:solidFill>
                  <a:srgbClr val="0000DC"/>
                </a:solidFill>
                <a:latin typeface="Calibri"/>
              </a:rPr>
              <a:t>6 / 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6080" y="73152"/>
            <a:ext cx="3200400" cy="274320"/>
          </a:xfrm>
          <a:prstGeom prst="rect">
            <a:avLst/>
          </a:prstGeom>
          <a:noFill/>
        </p:spPr>
        <p:txBody>
          <a:bodyPr wrap="square" anchor="t" lIns="0" rIns="0" tIns="0" bIns="0">
            <a:spAutoFit/>
          </a:bodyPr>
          <a:lstStyle/>
          <a:p>
            <a:pPr algn="r"/>
            <a:r>
              <a:rPr sz="1200" b="1" i="0">
                <a:solidFill>
                  <a:srgbClr val="0000DC"/>
                </a:solidFill>
                <a:latin typeface="Calibri"/>
              </a:rPr>
              <a:t>AIORI 3</a:t>
            </a:r>
          </a:p>
        </p:txBody>
      </p:sp>
      <p:sp>
        <p:nvSpPr>
          <p:cNvPr id="3" name="TextBox 2"/>
          <p:cNvSpPr txBox="1"/>
          <p:nvPr/>
        </p:nvSpPr>
        <p:spPr>
          <a:xfrm>
            <a:off x="6263640" y="73152"/>
            <a:ext cx="5486400" cy="274320"/>
          </a:xfrm>
          <a:prstGeom prst="rect">
            <a:avLst/>
          </a:prstGeom>
          <a:noFill/>
        </p:spPr>
        <p:txBody>
          <a:bodyPr wrap="square" anchor="t" lIns="0" rIns="0" tIns="0" bIns="0">
            <a:spAutoFit/>
          </a:bodyPr>
          <a:lstStyle/>
          <a:p>
            <a:pPr algn="l"/>
            <a:r>
              <a:rPr sz="1200" b="1" i="0">
                <a:solidFill>
                  <a:srgbClr val="0000DC"/>
                </a:solidFill>
                <a:latin typeface="Calibri"/>
              </a:rPr>
              <a:t>Data Flow Diagram</a:t>
            </a:r>
          </a:p>
        </p:txBody>
      </p:sp>
      <p:sp>
        <p:nvSpPr>
          <p:cNvPr id="4" name="TextBox 3"/>
          <p:cNvSpPr txBox="1"/>
          <p:nvPr/>
        </p:nvSpPr>
        <p:spPr>
          <a:xfrm>
            <a:off x="539496" y="384048"/>
            <a:ext cx="11109960" cy="548640"/>
          </a:xfrm>
          <a:prstGeom prst="rect">
            <a:avLst/>
          </a:prstGeom>
          <a:noFill/>
        </p:spPr>
        <p:txBody>
          <a:bodyPr wrap="square" anchor="t" lIns="0" rIns="0" tIns="0" bIns="0">
            <a:spAutoFit/>
          </a:bodyPr>
          <a:lstStyle/>
          <a:p>
            <a:pPr algn="l"/>
            <a:r>
              <a:rPr sz="3000" b="1" i="0">
                <a:solidFill>
                  <a:srgbClr val="0000DC"/>
                </a:solidFill>
                <a:latin typeface="Calibri"/>
              </a:rPr>
              <a:t>Data Flow Diagram</a:t>
            </a:r>
          </a:p>
        </p:txBody>
      </p:sp>
      <p:sp>
        <p:nvSpPr>
          <p:cNvPr id="5" name="TextBox 4"/>
          <p:cNvSpPr txBox="1"/>
          <p:nvPr/>
        </p:nvSpPr>
        <p:spPr>
          <a:xfrm>
            <a:off x="539496" y="978408"/>
            <a:ext cx="11109960" cy="411480"/>
          </a:xfrm>
          <a:prstGeom prst="rect">
            <a:avLst/>
          </a:prstGeom>
          <a:noFill/>
        </p:spPr>
        <p:txBody>
          <a:bodyPr wrap="square" anchor="t" lIns="0" rIns="0" tIns="0" bIns="0">
            <a:spAutoFit/>
          </a:bodyPr>
          <a:lstStyle/>
          <a:p>
            <a:pPr algn="l"/>
            <a:r>
              <a:rPr sz="1700" b="1" i="0">
                <a:solidFill>
                  <a:srgbClr val="000000"/>
                </a:solidFill>
                <a:latin typeface="Calibri"/>
              </a:rPr>
              <a:t>Level-1 DFD of one run: from the configuration to the report.</a:t>
            </a:r>
          </a:p>
        </p:txBody>
      </p:sp>
      <p:sp>
        <p:nvSpPr>
          <p:cNvPr id="6" name="Rectangle 5"/>
          <p:cNvSpPr/>
          <p:nvPr/>
        </p:nvSpPr>
        <p:spPr>
          <a:xfrm>
            <a:off x="548640" y="1481328"/>
            <a:ext cx="1737360" cy="548640"/>
          </a:xfrm>
          <a:prstGeom prst="rect">
            <a:avLst/>
          </a:prstGeom>
          <a:solidFill>
            <a:srgbClr val="E3E3FA"/>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000000"/>
                </a:solidFill>
                <a:latin typeface="Calibri"/>
              </a:rPr>
              <a:t>Operator</a:t>
            </a:r>
          </a:p>
          <a:p>
            <a:pPr algn="ctr"/>
            <a:r>
              <a:rPr sz="850" b="0" i="0">
                <a:solidFill>
                  <a:srgbClr val="000000"/>
                </a:solidFill>
                <a:latin typeface="Calibri"/>
              </a:rPr>
              <a:t>run_benchmark.ps1</a:t>
            </a:r>
          </a:p>
        </p:txBody>
      </p:sp>
      <p:sp>
        <p:nvSpPr>
          <p:cNvPr id="7" name="Rectangle 6"/>
          <p:cNvSpPr/>
          <p:nvPr/>
        </p:nvSpPr>
        <p:spPr>
          <a:xfrm>
            <a:off x="4023360" y="1481328"/>
            <a:ext cx="3931920" cy="548640"/>
          </a:xfrm>
          <a:prstGeom prst="rect">
            <a:avLst/>
          </a:prstGeom>
          <a:solidFill>
            <a:srgbClr val="E3E3FA"/>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000000"/>
                </a:solidFill>
                <a:latin typeface="Calibri"/>
              </a:rPr>
              <a:t>Reference libraries</a:t>
            </a:r>
          </a:p>
          <a:p>
            <a:pPr algn="ctr"/>
            <a:r>
              <a:rPr sz="850" b="0" i="0">
                <a:solidFill>
                  <a:srgbClr val="000000"/>
                </a:solidFill>
                <a:latin typeface="Calibri"/>
              </a:rPr>
              <a:t>Verisign MTL · liboqs · OpenSSL</a:t>
            </a:r>
          </a:p>
        </p:txBody>
      </p:sp>
      <p:sp>
        <p:nvSpPr>
          <p:cNvPr id="8" name="Rectangle 7"/>
          <p:cNvSpPr/>
          <p:nvPr/>
        </p:nvSpPr>
        <p:spPr>
          <a:xfrm>
            <a:off x="9692640" y="1481328"/>
            <a:ext cx="1920240" cy="548640"/>
          </a:xfrm>
          <a:prstGeom prst="rect">
            <a:avLst/>
          </a:prstGeom>
          <a:solidFill>
            <a:srgbClr val="E3E3FA"/>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000000"/>
                </a:solidFill>
                <a:latin typeface="Calibri"/>
              </a:rPr>
              <a:t>Reviewer / mentor</a:t>
            </a:r>
          </a:p>
        </p:txBody>
      </p:sp>
      <p:sp>
        <p:nvSpPr>
          <p:cNvPr id="9" name="Oval 8"/>
          <p:cNvSpPr/>
          <p:nvPr/>
        </p:nvSpPr>
        <p:spPr>
          <a:xfrm>
            <a:off x="525780" y="2537460"/>
            <a:ext cx="1783080" cy="960120"/>
          </a:xfrm>
          <a:prstGeom prst="ellipse">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000000"/>
                </a:solidFill>
                <a:latin typeface="Calibri"/>
              </a:rPr>
              <a:t>1  Validate reference</a:t>
            </a:r>
          </a:p>
          <a:p>
            <a:pPr algn="ctr"/>
            <a:r>
              <a:rPr sz="850" b="0" i="0">
                <a:solidFill>
                  <a:srgbClr val="000000"/>
                </a:solidFill>
                <a:latin typeface="Calibri"/>
              </a:rPr>
              <a:t>preflight.py</a:t>
            </a:r>
          </a:p>
        </p:txBody>
      </p:sp>
      <p:sp>
        <p:nvSpPr>
          <p:cNvPr id="10" name="Oval 9"/>
          <p:cNvSpPr/>
          <p:nvPr/>
        </p:nvSpPr>
        <p:spPr>
          <a:xfrm>
            <a:off x="2811779" y="2537460"/>
            <a:ext cx="1783080" cy="960120"/>
          </a:xfrm>
          <a:prstGeom prst="ellipse">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000000"/>
                </a:solidFill>
                <a:latin typeface="Calibri"/>
              </a:rPr>
              <a:t>2  Build zones</a:t>
            </a:r>
          </a:p>
          <a:p>
            <a:pPr algn="ctr"/>
            <a:r>
              <a:rPr sz="850" b="0" i="0">
                <a:solidFill>
                  <a:srgbClr val="000000"/>
                </a:solidFill>
                <a:latin typeface="Calibri"/>
              </a:rPr>
              <a:t>workload.py</a:t>
            </a:r>
          </a:p>
        </p:txBody>
      </p:sp>
      <p:sp>
        <p:nvSpPr>
          <p:cNvPr id="11" name="Oval 10"/>
          <p:cNvSpPr/>
          <p:nvPr/>
        </p:nvSpPr>
        <p:spPr>
          <a:xfrm>
            <a:off x="5097780" y="2537460"/>
            <a:ext cx="1783080" cy="960120"/>
          </a:xfrm>
          <a:prstGeom prst="ellipse">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000000"/>
                </a:solidFill>
                <a:latin typeface="Calibri"/>
              </a:rPr>
              <a:t>3  Sign &amp; verify</a:t>
            </a:r>
          </a:p>
          <a:p>
            <a:pPr algn="ctr"/>
            <a:r>
              <a:rPr sz="850" b="0" i="0">
                <a:solidFill>
                  <a:srgbClr val="000000"/>
                </a:solidFill>
                <a:latin typeface="Calibri"/>
              </a:rPr>
              <a:t>harness.py → mtlbench</a:t>
            </a:r>
          </a:p>
        </p:txBody>
      </p:sp>
      <p:sp>
        <p:nvSpPr>
          <p:cNvPr id="12" name="Oval 11"/>
          <p:cNvSpPr/>
          <p:nvPr/>
        </p:nvSpPr>
        <p:spPr>
          <a:xfrm>
            <a:off x="7383780" y="2537460"/>
            <a:ext cx="1783080" cy="960120"/>
          </a:xfrm>
          <a:prstGeom prst="ellipse">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000000"/>
                </a:solidFill>
                <a:latin typeface="Calibri"/>
              </a:rPr>
              <a:t>4  DNS bytes &amp; cache</a:t>
            </a:r>
          </a:p>
          <a:p>
            <a:pPr algn="ctr"/>
            <a:r>
              <a:rPr sz="850" b="0" i="0">
                <a:solidFill>
                  <a:srgbClr val="000000"/>
                </a:solidFill>
                <a:latin typeface="Calibri"/>
              </a:rPr>
              <a:t>dnswire.py, cache.py</a:t>
            </a:r>
          </a:p>
        </p:txBody>
      </p:sp>
      <p:sp>
        <p:nvSpPr>
          <p:cNvPr id="13" name="Oval 12"/>
          <p:cNvSpPr/>
          <p:nvPr/>
        </p:nvSpPr>
        <p:spPr>
          <a:xfrm>
            <a:off x="9669780" y="2537460"/>
            <a:ext cx="1783080" cy="960120"/>
          </a:xfrm>
          <a:prstGeom prst="ellipse">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00" b="1" i="0">
                <a:solidFill>
                  <a:srgbClr val="000000"/>
                </a:solidFill>
                <a:latin typeface="Calibri"/>
              </a:rPr>
              <a:t>5  Statistics &amp; report</a:t>
            </a:r>
          </a:p>
          <a:p>
            <a:pPr algn="ctr"/>
            <a:r>
              <a:rPr sz="850" b="0" i="0">
                <a:solidFill>
                  <a:srgbClr val="000000"/>
                </a:solidFill>
                <a:latin typeface="Calibri"/>
              </a:rPr>
              <a:t>stats.py, report.py</a:t>
            </a:r>
          </a:p>
        </p:txBody>
      </p:sp>
      <p:cxnSp>
        <p:nvCxnSpPr>
          <p:cNvPr id="14" name="Connector 13"/>
          <p:cNvCxnSpPr/>
          <p:nvPr/>
        </p:nvCxnSpPr>
        <p:spPr>
          <a:xfrm>
            <a:off x="2308860" y="3017520"/>
            <a:ext cx="502919" cy="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594859" y="3017520"/>
            <a:ext cx="502921" cy="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80859" y="3017520"/>
            <a:ext cx="502921" cy="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166860" y="3017520"/>
            <a:ext cx="502920" cy="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308860" y="2743200"/>
            <a:ext cx="502920" cy="228600"/>
          </a:xfrm>
          <a:prstGeom prst="rect">
            <a:avLst/>
          </a:prstGeom>
          <a:noFill/>
        </p:spPr>
        <p:txBody>
          <a:bodyPr wrap="square" anchor="t" lIns="0" rIns="0" tIns="0" bIns="0">
            <a:spAutoFit/>
          </a:bodyPr>
          <a:lstStyle/>
          <a:p>
            <a:pPr algn="ctr"/>
            <a:r>
              <a:rPr sz="850" b="0" i="0">
                <a:solidFill>
                  <a:srgbClr val="555555"/>
                </a:solidFill>
                <a:latin typeface="Calibri"/>
              </a:rPr>
              <a:t>GO</a:t>
            </a:r>
          </a:p>
        </p:txBody>
      </p:sp>
      <p:sp>
        <p:nvSpPr>
          <p:cNvPr id="19" name="TextBox 18"/>
          <p:cNvSpPr txBox="1"/>
          <p:nvPr/>
        </p:nvSpPr>
        <p:spPr>
          <a:xfrm>
            <a:off x="9166860" y="2743200"/>
            <a:ext cx="502920" cy="228600"/>
          </a:xfrm>
          <a:prstGeom prst="rect">
            <a:avLst/>
          </a:prstGeom>
          <a:noFill/>
        </p:spPr>
        <p:txBody>
          <a:bodyPr wrap="square" anchor="t" lIns="0" rIns="0" tIns="0" bIns="0">
            <a:spAutoFit/>
          </a:bodyPr>
          <a:lstStyle/>
          <a:p>
            <a:pPr algn="ctr"/>
            <a:r>
              <a:rPr sz="850" b="0" i="0">
                <a:solidFill>
                  <a:srgbClr val="555555"/>
                </a:solidFill>
                <a:latin typeface="Calibri"/>
              </a:rPr>
              <a:t>tables</a:t>
            </a:r>
          </a:p>
        </p:txBody>
      </p:sp>
      <p:cxnSp>
        <p:nvCxnSpPr>
          <p:cNvPr id="20" name="Connector 19"/>
          <p:cNvCxnSpPr/>
          <p:nvPr/>
        </p:nvCxnSpPr>
        <p:spPr>
          <a:xfrm>
            <a:off x="1417320" y="2029968"/>
            <a:ext cx="0" cy="507492"/>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508760" y="2103120"/>
            <a:ext cx="1097280" cy="228600"/>
          </a:xfrm>
          <a:prstGeom prst="rect">
            <a:avLst/>
          </a:prstGeom>
          <a:noFill/>
        </p:spPr>
        <p:txBody>
          <a:bodyPr wrap="square" anchor="t" lIns="0" rIns="0" tIns="0" bIns="0">
            <a:spAutoFit/>
          </a:bodyPr>
          <a:lstStyle/>
          <a:p>
            <a:pPr algn="l"/>
            <a:r>
              <a:rPr sz="850" b="0" i="0">
                <a:solidFill>
                  <a:srgbClr val="555555"/>
                </a:solidFill>
                <a:latin typeface="Calibri"/>
              </a:rPr>
              <a:t>start run</a:t>
            </a:r>
          </a:p>
        </p:txBody>
      </p:sp>
      <p:cxnSp>
        <p:nvCxnSpPr>
          <p:cNvPr id="22" name="Connector 21"/>
          <p:cNvCxnSpPr/>
          <p:nvPr/>
        </p:nvCxnSpPr>
        <p:spPr>
          <a:xfrm flipV="1">
            <a:off x="2057400" y="1874519"/>
            <a:ext cx="1965960" cy="795529"/>
          </a:xfrm>
          <a:prstGeom prst="line">
            <a:avLst/>
          </a:prstGeom>
          <a:ln w="15875">
            <a:solidFill>
              <a:srgbClr val="00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377440" y="1627632"/>
            <a:ext cx="1463040" cy="320040"/>
          </a:xfrm>
          <a:prstGeom prst="rect">
            <a:avLst/>
          </a:prstGeom>
          <a:noFill/>
        </p:spPr>
        <p:txBody>
          <a:bodyPr wrap="square" anchor="t" lIns="0" rIns="0" tIns="0" bIns="0">
            <a:spAutoFit/>
          </a:bodyPr>
          <a:lstStyle/>
          <a:p>
            <a:pPr algn="ctr"/>
            <a:r>
              <a:rPr sz="850" b="0" i="0">
                <a:solidFill>
                  <a:srgbClr val="555555"/>
                </a:solidFill>
                <a:latin typeface="Calibri"/>
              </a:rPr>
              <a:t>mtltest, tool round trip</a:t>
            </a:r>
          </a:p>
          <a:p>
            <a:pPr algn="ctr"/>
            <a:r>
              <a:rPr sz="850" b="0" i="0">
                <a:solidFill>
                  <a:srgbClr val="555555"/>
                </a:solidFill>
                <a:latin typeface="Calibri"/>
              </a:rPr>
              <a:t>pass or fail</a:t>
            </a:r>
          </a:p>
        </p:txBody>
      </p:sp>
      <p:cxnSp>
        <p:nvCxnSpPr>
          <p:cNvPr id="24" name="Connector 23"/>
          <p:cNvCxnSpPr/>
          <p:nvPr/>
        </p:nvCxnSpPr>
        <p:spPr>
          <a:xfrm>
            <a:off x="5989320" y="2029968"/>
            <a:ext cx="0" cy="507492"/>
          </a:xfrm>
          <a:prstGeom prst="line">
            <a:avLst/>
          </a:prstGeom>
          <a:ln w="15875">
            <a:solidFill>
              <a:srgbClr val="00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080759" y="2103120"/>
            <a:ext cx="2103120" cy="228600"/>
          </a:xfrm>
          <a:prstGeom prst="rect">
            <a:avLst/>
          </a:prstGeom>
          <a:noFill/>
        </p:spPr>
        <p:txBody>
          <a:bodyPr wrap="square" anchor="t" lIns="0" rIns="0" tIns="0" bIns="0">
            <a:spAutoFit/>
          </a:bodyPr>
          <a:lstStyle/>
          <a:p>
            <a:pPr algn="l"/>
            <a:r>
              <a:rPr sz="850" b="0" i="0">
                <a:solidFill>
                  <a:srgbClr val="555555"/>
                </a:solidFill>
                <a:latin typeface="Calibri"/>
              </a:rPr>
              <a:t>signing inputs / signatures, timings</a:t>
            </a:r>
          </a:p>
        </p:txBody>
      </p:sp>
      <p:cxnSp>
        <p:nvCxnSpPr>
          <p:cNvPr id="26" name="Connector 25"/>
          <p:cNvCxnSpPr/>
          <p:nvPr/>
        </p:nvCxnSpPr>
        <p:spPr>
          <a:xfrm flipV="1">
            <a:off x="10561320" y="2029968"/>
            <a:ext cx="0" cy="507492"/>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634472" y="2103120"/>
            <a:ext cx="1188720" cy="411480"/>
          </a:xfrm>
          <a:prstGeom prst="rect">
            <a:avLst/>
          </a:prstGeom>
          <a:noFill/>
        </p:spPr>
        <p:txBody>
          <a:bodyPr wrap="square" anchor="t" lIns="0" rIns="0" tIns="0" bIns="0">
            <a:spAutoFit/>
          </a:bodyPr>
          <a:lstStyle/>
          <a:p>
            <a:pPr algn="l"/>
            <a:r>
              <a:rPr sz="850" b="0" i="0">
                <a:solidFill>
                  <a:srgbClr val="555555"/>
                </a:solidFill>
                <a:latin typeface="Calibri"/>
              </a:rPr>
              <a:t>report, figures, dashboard</a:t>
            </a:r>
          </a:p>
        </p:txBody>
      </p:sp>
      <p:sp>
        <p:nvSpPr>
          <p:cNvPr id="28" name="Rectangle 27"/>
          <p:cNvSpPr/>
          <p:nvPr/>
        </p:nvSpPr>
        <p:spPr>
          <a:xfrm>
            <a:off x="411480" y="4480560"/>
            <a:ext cx="2011680" cy="566928"/>
          </a:xfrm>
          <a:prstGeom prst="rect">
            <a:avLst/>
          </a:prstGeom>
          <a:solidFill>
            <a:srgbClr val="F2F2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p>
        </p:txBody>
      </p:sp>
      <p:cxnSp>
        <p:nvCxnSpPr>
          <p:cNvPr id="29" name="Connector 28"/>
          <p:cNvCxnSpPr/>
          <p:nvPr/>
        </p:nvCxnSpPr>
        <p:spPr>
          <a:xfrm>
            <a:off x="411480" y="4480560"/>
            <a:ext cx="2011680" cy="0"/>
          </a:xfrm>
          <a:prstGeom prst="line">
            <a:avLst/>
          </a:prstGeom>
          <a:ln w="15875">
            <a:solidFill>
              <a:srgbClr val="0000D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11480" y="5047488"/>
            <a:ext cx="2011680" cy="0"/>
          </a:xfrm>
          <a:prstGeom prst="line">
            <a:avLst/>
          </a:prstGeom>
          <a:ln w="15875">
            <a:solidFill>
              <a:srgbClr val="0000D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11480" y="4480560"/>
            <a:ext cx="0" cy="566928"/>
          </a:xfrm>
          <a:prstGeom prst="line">
            <a:avLst/>
          </a:prstGeom>
          <a:ln w="15875">
            <a:solidFill>
              <a:srgbClr val="0000D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95528" y="4480560"/>
            <a:ext cx="0" cy="566928"/>
          </a:xfrm>
          <a:prstGeom prst="line">
            <a:avLst/>
          </a:prstGeom>
          <a:ln w="15875">
            <a:solidFill>
              <a:srgbClr val="0000DC"/>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11480" y="4480560"/>
            <a:ext cx="384048" cy="566928"/>
          </a:xfrm>
          <a:prstGeom prst="rect">
            <a:avLst/>
          </a:prstGeom>
          <a:noFill/>
        </p:spPr>
        <p:txBody>
          <a:bodyPr wrap="square" anchor="ctr" lIns="0" rIns="0" tIns="0" bIns="0">
            <a:spAutoFit/>
          </a:bodyPr>
          <a:lstStyle/>
          <a:p>
            <a:pPr algn="ctr"/>
            <a:r>
              <a:rPr sz="1000" b="1" i="0">
                <a:solidFill>
                  <a:srgbClr val="000000"/>
                </a:solidFill>
                <a:latin typeface="Calibri"/>
              </a:rPr>
              <a:t>D1</a:t>
            </a:r>
          </a:p>
        </p:txBody>
      </p:sp>
      <p:sp>
        <p:nvSpPr>
          <p:cNvPr id="34" name="TextBox 33"/>
          <p:cNvSpPr txBox="1"/>
          <p:nvPr/>
        </p:nvSpPr>
        <p:spPr>
          <a:xfrm>
            <a:off x="868680" y="4480560"/>
            <a:ext cx="1508760" cy="566928"/>
          </a:xfrm>
          <a:prstGeom prst="rect">
            <a:avLst/>
          </a:prstGeom>
          <a:noFill/>
        </p:spPr>
        <p:txBody>
          <a:bodyPr wrap="square" anchor="ctr" lIns="0" rIns="0" tIns="0" bIns="0">
            <a:spAutoFit/>
          </a:bodyPr>
          <a:lstStyle/>
          <a:p>
            <a:pPr algn="l"/>
            <a:r>
              <a:rPr sz="1000" b="0" i="0">
                <a:solidFill>
                  <a:srgbClr val="000000"/>
                </a:solidFill>
                <a:latin typeface="Calibri"/>
              </a:rPr>
              <a:t>configs/*.yaml</a:t>
            </a:r>
          </a:p>
          <a:p>
            <a:pPr algn="l"/>
            <a:r>
              <a:rPr sz="1000" b="0" i="0">
                <a:solidFill>
                  <a:srgbClr val="000000"/>
                </a:solidFill>
                <a:latin typeface="Calibri"/>
              </a:rPr>
              <a:t>seed, sizes, modes</a:t>
            </a:r>
          </a:p>
        </p:txBody>
      </p:sp>
      <p:sp>
        <p:nvSpPr>
          <p:cNvPr id="35" name="Rectangle 34"/>
          <p:cNvSpPr/>
          <p:nvPr/>
        </p:nvSpPr>
        <p:spPr>
          <a:xfrm>
            <a:off x="3840480" y="4480560"/>
            <a:ext cx="2011680" cy="566928"/>
          </a:xfrm>
          <a:prstGeom prst="rect">
            <a:avLst/>
          </a:prstGeom>
          <a:solidFill>
            <a:srgbClr val="F2F2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p>
        </p:txBody>
      </p:sp>
      <p:cxnSp>
        <p:nvCxnSpPr>
          <p:cNvPr id="36" name="Connector 35"/>
          <p:cNvCxnSpPr/>
          <p:nvPr/>
        </p:nvCxnSpPr>
        <p:spPr>
          <a:xfrm>
            <a:off x="3840480" y="4480560"/>
            <a:ext cx="2011680" cy="0"/>
          </a:xfrm>
          <a:prstGeom prst="line">
            <a:avLst/>
          </a:prstGeom>
          <a:ln w="15875">
            <a:solidFill>
              <a:srgbClr val="0000DC"/>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840480" y="5047488"/>
            <a:ext cx="2011680" cy="0"/>
          </a:xfrm>
          <a:prstGeom prst="line">
            <a:avLst/>
          </a:prstGeom>
          <a:ln w="15875">
            <a:solidFill>
              <a:srgbClr val="0000DC"/>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840480" y="4480560"/>
            <a:ext cx="0" cy="566928"/>
          </a:xfrm>
          <a:prstGeom prst="line">
            <a:avLst/>
          </a:prstGeom>
          <a:ln w="15875">
            <a:solidFill>
              <a:srgbClr val="0000DC"/>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224528" y="4480560"/>
            <a:ext cx="0" cy="566928"/>
          </a:xfrm>
          <a:prstGeom prst="line">
            <a:avLst/>
          </a:prstGeom>
          <a:ln w="15875">
            <a:solidFill>
              <a:srgbClr val="0000DC"/>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3840480" y="4480560"/>
            <a:ext cx="384048" cy="566928"/>
          </a:xfrm>
          <a:prstGeom prst="rect">
            <a:avLst/>
          </a:prstGeom>
          <a:noFill/>
        </p:spPr>
        <p:txBody>
          <a:bodyPr wrap="square" anchor="ctr" lIns="0" rIns="0" tIns="0" bIns="0">
            <a:spAutoFit/>
          </a:bodyPr>
          <a:lstStyle/>
          <a:p>
            <a:pPr algn="ctr"/>
            <a:r>
              <a:rPr sz="1000" b="1" i="0">
                <a:solidFill>
                  <a:srgbClr val="000000"/>
                </a:solidFill>
                <a:latin typeface="Calibri"/>
              </a:rPr>
              <a:t>D2</a:t>
            </a:r>
          </a:p>
        </p:txBody>
      </p:sp>
      <p:sp>
        <p:nvSpPr>
          <p:cNvPr id="41" name="TextBox 40"/>
          <p:cNvSpPr txBox="1"/>
          <p:nvPr/>
        </p:nvSpPr>
        <p:spPr>
          <a:xfrm>
            <a:off x="4297680" y="4480560"/>
            <a:ext cx="1508760" cy="566928"/>
          </a:xfrm>
          <a:prstGeom prst="rect">
            <a:avLst/>
          </a:prstGeom>
          <a:noFill/>
        </p:spPr>
        <p:txBody>
          <a:bodyPr wrap="square" anchor="ctr" lIns="0" rIns="0" tIns="0" bIns="0">
            <a:spAutoFit/>
          </a:bodyPr>
          <a:lstStyle/>
          <a:p>
            <a:pPr algn="l"/>
            <a:r>
              <a:rPr sz="1000" b="0" i="0">
                <a:solidFill>
                  <a:srgbClr val="000000"/>
                </a:solidFill>
                <a:latin typeface="Calibri"/>
              </a:rPr>
              <a:t>datasets/</a:t>
            </a:r>
          </a:p>
          <a:p>
            <a:pPr algn="l"/>
            <a:r>
              <a:rPr sz="1000" b="0" i="0">
                <a:solidFill>
                  <a:srgbClr val="000000"/>
                </a:solidFill>
                <a:latin typeface="Calibri"/>
              </a:rPr>
              <a:t>zone.txt, messages.bin</a:t>
            </a:r>
          </a:p>
        </p:txBody>
      </p:sp>
      <p:sp>
        <p:nvSpPr>
          <p:cNvPr id="42" name="Rectangle 41"/>
          <p:cNvSpPr/>
          <p:nvPr/>
        </p:nvSpPr>
        <p:spPr>
          <a:xfrm>
            <a:off x="6126480" y="4480560"/>
            <a:ext cx="2011680" cy="566928"/>
          </a:xfrm>
          <a:prstGeom prst="rect">
            <a:avLst/>
          </a:prstGeom>
          <a:solidFill>
            <a:srgbClr val="F2F2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p>
        </p:txBody>
      </p:sp>
      <p:cxnSp>
        <p:nvCxnSpPr>
          <p:cNvPr id="43" name="Connector 42"/>
          <p:cNvCxnSpPr/>
          <p:nvPr/>
        </p:nvCxnSpPr>
        <p:spPr>
          <a:xfrm>
            <a:off x="6126480" y="4480560"/>
            <a:ext cx="2011680" cy="0"/>
          </a:xfrm>
          <a:prstGeom prst="line">
            <a:avLst/>
          </a:prstGeom>
          <a:ln w="15875">
            <a:solidFill>
              <a:srgbClr val="0000DC"/>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26480" y="5047488"/>
            <a:ext cx="2011680" cy="0"/>
          </a:xfrm>
          <a:prstGeom prst="line">
            <a:avLst/>
          </a:prstGeom>
          <a:ln w="15875">
            <a:solidFill>
              <a:srgbClr val="0000DC"/>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26480" y="4480560"/>
            <a:ext cx="0" cy="566928"/>
          </a:xfrm>
          <a:prstGeom prst="line">
            <a:avLst/>
          </a:prstGeom>
          <a:ln w="15875">
            <a:solidFill>
              <a:srgbClr val="0000DC"/>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510528" y="4480560"/>
            <a:ext cx="0" cy="566928"/>
          </a:xfrm>
          <a:prstGeom prst="line">
            <a:avLst/>
          </a:prstGeom>
          <a:ln w="15875">
            <a:solidFill>
              <a:srgbClr val="0000DC"/>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126480" y="4480560"/>
            <a:ext cx="384048" cy="566928"/>
          </a:xfrm>
          <a:prstGeom prst="rect">
            <a:avLst/>
          </a:prstGeom>
          <a:noFill/>
        </p:spPr>
        <p:txBody>
          <a:bodyPr wrap="square" anchor="ctr" lIns="0" rIns="0" tIns="0" bIns="0">
            <a:spAutoFit/>
          </a:bodyPr>
          <a:lstStyle/>
          <a:p>
            <a:pPr algn="ctr"/>
            <a:r>
              <a:rPr sz="1000" b="1" i="0">
                <a:solidFill>
                  <a:srgbClr val="000000"/>
                </a:solidFill>
                <a:latin typeface="Calibri"/>
              </a:rPr>
              <a:t>D3</a:t>
            </a:r>
          </a:p>
        </p:txBody>
      </p:sp>
      <p:sp>
        <p:nvSpPr>
          <p:cNvPr id="48" name="TextBox 47"/>
          <p:cNvSpPr txBox="1"/>
          <p:nvPr/>
        </p:nvSpPr>
        <p:spPr>
          <a:xfrm>
            <a:off x="6583680" y="4480560"/>
            <a:ext cx="1508760" cy="566928"/>
          </a:xfrm>
          <a:prstGeom prst="rect">
            <a:avLst/>
          </a:prstGeom>
          <a:noFill/>
        </p:spPr>
        <p:txBody>
          <a:bodyPr wrap="square" anchor="ctr" lIns="0" rIns="0" tIns="0" bIns="0">
            <a:spAutoFit/>
          </a:bodyPr>
          <a:lstStyle/>
          <a:p>
            <a:pPr algn="l"/>
            <a:r>
              <a:rPr sz="1000" b="0" i="0">
                <a:solidFill>
                  <a:srgbClr val="000000"/>
                </a:solidFill>
                <a:latin typeface="Calibri"/>
              </a:rPr>
              <a:t>raw/, artifacts/</a:t>
            </a:r>
          </a:p>
          <a:p>
            <a:pPr algn="l"/>
            <a:r>
              <a:rPr sz="1000" b="0" i="0">
                <a:solidFill>
                  <a:srgbClr val="000000"/>
                </a:solidFill>
                <a:latin typeface="Calibri"/>
              </a:rPr>
              <a:t>timings, signatures</a:t>
            </a:r>
          </a:p>
        </p:txBody>
      </p:sp>
      <p:sp>
        <p:nvSpPr>
          <p:cNvPr id="49" name="Rectangle 48"/>
          <p:cNvSpPr/>
          <p:nvPr/>
        </p:nvSpPr>
        <p:spPr>
          <a:xfrm>
            <a:off x="8412480" y="4480560"/>
            <a:ext cx="2011680" cy="566928"/>
          </a:xfrm>
          <a:prstGeom prst="rect">
            <a:avLst/>
          </a:prstGeom>
          <a:solidFill>
            <a:srgbClr val="F2F2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p>
        </p:txBody>
      </p:sp>
      <p:cxnSp>
        <p:nvCxnSpPr>
          <p:cNvPr id="50" name="Connector 49"/>
          <p:cNvCxnSpPr/>
          <p:nvPr/>
        </p:nvCxnSpPr>
        <p:spPr>
          <a:xfrm>
            <a:off x="8412480" y="4480560"/>
            <a:ext cx="2011679" cy="0"/>
          </a:xfrm>
          <a:prstGeom prst="line">
            <a:avLst/>
          </a:prstGeom>
          <a:ln w="15875">
            <a:solidFill>
              <a:srgbClr val="0000DC"/>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412480" y="5047488"/>
            <a:ext cx="2011679" cy="0"/>
          </a:xfrm>
          <a:prstGeom prst="line">
            <a:avLst/>
          </a:prstGeom>
          <a:ln w="15875">
            <a:solidFill>
              <a:srgbClr val="0000DC"/>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412480" y="4480560"/>
            <a:ext cx="0" cy="566928"/>
          </a:xfrm>
          <a:prstGeom prst="line">
            <a:avLst/>
          </a:prstGeom>
          <a:ln w="15875">
            <a:solidFill>
              <a:srgbClr val="0000DC"/>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796528" y="4480560"/>
            <a:ext cx="0" cy="566928"/>
          </a:xfrm>
          <a:prstGeom prst="line">
            <a:avLst/>
          </a:prstGeom>
          <a:ln w="15875">
            <a:solidFill>
              <a:srgbClr val="0000DC"/>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8412480" y="4480560"/>
            <a:ext cx="384048" cy="566928"/>
          </a:xfrm>
          <a:prstGeom prst="rect">
            <a:avLst/>
          </a:prstGeom>
          <a:noFill/>
        </p:spPr>
        <p:txBody>
          <a:bodyPr wrap="square" anchor="ctr" lIns="0" rIns="0" tIns="0" bIns="0">
            <a:spAutoFit/>
          </a:bodyPr>
          <a:lstStyle/>
          <a:p>
            <a:pPr algn="ctr"/>
            <a:r>
              <a:rPr sz="1000" b="1" i="0">
                <a:solidFill>
                  <a:srgbClr val="000000"/>
                </a:solidFill>
                <a:latin typeface="Calibri"/>
              </a:rPr>
              <a:t>D4</a:t>
            </a:r>
          </a:p>
        </p:txBody>
      </p:sp>
      <p:sp>
        <p:nvSpPr>
          <p:cNvPr id="55" name="TextBox 54"/>
          <p:cNvSpPr txBox="1"/>
          <p:nvPr/>
        </p:nvSpPr>
        <p:spPr>
          <a:xfrm>
            <a:off x="8869680" y="4480560"/>
            <a:ext cx="1508760" cy="566928"/>
          </a:xfrm>
          <a:prstGeom prst="rect">
            <a:avLst/>
          </a:prstGeom>
          <a:noFill/>
        </p:spPr>
        <p:txBody>
          <a:bodyPr wrap="square" anchor="ctr" lIns="0" rIns="0" tIns="0" bIns="0">
            <a:spAutoFit/>
          </a:bodyPr>
          <a:lstStyle/>
          <a:p>
            <a:pPr algn="l"/>
            <a:r>
              <a:rPr sz="1000" b="0" i="0">
                <a:solidFill>
                  <a:srgbClr val="000000"/>
                </a:solidFill>
                <a:latin typeface="Calibri"/>
              </a:rPr>
              <a:t>tables, summary.json</a:t>
            </a:r>
          </a:p>
          <a:p>
            <a:pPr algn="l"/>
            <a:r>
              <a:rPr sz="1000" b="0" i="0">
                <a:solidFill>
                  <a:srgbClr val="000000"/>
                </a:solidFill>
                <a:latin typeface="Calibri"/>
              </a:rPr>
              <a:t>trials, responses, cache</a:t>
            </a:r>
          </a:p>
        </p:txBody>
      </p:sp>
      <p:cxnSp>
        <p:nvCxnSpPr>
          <p:cNvPr id="56" name="Connector 55"/>
          <p:cNvCxnSpPr/>
          <p:nvPr/>
        </p:nvCxnSpPr>
        <p:spPr>
          <a:xfrm flipV="1">
            <a:off x="2423160" y="3401568"/>
            <a:ext cx="777240" cy="1170432"/>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023359" y="3479291"/>
            <a:ext cx="457201" cy="1001269"/>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394960" y="3479291"/>
            <a:ext cx="274320" cy="1001269"/>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309359" y="3479291"/>
            <a:ext cx="457201" cy="1001269"/>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7680960" y="3479291"/>
            <a:ext cx="274320" cy="1001269"/>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8595360" y="3479291"/>
            <a:ext cx="457200" cy="1001269"/>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9966960" y="3479291"/>
            <a:ext cx="274320" cy="1001269"/>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548640" y="5349240"/>
            <a:ext cx="411480" cy="228600"/>
          </a:xfrm>
          <a:prstGeom prst="rect">
            <a:avLst/>
          </a:prstGeom>
          <a:solidFill>
            <a:srgbClr val="E3E3FA"/>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p>
        </p:txBody>
      </p:sp>
      <p:sp>
        <p:nvSpPr>
          <p:cNvPr id="64" name="TextBox 63"/>
          <p:cNvSpPr txBox="1"/>
          <p:nvPr/>
        </p:nvSpPr>
        <p:spPr>
          <a:xfrm>
            <a:off x="1024128" y="5349240"/>
            <a:ext cx="1463040" cy="228600"/>
          </a:xfrm>
          <a:prstGeom prst="rect">
            <a:avLst/>
          </a:prstGeom>
          <a:noFill/>
        </p:spPr>
        <p:txBody>
          <a:bodyPr wrap="square" anchor="t" lIns="0" rIns="0" tIns="0" bIns="0">
            <a:spAutoFit/>
          </a:bodyPr>
          <a:lstStyle/>
          <a:p>
            <a:pPr algn="l"/>
            <a:r>
              <a:rPr sz="1000" b="0" i="0">
                <a:solidFill>
                  <a:srgbClr val="000000"/>
                </a:solidFill>
                <a:latin typeface="Calibri"/>
              </a:rPr>
              <a:t>External entity</a:t>
            </a:r>
          </a:p>
        </p:txBody>
      </p:sp>
      <p:sp>
        <p:nvSpPr>
          <p:cNvPr id="65" name="Oval 64"/>
          <p:cNvSpPr/>
          <p:nvPr/>
        </p:nvSpPr>
        <p:spPr>
          <a:xfrm>
            <a:off x="2514600" y="5349240"/>
            <a:ext cx="411480" cy="228600"/>
          </a:xfrm>
          <a:prstGeom prst="ellipse">
            <a:avLst/>
          </a:prstGeom>
          <a:solidFill>
            <a:srgbClr val="FFFFFF"/>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p>
        </p:txBody>
      </p:sp>
      <p:sp>
        <p:nvSpPr>
          <p:cNvPr id="66" name="TextBox 65"/>
          <p:cNvSpPr txBox="1"/>
          <p:nvPr/>
        </p:nvSpPr>
        <p:spPr>
          <a:xfrm>
            <a:off x="2990088" y="5349240"/>
            <a:ext cx="914400" cy="228600"/>
          </a:xfrm>
          <a:prstGeom prst="rect">
            <a:avLst/>
          </a:prstGeom>
          <a:noFill/>
        </p:spPr>
        <p:txBody>
          <a:bodyPr wrap="square" anchor="t" lIns="0" rIns="0" tIns="0" bIns="0">
            <a:spAutoFit/>
          </a:bodyPr>
          <a:lstStyle/>
          <a:p>
            <a:pPr algn="l"/>
            <a:r>
              <a:rPr sz="1000" b="0" i="0">
                <a:solidFill>
                  <a:srgbClr val="000000"/>
                </a:solidFill>
                <a:latin typeface="Calibri"/>
              </a:rPr>
              <a:t>Process</a:t>
            </a:r>
          </a:p>
        </p:txBody>
      </p:sp>
      <p:sp>
        <p:nvSpPr>
          <p:cNvPr id="67" name="Rectangle 66"/>
          <p:cNvSpPr/>
          <p:nvPr/>
        </p:nvSpPr>
        <p:spPr>
          <a:xfrm>
            <a:off x="3931920" y="5349240"/>
            <a:ext cx="685800" cy="228600"/>
          </a:xfrm>
          <a:prstGeom prst="rect">
            <a:avLst/>
          </a:prstGeom>
          <a:solidFill>
            <a:srgbClr val="F2F2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p>
        </p:txBody>
      </p:sp>
      <p:cxnSp>
        <p:nvCxnSpPr>
          <p:cNvPr id="68" name="Connector 67"/>
          <p:cNvCxnSpPr/>
          <p:nvPr/>
        </p:nvCxnSpPr>
        <p:spPr>
          <a:xfrm>
            <a:off x="3931920" y="5349240"/>
            <a:ext cx="685800" cy="0"/>
          </a:xfrm>
          <a:prstGeom prst="line">
            <a:avLst/>
          </a:prstGeom>
          <a:ln w="15875">
            <a:solidFill>
              <a:srgbClr val="0000DC"/>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931920" y="5577840"/>
            <a:ext cx="685800" cy="0"/>
          </a:xfrm>
          <a:prstGeom prst="line">
            <a:avLst/>
          </a:prstGeom>
          <a:ln w="15875">
            <a:solidFill>
              <a:srgbClr val="0000D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931920" y="5349240"/>
            <a:ext cx="0" cy="228600"/>
          </a:xfrm>
          <a:prstGeom prst="line">
            <a:avLst/>
          </a:prstGeom>
          <a:ln w="15875">
            <a:solidFill>
              <a:srgbClr val="0000DC"/>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4315968" y="5349240"/>
            <a:ext cx="0" cy="228600"/>
          </a:xfrm>
          <a:prstGeom prst="line">
            <a:avLst/>
          </a:prstGeom>
          <a:ln w="15875">
            <a:solidFill>
              <a:srgbClr val="0000DC"/>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4681728" y="5349240"/>
            <a:ext cx="1005840" cy="228600"/>
          </a:xfrm>
          <a:prstGeom prst="rect">
            <a:avLst/>
          </a:prstGeom>
          <a:noFill/>
        </p:spPr>
        <p:txBody>
          <a:bodyPr wrap="square" anchor="t" lIns="0" rIns="0" tIns="0" bIns="0">
            <a:spAutoFit/>
          </a:bodyPr>
          <a:lstStyle/>
          <a:p>
            <a:pPr algn="l"/>
            <a:r>
              <a:rPr sz="1000" b="0" i="0">
                <a:solidFill>
                  <a:srgbClr val="000000"/>
                </a:solidFill>
                <a:latin typeface="Calibri"/>
              </a:rPr>
              <a:t>Data store</a:t>
            </a:r>
          </a:p>
        </p:txBody>
      </p:sp>
      <p:cxnSp>
        <p:nvCxnSpPr>
          <p:cNvPr id="73" name="Connector 72"/>
          <p:cNvCxnSpPr/>
          <p:nvPr/>
        </p:nvCxnSpPr>
        <p:spPr>
          <a:xfrm>
            <a:off x="5715000" y="5463540"/>
            <a:ext cx="457200" cy="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6263640" y="5349240"/>
            <a:ext cx="914400" cy="228600"/>
          </a:xfrm>
          <a:prstGeom prst="rect">
            <a:avLst/>
          </a:prstGeom>
          <a:noFill/>
        </p:spPr>
        <p:txBody>
          <a:bodyPr wrap="square" anchor="t" lIns="0" rIns="0" tIns="0" bIns="0">
            <a:spAutoFit/>
          </a:bodyPr>
          <a:lstStyle/>
          <a:p>
            <a:pPr algn="l"/>
            <a:r>
              <a:rPr sz="1000" b="0" i="0">
                <a:solidFill>
                  <a:srgbClr val="000000"/>
                </a:solidFill>
                <a:latin typeface="Calibri"/>
              </a:rPr>
              <a:t>Data flow</a:t>
            </a:r>
          </a:p>
        </p:txBody>
      </p:sp>
      <p:sp>
        <p:nvSpPr>
          <p:cNvPr id="75" name="TextBox 74"/>
          <p:cNvSpPr txBox="1"/>
          <p:nvPr/>
        </p:nvSpPr>
        <p:spPr>
          <a:xfrm>
            <a:off x="0" y="5870448"/>
            <a:ext cx="12191695" cy="320040"/>
          </a:xfrm>
          <a:prstGeom prst="rect">
            <a:avLst/>
          </a:prstGeom>
          <a:noFill/>
        </p:spPr>
        <p:txBody>
          <a:bodyPr wrap="square" anchor="t" lIns="0" rIns="0" tIns="0" bIns="0">
            <a:spAutoFit/>
          </a:bodyPr>
          <a:lstStyle/>
          <a:p>
            <a:pPr algn="ctr"/>
            <a:r>
              <a:rPr sz="1500" b="0" i="0">
                <a:solidFill>
                  <a:srgbClr val="0000DC"/>
                </a:solidFill>
                <a:latin typeface="Calibri"/>
              </a:rPr>
              <a:t>Figure:</a:t>
            </a:r>
            <a:r>
              <a:rPr sz="1500">
                <a:solidFill>
                  <a:srgbClr val="000000"/>
                </a:solidFill>
                <a:latin typeface="Calibri"/>
              </a:rPr>
              <a:t> Data Flow Diagram (DFD)</a:t>
            </a:r>
          </a:p>
        </p:txBody>
      </p:sp>
      <p:sp>
        <p:nvSpPr>
          <p:cNvPr id="76" name="TextBox 75"/>
          <p:cNvSpPr txBox="1"/>
          <p:nvPr/>
        </p:nvSpPr>
        <p:spPr>
          <a:xfrm>
            <a:off x="539496" y="6510528"/>
            <a:ext cx="7315200" cy="274320"/>
          </a:xfrm>
          <a:prstGeom prst="rect">
            <a:avLst/>
          </a:prstGeom>
          <a:noFill/>
        </p:spPr>
        <p:txBody>
          <a:bodyPr wrap="square" anchor="t" lIns="0" rIns="0" tIns="0" bIns="0">
            <a:spAutoFit/>
          </a:bodyPr>
          <a:lstStyle/>
          <a:p>
            <a:pPr algn="l"/>
            <a:r>
              <a:rPr sz="1200" b="0" i="0">
                <a:solidFill>
                  <a:srgbClr val="0000DC"/>
                </a:solidFill>
                <a:latin typeface="Calibri"/>
              </a:rPr>
              <a:t>A. Joshi  •  </a:t>
            </a:r>
            <a:r>
              <a:rPr sz="1200" b="1" i="0">
                <a:solidFill>
                  <a:srgbClr val="0000DC"/>
                </a:solidFill>
                <a:latin typeface="Calibri"/>
              </a:rPr>
              <a:t>A3-PS036-TC161</a:t>
            </a:r>
            <a:r>
              <a:rPr sz="1200" b="0" i="0">
                <a:solidFill>
                  <a:srgbClr val="0000DC"/>
                </a:solidFill>
                <a:latin typeface="Calibri"/>
              </a:rPr>
              <a:t>  •  October 8, 2026</a:t>
            </a:r>
          </a:p>
        </p:txBody>
      </p:sp>
      <p:sp>
        <p:nvSpPr>
          <p:cNvPr id="77" name="TextBox 76"/>
          <p:cNvSpPr txBox="1"/>
          <p:nvPr/>
        </p:nvSpPr>
        <p:spPr>
          <a:xfrm>
            <a:off x="9601200" y="6510528"/>
            <a:ext cx="2057400" cy="274320"/>
          </a:xfrm>
          <a:prstGeom prst="rect">
            <a:avLst/>
          </a:prstGeom>
          <a:noFill/>
        </p:spPr>
        <p:txBody>
          <a:bodyPr wrap="square" anchor="t" lIns="0" rIns="0" tIns="0" bIns="0">
            <a:spAutoFit/>
          </a:bodyPr>
          <a:lstStyle/>
          <a:p>
            <a:pPr algn="r"/>
            <a:r>
              <a:rPr sz="1200" b="0" i="0">
                <a:solidFill>
                  <a:srgbClr val="0000DC"/>
                </a:solidFill>
                <a:latin typeface="Calibri"/>
              </a:rPr>
              <a:t>7 /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6080" y="73152"/>
            <a:ext cx="3200400" cy="274320"/>
          </a:xfrm>
          <a:prstGeom prst="rect">
            <a:avLst/>
          </a:prstGeom>
          <a:noFill/>
        </p:spPr>
        <p:txBody>
          <a:bodyPr wrap="square" anchor="t" lIns="0" rIns="0" tIns="0" bIns="0">
            <a:spAutoFit/>
          </a:bodyPr>
          <a:lstStyle/>
          <a:p>
            <a:pPr algn="r"/>
            <a:r>
              <a:rPr sz="1200" b="1" i="0">
                <a:solidFill>
                  <a:srgbClr val="0000DC"/>
                </a:solidFill>
                <a:latin typeface="Calibri"/>
              </a:rPr>
              <a:t>AIORI 3</a:t>
            </a:r>
          </a:p>
        </p:txBody>
      </p:sp>
      <p:sp>
        <p:nvSpPr>
          <p:cNvPr id="3" name="TextBox 2"/>
          <p:cNvSpPr txBox="1"/>
          <p:nvPr/>
        </p:nvSpPr>
        <p:spPr>
          <a:xfrm>
            <a:off x="6263640" y="73152"/>
            <a:ext cx="5486400" cy="274320"/>
          </a:xfrm>
          <a:prstGeom prst="rect">
            <a:avLst/>
          </a:prstGeom>
          <a:noFill/>
        </p:spPr>
        <p:txBody>
          <a:bodyPr wrap="square" anchor="t" lIns="0" rIns="0" tIns="0" bIns="0">
            <a:spAutoFit/>
          </a:bodyPr>
          <a:lstStyle/>
          <a:p>
            <a:pPr algn="l"/>
            <a:r>
              <a:rPr sz="1200" b="1" i="0">
                <a:solidFill>
                  <a:srgbClr val="0000DC"/>
                </a:solidFill>
                <a:latin typeface="Calibri"/>
              </a:rPr>
              <a:t>Environment</a:t>
            </a:r>
          </a:p>
        </p:txBody>
      </p:sp>
      <p:sp>
        <p:nvSpPr>
          <p:cNvPr id="4" name="TextBox 3"/>
          <p:cNvSpPr txBox="1"/>
          <p:nvPr/>
        </p:nvSpPr>
        <p:spPr>
          <a:xfrm>
            <a:off x="539496" y="384048"/>
            <a:ext cx="11109960" cy="548640"/>
          </a:xfrm>
          <a:prstGeom prst="rect">
            <a:avLst/>
          </a:prstGeom>
          <a:noFill/>
        </p:spPr>
        <p:txBody>
          <a:bodyPr wrap="square" anchor="t" lIns="0" rIns="0" tIns="0" bIns="0">
            <a:spAutoFit/>
          </a:bodyPr>
          <a:lstStyle/>
          <a:p>
            <a:pPr algn="l"/>
            <a:r>
              <a:rPr sz="3000" b="1" i="0">
                <a:solidFill>
                  <a:srgbClr val="0000DC"/>
                </a:solidFill>
                <a:latin typeface="Calibri"/>
              </a:rPr>
              <a:t>Pinned environment and how to run it</a:t>
            </a:r>
          </a:p>
        </p:txBody>
      </p:sp>
      <p:sp>
        <p:nvSpPr>
          <p:cNvPr id="5" name="TextBox 4"/>
          <p:cNvSpPr txBox="1"/>
          <p:nvPr/>
        </p:nvSpPr>
        <p:spPr>
          <a:xfrm>
            <a:off x="539496" y="978408"/>
            <a:ext cx="11109960" cy="411480"/>
          </a:xfrm>
          <a:prstGeom prst="rect">
            <a:avLst/>
          </a:prstGeom>
          <a:noFill/>
        </p:spPr>
        <p:txBody>
          <a:bodyPr wrap="square" anchor="t" lIns="0" rIns="0" tIns="0" bIns="0">
            <a:spAutoFit/>
          </a:bodyPr>
          <a:lstStyle/>
          <a:p>
            <a:pPr algn="l"/>
            <a:r>
              <a:rPr sz="1700" b="1" i="0">
                <a:solidFill>
                  <a:srgbClr val="000000"/>
                </a:solidFill>
                <a:latin typeface="Calibri"/>
              </a:rPr>
              <a:t>One image, one command. The host needs only Docker and git.</a:t>
            </a:r>
          </a:p>
        </p:txBody>
      </p:sp>
      <p:graphicFrame>
        <p:nvGraphicFramePr>
          <p:cNvPr id="6" name="Table 5"/>
          <p:cNvGraphicFramePr>
            <a:graphicFrameLocks noGrp="1"/>
          </p:cNvGraphicFramePr>
          <p:nvPr/>
        </p:nvGraphicFramePr>
        <p:xfrm>
          <a:off x="539496" y="1600200"/>
          <a:ext cx="5394960" cy="3657600"/>
        </p:xfrm>
        <a:graphic>
          <a:graphicData uri="http://schemas.openxmlformats.org/drawingml/2006/table">
            <a:tbl>
              <a:tblPr firstRow="1" bandRow="1">
                <a:tableStyleId>{5C22544A-7EE6-4342-B048-85BDC9FD1C3A}</a:tableStyleId>
              </a:tblPr>
              <a:tblGrid>
                <a:gridCol w="2103120"/>
                <a:gridCol w="3291840"/>
              </a:tblGrid>
              <a:tr h="457200">
                <a:tc>
                  <a:txBody>
                    <a:bodyPr wrap="square"/>
                    <a:lstStyle/>
                    <a:p>
                      <a:r>
                        <a:rPr sz="1350" b="1" i="0">
                          <a:solidFill>
                            <a:srgbClr val="FFFFFF"/>
                          </a:solidFill>
                          <a:latin typeface="Calibri"/>
                        </a:rPr>
                        <a:t>Component</a:t>
                      </a:r>
                    </a:p>
                  </a:txBody>
                  <a:tcPr marL="64008" marR="64008" marT="27432" marB="27432" anchor="ctr">
                    <a:solidFill>
                      <a:srgbClr val="0000DC"/>
                    </a:solidFill>
                  </a:tcPr>
                </a:tc>
                <a:tc>
                  <a:txBody>
                    <a:bodyPr wrap="square"/>
                    <a:lstStyle/>
                    <a:p>
                      <a:r>
                        <a:rPr sz="1350" b="1" i="0">
                          <a:solidFill>
                            <a:srgbClr val="FFFFFF"/>
                          </a:solidFill>
                          <a:latin typeface="Calibri"/>
                        </a:rPr>
                        <a:t>Version (pinned)</a:t>
                      </a:r>
                    </a:p>
                  </a:txBody>
                  <a:tcPr marL="64008" marR="64008" marT="27432" marB="27432" anchor="ctr">
                    <a:solidFill>
                      <a:srgbClr val="0000DC"/>
                    </a:solidFill>
                  </a:tcPr>
                </a:tc>
              </a:tr>
              <a:tr h="457200">
                <a:tc>
                  <a:txBody>
                    <a:bodyPr wrap="square"/>
                    <a:lstStyle/>
                    <a:p>
                      <a:r>
                        <a:rPr sz="1350" b="0" i="0">
                          <a:solidFill>
                            <a:srgbClr val="000000"/>
                          </a:solidFill>
                          <a:latin typeface="Calibri"/>
                        </a:rPr>
                        <a:t>Base image</a:t>
                      </a:r>
                    </a:p>
                  </a:txBody>
                  <a:tcPr marL="64008" marR="64008" marT="27432" marB="27432" anchor="ctr">
                    <a:solidFill>
                      <a:srgbClr val="F2F2FD"/>
                    </a:solidFill>
                  </a:tcPr>
                </a:tc>
                <a:tc>
                  <a:txBody>
                    <a:bodyPr wrap="square"/>
                    <a:lstStyle/>
                    <a:p>
                      <a:r>
                        <a:rPr sz="1350" b="0" i="0">
                          <a:solidFill>
                            <a:srgbClr val="000000"/>
                          </a:solidFill>
                          <a:latin typeface="Calibri"/>
                        </a:rPr>
                        <a:t>Fedora 42 (fedora-minimal)</a:t>
                      </a:r>
                    </a:p>
                  </a:txBody>
                  <a:tcPr marL="64008" marR="64008" marT="27432" marB="27432" anchor="ctr">
                    <a:solidFill>
                      <a:srgbClr val="F2F2FD"/>
                    </a:solidFill>
                  </a:tcPr>
                </a:tc>
              </a:tr>
              <a:tr h="457200">
                <a:tc>
                  <a:txBody>
                    <a:bodyPr wrap="square"/>
                    <a:lstStyle/>
                    <a:p>
                      <a:r>
                        <a:rPr sz="1350" b="0" i="0">
                          <a:solidFill>
                            <a:srgbClr val="000000"/>
                          </a:solidFill>
                          <a:latin typeface="Calibri"/>
                        </a:rPr>
                        <a:t>OpenSSL</a:t>
                      </a:r>
                    </a:p>
                  </a:txBody>
                  <a:tcPr marL="64008" marR="64008" marT="27432" marB="27432" anchor="ctr">
                    <a:solidFill>
                      <a:srgbClr val="FFFFFF"/>
                    </a:solidFill>
                  </a:tcPr>
                </a:tc>
                <a:tc>
                  <a:txBody>
                    <a:bodyPr wrap="square"/>
                    <a:lstStyle/>
                    <a:p>
                      <a:r>
                        <a:rPr sz="1350" b="0" i="0">
                          <a:solidFill>
                            <a:srgbClr val="000000"/>
                          </a:solidFill>
                          <a:latin typeface="Calibri"/>
                        </a:rPr>
                        <a:t>3.6.0</a:t>
                      </a:r>
                    </a:p>
                  </a:txBody>
                  <a:tcPr marL="64008" marR="64008" marT="27432" marB="27432" anchor="ctr">
                    <a:solidFill>
                      <a:srgbClr val="FFFFFF"/>
                    </a:solidFill>
                  </a:tcPr>
                </a:tc>
              </a:tr>
              <a:tr h="457200">
                <a:tc>
                  <a:txBody>
                    <a:bodyPr wrap="square"/>
                    <a:lstStyle/>
                    <a:p>
                      <a:r>
                        <a:rPr sz="1350" b="0" i="0">
                          <a:solidFill>
                            <a:srgbClr val="000000"/>
                          </a:solidFill>
                          <a:latin typeface="Calibri"/>
                        </a:rPr>
                        <a:t>liboqs</a:t>
                      </a:r>
                    </a:p>
                  </a:txBody>
                  <a:tcPr marL="64008" marR="64008" marT="27432" marB="27432" anchor="ctr">
                    <a:solidFill>
                      <a:srgbClr val="F2F2FD"/>
                    </a:solidFill>
                  </a:tcPr>
                </a:tc>
                <a:tc>
                  <a:txBody>
                    <a:bodyPr wrap="square"/>
                    <a:lstStyle/>
                    <a:p>
                      <a:r>
                        <a:rPr sz="1350" b="0" i="0">
                          <a:solidFill>
                            <a:srgbClr val="000000"/>
                          </a:solidFill>
                          <a:latin typeface="Calibri"/>
                        </a:rPr>
                        <a:t>0.16.0 (Release)</a:t>
                      </a:r>
                    </a:p>
                  </a:txBody>
                  <a:tcPr marL="64008" marR="64008" marT="27432" marB="27432" anchor="ctr">
                    <a:solidFill>
                      <a:srgbClr val="F2F2FD"/>
                    </a:solidFill>
                  </a:tcPr>
                </a:tc>
              </a:tr>
              <a:tr h="457200">
                <a:tc>
                  <a:txBody>
                    <a:bodyPr wrap="square"/>
                    <a:lstStyle/>
                    <a:p>
                      <a:r>
                        <a:rPr sz="1350" b="0" i="0">
                          <a:solidFill>
                            <a:srgbClr val="000000"/>
                          </a:solidFill>
                          <a:latin typeface="Calibri"/>
                        </a:rPr>
                        <a:t>Verisign MTL</a:t>
                      </a:r>
                    </a:p>
                  </a:txBody>
                  <a:tcPr marL="64008" marR="64008" marT="27432" marB="27432" anchor="ctr">
                    <a:solidFill>
                      <a:srgbClr val="FFFFFF"/>
                    </a:solidFill>
                  </a:tcPr>
                </a:tc>
                <a:tc>
                  <a:txBody>
                    <a:bodyPr wrap="square"/>
                    <a:lstStyle/>
                    <a:p>
                      <a:r>
                        <a:rPr sz="1350" b="0" i="0">
                          <a:solidFill>
                            <a:srgbClr val="000000"/>
                          </a:solidFill>
                          <a:latin typeface="Calibri"/>
                        </a:rPr>
                        <a:t>commit 7cef019, -O2</a:t>
                      </a:r>
                    </a:p>
                  </a:txBody>
                  <a:tcPr marL="64008" marR="64008" marT="27432" marB="27432" anchor="ctr">
                    <a:solidFill>
                      <a:srgbClr val="FFFFFF"/>
                    </a:solidFill>
                  </a:tcPr>
                </a:tc>
              </a:tr>
              <a:tr h="457200">
                <a:tc>
                  <a:txBody>
                    <a:bodyPr wrap="square"/>
                    <a:lstStyle/>
                    <a:p>
                      <a:r>
                        <a:rPr sz="1350" b="0" i="0">
                          <a:solidFill>
                            <a:srgbClr val="000000"/>
                          </a:solidFill>
                          <a:latin typeface="Calibri"/>
                        </a:rPr>
                        <a:t>Harness</a:t>
                      </a:r>
                    </a:p>
                  </a:txBody>
                  <a:tcPr marL="64008" marR="64008" marT="27432" marB="27432" anchor="ctr">
                    <a:solidFill>
                      <a:srgbClr val="F2F2FD"/>
                    </a:solidFill>
                  </a:tcPr>
                </a:tc>
                <a:tc>
                  <a:txBody>
                    <a:bodyPr wrap="square"/>
                    <a:lstStyle/>
                    <a:p>
                      <a:r>
                        <a:rPr sz="1350" b="0" i="0">
                          <a:solidFill>
                            <a:srgbClr val="000000"/>
                          </a:solidFill>
                          <a:latin typeface="Calibri"/>
                        </a:rPr>
                        <a:t>mtlbench (C), built in the image</a:t>
                      </a:r>
                    </a:p>
                  </a:txBody>
                  <a:tcPr marL="64008" marR="64008" marT="27432" marB="27432" anchor="ctr">
                    <a:solidFill>
                      <a:srgbClr val="F2F2FD"/>
                    </a:solidFill>
                  </a:tcPr>
                </a:tc>
              </a:tr>
              <a:tr h="457200">
                <a:tc>
                  <a:txBody>
                    <a:bodyPr wrap="square"/>
                    <a:lstStyle/>
                    <a:p>
                      <a:r>
                        <a:rPr sz="1350" b="0" i="0">
                          <a:solidFill>
                            <a:srgbClr val="000000"/>
                          </a:solidFill>
                          <a:latin typeface="Calibri"/>
                        </a:rPr>
                        <a:t>Python</a:t>
                      </a:r>
                    </a:p>
                  </a:txBody>
                  <a:tcPr marL="64008" marR="64008" marT="27432" marB="27432" anchor="ctr">
                    <a:solidFill>
                      <a:srgbClr val="FFFFFF"/>
                    </a:solidFill>
                  </a:tcPr>
                </a:tc>
                <a:tc>
                  <a:txBody>
                    <a:bodyPr wrap="square"/>
                    <a:lstStyle/>
                    <a:p>
                      <a:r>
                        <a:rPr sz="1350" b="0" i="0">
                          <a:solidFill>
                            <a:srgbClr val="000000"/>
                          </a:solidFill>
                          <a:latin typeface="Calibri"/>
                        </a:rPr>
                        <a:t>3.13, dnspython 2.8, pandas, numpy</a:t>
                      </a:r>
                    </a:p>
                  </a:txBody>
                  <a:tcPr marL="64008" marR="64008" marT="27432" marB="27432" anchor="ctr">
                    <a:solidFill>
                      <a:srgbClr val="FFFFFF"/>
                    </a:solidFill>
                  </a:tcPr>
                </a:tc>
              </a:tr>
              <a:tr h="457200">
                <a:tc>
                  <a:txBody>
                    <a:bodyPr wrap="square"/>
                    <a:lstStyle/>
                    <a:p>
                      <a:r>
                        <a:rPr sz="1350" b="0" i="0">
                          <a:solidFill>
                            <a:srgbClr val="000000"/>
                          </a:solidFill>
                          <a:latin typeface="Calibri"/>
                        </a:rPr>
                        <a:t>Limits</a:t>
                      </a:r>
                    </a:p>
                  </a:txBody>
                  <a:tcPr marL="64008" marR="64008" marT="27432" marB="27432" anchor="ctr">
                    <a:solidFill>
                      <a:srgbClr val="F2F2FD"/>
                    </a:solidFill>
                  </a:tcPr>
                </a:tc>
                <a:tc>
                  <a:txBody>
                    <a:bodyPr wrap="square"/>
                    <a:lstStyle/>
                    <a:p>
                      <a:r>
                        <a:rPr sz="1350" b="0" i="0">
                          <a:solidFill>
                            <a:srgbClr val="000000"/>
                          </a:solidFill>
                          <a:latin typeface="Calibri"/>
                        </a:rPr>
                        <a:t>1 CPU core (cpuset 2), 4 GB, no network</a:t>
                      </a:r>
                    </a:p>
                  </a:txBody>
                  <a:tcPr marL="64008" marR="64008" marT="27432" marB="27432" anchor="ctr">
                    <a:solidFill>
                      <a:srgbClr val="F2F2FD"/>
                    </a:solidFill>
                  </a:tcPr>
                </a:tc>
              </a:tr>
            </a:tbl>
          </a:graphicData>
        </a:graphic>
      </p:graphicFrame>
      <p:sp>
        <p:nvSpPr>
          <p:cNvPr id="7" name="TextBox 6"/>
          <p:cNvSpPr txBox="1"/>
          <p:nvPr/>
        </p:nvSpPr>
        <p:spPr>
          <a:xfrm>
            <a:off x="6263640" y="1600200"/>
            <a:ext cx="5394960" cy="365760"/>
          </a:xfrm>
          <a:prstGeom prst="rect">
            <a:avLst/>
          </a:prstGeom>
          <a:noFill/>
        </p:spPr>
        <p:txBody>
          <a:bodyPr wrap="square" anchor="t" lIns="0" rIns="0" tIns="0" bIns="0">
            <a:spAutoFit/>
          </a:bodyPr>
          <a:lstStyle/>
          <a:p>
            <a:pPr algn="l"/>
            <a:r>
              <a:rPr sz="1600" b="1" i="0">
                <a:solidFill>
                  <a:srgbClr val="0000DC"/>
                </a:solidFill>
                <a:latin typeface="Calibri"/>
              </a:rPr>
              <a:t>Commands (Windows PowerShell, repository root)</a:t>
            </a:r>
          </a:p>
        </p:txBody>
      </p:sp>
      <p:sp>
        <p:nvSpPr>
          <p:cNvPr id="8" name="TextBox 7"/>
          <p:cNvSpPr txBox="1"/>
          <p:nvPr/>
        </p:nvSpPr>
        <p:spPr>
          <a:xfrm>
            <a:off x="6263640" y="2057400"/>
            <a:ext cx="5394960" cy="274320"/>
          </a:xfrm>
          <a:prstGeom prst="rect">
            <a:avLst/>
          </a:prstGeom>
          <a:noFill/>
        </p:spPr>
        <p:txBody>
          <a:bodyPr wrap="square" anchor="t" lIns="0" rIns="0" tIns="0" bIns="0">
            <a:spAutoFit/>
          </a:bodyPr>
          <a:lstStyle/>
          <a:p>
            <a:pPr algn="l"/>
            <a:r>
              <a:rPr sz="1300" b="0" i="0">
                <a:solidFill>
                  <a:srgbClr val="000000"/>
                </a:solidFill>
                <a:latin typeface="Calibri"/>
              </a:rPr>
              <a:t>Full PS-036 run (50 / 500 / 5,000 names, 5 trials)</a:t>
            </a:r>
          </a:p>
        </p:txBody>
      </p:sp>
      <p:sp>
        <p:nvSpPr>
          <p:cNvPr id="9" name="Rectangle 8"/>
          <p:cNvSpPr/>
          <p:nvPr/>
        </p:nvSpPr>
        <p:spPr>
          <a:xfrm>
            <a:off x="6263640" y="2331720"/>
            <a:ext cx="5394960" cy="384048"/>
          </a:xfrm>
          <a:prstGeom prst="rect">
            <a:avLst/>
          </a:prstGeom>
          <a:solidFill>
            <a:srgbClr val="F4F4F4"/>
          </a:solidFill>
          <a:ln w="1587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250" b="0" i="0">
                <a:solidFill>
                  <a:srgbClr val="000000"/>
                </a:solidFill>
                <a:latin typeface="Calibri"/>
              </a:rPr>
              <a:t>.\scripts\run_benchmark.ps1</a:t>
            </a:r>
          </a:p>
        </p:txBody>
      </p:sp>
      <p:sp>
        <p:nvSpPr>
          <p:cNvPr id="10" name="TextBox 9"/>
          <p:cNvSpPr txBox="1"/>
          <p:nvPr/>
        </p:nvSpPr>
        <p:spPr>
          <a:xfrm>
            <a:off x="6263640" y="2926080"/>
            <a:ext cx="5394960" cy="274320"/>
          </a:xfrm>
          <a:prstGeom prst="rect">
            <a:avLst/>
          </a:prstGeom>
          <a:noFill/>
        </p:spPr>
        <p:txBody>
          <a:bodyPr wrap="square" anchor="t" lIns="0" rIns="0" tIns="0" bIns="0">
            <a:spAutoFit/>
          </a:bodyPr>
          <a:lstStyle/>
          <a:p>
            <a:pPr algn="l"/>
            <a:r>
              <a:rPr sz="1300" b="0" i="0">
                <a:solidFill>
                  <a:srgbClr val="000000"/>
                </a:solidFill>
                <a:latin typeface="Calibri"/>
              </a:rPr>
              <a:t>Quick demo (20 / 60 / 200 names, 3 trials)</a:t>
            </a:r>
          </a:p>
        </p:txBody>
      </p:sp>
      <p:sp>
        <p:nvSpPr>
          <p:cNvPr id="11" name="Rectangle 10"/>
          <p:cNvSpPr/>
          <p:nvPr/>
        </p:nvSpPr>
        <p:spPr>
          <a:xfrm>
            <a:off x="6263640" y="3200400"/>
            <a:ext cx="5394960" cy="384048"/>
          </a:xfrm>
          <a:prstGeom prst="rect">
            <a:avLst/>
          </a:prstGeom>
          <a:solidFill>
            <a:srgbClr val="F4F4F4"/>
          </a:solidFill>
          <a:ln w="1587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250" b="0" i="0">
                <a:solidFill>
                  <a:srgbClr val="000000"/>
                </a:solidFill>
                <a:latin typeface="Calibri"/>
              </a:rPr>
              <a:t>.\scripts\run_benchmark.ps1 -Config configs/quick.yaml</a:t>
            </a:r>
          </a:p>
        </p:txBody>
      </p:sp>
      <p:sp>
        <p:nvSpPr>
          <p:cNvPr id="12" name="TextBox 11"/>
          <p:cNvSpPr txBox="1"/>
          <p:nvPr/>
        </p:nvSpPr>
        <p:spPr>
          <a:xfrm>
            <a:off x="6263640" y="3794760"/>
            <a:ext cx="5394960" cy="274320"/>
          </a:xfrm>
          <a:prstGeom prst="rect">
            <a:avLst/>
          </a:prstGeom>
          <a:noFill/>
        </p:spPr>
        <p:txBody>
          <a:bodyPr wrap="square" anchor="t" lIns="0" rIns="0" tIns="0" bIns="0">
            <a:spAutoFit/>
          </a:bodyPr>
          <a:lstStyle/>
          <a:p>
            <a:pPr algn="l"/>
            <a:r>
              <a:rPr sz="1300" b="0" i="0">
                <a:solidFill>
                  <a:srgbClr val="000000"/>
                </a:solidFill>
                <a:latin typeface="Calibri"/>
              </a:rPr>
              <a:t>Go/no-go gate only</a:t>
            </a:r>
          </a:p>
        </p:txBody>
      </p:sp>
      <p:sp>
        <p:nvSpPr>
          <p:cNvPr id="13" name="Rectangle 12"/>
          <p:cNvSpPr/>
          <p:nvPr/>
        </p:nvSpPr>
        <p:spPr>
          <a:xfrm>
            <a:off x="6263640" y="4069080"/>
            <a:ext cx="5394960" cy="384048"/>
          </a:xfrm>
          <a:prstGeom prst="rect">
            <a:avLst/>
          </a:prstGeom>
          <a:solidFill>
            <a:srgbClr val="F4F4F4"/>
          </a:solidFill>
          <a:ln w="1587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250" b="0" i="0">
                <a:solidFill>
                  <a:srgbClr val="000000"/>
                </a:solidFill>
                <a:latin typeface="Calibri"/>
              </a:rPr>
              <a:t>.\scripts\run_benchmark.ps1 -Command preflight</a:t>
            </a:r>
          </a:p>
        </p:txBody>
      </p:sp>
      <p:sp>
        <p:nvSpPr>
          <p:cNvPr id="14" name="TextBox 13"/>
          <p:cNvSpPr txBox="1"/>
          <p:nvPr/>
        </p:nvSpPr>
        <p:spPr>
          <a:xfrm>
            <a:off x="6263640" y="4663440"/>
            <a:ext cx="5394960" cy="274320"/>
          </a:xfrm>
          <a:prstGeom prst="rect">
            <a:avLst/>
          </a:prstGeom>
          <a:noFill/>
        </p:spPr>
        <p:txBody>
          <a:bodyPr wrap="square" anchor="t" lIns="0" rIns="0" tIns="0" bIns="0">
            <a:spAutoFit/>
          </a:bodyPr>
          <a:lstStyle/>
          <a:p>
            <a:pPr algn="l"/>
            <a:r>
              <a:rPr sz="1300" b="0" i="0">
                <a:solidFill>
                  <a:srgbClr val="000000"/>
                </a:solidFill>
                <a:latin typeface="Calibri"/>
              </a:rPr>
              <a:t>Dashboard</a:t>
            </a:r>
          </a:p>
        </p:txBody>
      </p:sp>
      <p:sp>
        <p:nvSpPr>
          <p:cNvPr id="15" name="Rectangle 14"/>
          <p:cNvSpPr/>
          <p:nvPr/>
        </p:nvSpPr>
        <p:spPr>
          <a:xfrm>
            <a:off x="6263640" y="4937760"/>
            <a:ext cx="5394960" cy="384048"/>
          </a:xfrm>
          <a:prstGeom prst="rect">
            <a:avLst/>
          </a:prstGeom>
          <a:solidFill>
            <a:srgbClr val="F4F4F4"/>
          </a:solidFill>
          <a:ln w="1587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250" b="0" i="0">
                <a:solidFill>
                  <a:srgbClr val="000000"/>
                </a:solidFill>
                <a:latin typeface="Calibri"/>
              </a:rPr>
              <a:t>streamlit run dashboard/app.py</a:t>
            </a:r>
          </a:p>
        </p:txBody>
      </p:sp>
      <p:sp>
        <p:nvSpPr>
          <p:cNvPr id="16" name="TextBox 15"/>
          <p:cNvSpPr txBox="1"/>
          <p:nvPr/>
        </p:nvSpPr>
        <p:spPr>
          <a:xfrm>
            <a:off x="6263640" y="5577840"/>
            <a:ext cx="5394960" cy="822960"/>
          </a:xfrm>
          <a:prstGeom prst="rect">
            <a:avLst/>
          </a:prstGeom>
          <a:noFill/>
        </p:spPr>
        <p:txBody>
          <a:bodyPr wrap="square" anchor="t" lIns="0" rIns="0" tIns="0" bIns="0">
            <a:spAutoFit/>
          </a:bodyPr>
          <a:lstStyle/>
          <a:p>
            <a:pPr algn="l"/>
            <a:r>
              <a:rPr sz="1250" b="0" i="0">
                <a:solidFill>
                  <a:srgbClr val="555555"/>
                </a:solidFill>
                <a:latin typeface="Calibri"/>
              </a:rPr>
              <a:t>The script builds the image, records git SHA and image ID, then runs python3 -m cipherops.runner run inside the container. Results appear in results\runs\&lt;run_id&gt;\.</a:t>
            </a:r>
          </a:p>
        </p:txBody>
      </p:sp>
      <p:sp>
        <p:nvSpPr>
          <p:cNvPr id="17" name="TextBox 16"/>
          <p:cNvSpPr txBox="1"/>
          <p:nvPr/>
        </p:nvSpPr>
        <p:spPr>
          <a:xfrm>
            <a:off x="539496" y="6510528"/>
            <a:ext cx="7315200" cy="274320"/>
          </a:xfrm>
          <a:prstGeom prst="rect">
            <a:avLst/>
          </a:prstGeom>
          <a:noFill/>
        </p:spPr>
        <p:txBody>
          <a:bodyPr wrap="square" anchor="t" lIns="0" rIns="0" tIns="0" bIns="0">
            <a:spAutoFit/>
          </a:bodyPr>
          <a:lstStyle/>
          <a:p>
            <a:pPr algn="l"/>
            <a:r>
              <a:rPr sz="1200" b="0" i="0">
                <a:solidFill>
                  <a:srgbClr val="0000DC"/>
                </a:solidFill>
                <a:latin typeface="Calibri"/>
              </a:rPr>
              <a:t>A. Joshi  •  </a:t>
            </a:r>
            <a:r>
              <a:rPr sz="1200" b="1" i="0">
                <a:solidFill>
                  <a:srgbClr val="0000DC"/>
                </a:solidFill>
                <a:latin typeface="Calibri"/>
              </a:rPr>
              <a:t>A3-PS036-TC161</a:t>
            </a:r>
            <a:r>
              <a:rPr sz="1200" b="0" i="0">
                <a:solidFill>
                  <a:srgbClr val="0000DC"/>
                </a:solidFill>
                <a:latin typeface="Calibri"/>
              </a:rPr>
              <a:t>  •  October 8, 2026</a:t>
            </a:r>
          </a:p>
        </p:txBody>
      </p:sp>
      <p:sp>
        <p:nvSpPr>
          <p:cNvPr id="18" name="TextBox 17"/>
          <p:cNvSpPr txBox="1"/>
          <p:nvPr/>
        </p:nvSpPr>
        <p:spPr>
          <a:xfrm>
            <a:off x="9601200" y="6510528"/>
            <a:ext cx="2057400" cy="274320"/>
          </a:xfrm>
          <a:prstGeom prst="rect">
            <a:avLst/>
          </a:prstGeom>
          <a:noFill/>
        </p:spPr>
        <p:txBody>
          <a:bodyPr wrap="square" anchor="t" lIns="0" rIns="0" tIns="0" bIns="0">
            <a:spAutoFit/>
          </a:bodyPr>
          <a:lstStyle/>
          <a:p>
            <a:pPr algn="r"/>
            <a:r>
              <a:rPr sz="1200" b="0" i="0">
                <a:solidFill>
                  <a:srgbClr val="0000DC"/>
                </a:solidFill>
                <a:latin typeface="Calibri"/>
              </a:rPr>
              <a:t>8 / 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6080" y="73152"/>
            <a:ext cx="3200400" cy="274320"/>
          </a:xfrm>
          <a:prstGeom prst="rect">
            <a:avLst/>
          </a:prstGeom>
          <a:noFill/>
        </p:spPr>
        <p:txBody>
          <a:bodyPr wrap="square" anchor="t" lIns="0" rIns="0" tIns="0" bIns="0">
            <a:spAutoFit/>
          </a:bodyPr>
          <a:lstStyle/>
          <a:p>
            <a:pPr algn="r"/>
            <a:r>
              <a:rPr sz="1200" b="1" i="0">
                <a:solidFill>
                  <a:srgbClr val="0000DC"/>
                </a:solidFill>
                <a:latin typeface="Calibri"/>
              </a:rPr>
              <a:t>AIORI 3</a:t>
            </a:r>
          </a:p>
        </p:txBody>
      </p:sp>
      <p:sp>
        <p:nvSpPr>
          <p:cNvPr id="3" name="TextBox 2"/>
          <p:cNvSpPr txBox="1"/>
          <p:nvPr/>
        </p:nvSpPr>
        <p:spPr>
          <a:xfrm>
            <a:off x="6263640" y="73152"/>
            <a:ext cx="5486400" cy="274320"/>
          </a:xfrm>
          <a:prstGeom prst="rect">
            <a:avLst/>
          </a:prstGeom>
          <a:noFill/>
        </p:spPr>
        <p:txBody>
          <a:bodyPr wrap="square" anchor="t" lIns="0" rIns="0" tIns="0" bIns="0">
            <a:spAutoFit/>
          </a:bodyPr>
          <a:lstStyle/>
          <a:p>
            <a:pPr algn="l"/>
            <a:r>
              <a:rPr sz="1200" b="1" i="0">
                <a:solidFill>
                  <a:srgbClr val="0000DC"/>
                </a:solidFill>
                <a:latin typeface="Calibri"/>
              </a:rPr>
              <a:t>Pipeline</a:t>
            </a:r>
          </a:p>
        </p:txBody>
      </p:sp>
      <p:sp>
        <p:nvSpPr>
          <p:cNvPr id="4" name="TextBox 3"/>
          <p:cNvSpPr txBox="1"/>
          <p:nvPr/>
        </p:nvSpPr>
        <p:spPr>
          <a:xfrm>
            <a:off x="539496" y="384048"/>
            <a:ext cx="11109960" cy="548640"/>
          </a:xfrm>
          <a:prstGeom prst="rect">
            <a:avLst/>
          </a:prstGeom>
          <a:noFill/>
        </p:spPr>
        <p:txBody>
          <a:bodyPr wrap="square" anchor="t" lIns="0" rIns="0" tIns="0" bIns="0">
            <a:spAutoFit/>
          </a:bodyPr>
          <a:lstStyle/>
          <a:p>
            <a:pPr algn="l"/>
            <a:r>
              <a:rPr sz="3000" b="1" i="0">
                <a:solidFill>
                  <a:srgbClr val="0000DC"/>
                </a:solidFill>
                <a:latin typeface="Calibri"/>
              </a:rPr>
              <a:t>One run = 7 stages</a:t>
            </a:r>
          </a:p>
        </p:txBody>
      </p:sp>
      <p:sp>
        <p:nvSpPr>
          <p:cNvPr id="5" name="TextBox 4"/>
          <p:cNvSpPr txBox="1"/>
          <p:nvPr/>
        </p:nvSpPr>
        <p:spPr>
          <a:xfrm>
            <a:off x="539496" y="978408"/>
            <a:ext cx="11109960" cy="411480"/>
          </a:xfrm>
          <a:prstGeom prst="rect">
            <a:avLst/>
          </a:prstGeom>
          <a:noFill/>
        </p:spPr>
        <p:txBody>
          <a:bodyPr wrap="square" anchor="t" lIns="0" rIns="0" tIns="0" bIns="0">
            <a:spAutoFit/>
          </a:bodyPr>
          <a:lstStyle/>
          <a:p>
            <a:pPr algn="l"/>
            <a:r>
              <a:rPr sz="1700" b="1" i="0">
                <a:solidFill>
                  <a:srgbClr val="000000"/>
                </a:solidFill>
                <a:latin typeface="Calibri"/>
              </a:rPr>
              <a:t>runner.py cmd_run() executes them in order. Values from the quick demo run.</a:t>
            </a:r>
          </a:p>
        </p:txBody>
      </p:sp>
      <p:graphicFrame>
        <p:nvGraphicFramePr>
          <p:cNvPr id="6" name="Table 5"/>
          <p:cNvGraphicFramePr>
            <a:graphicFrameLocks noGrp="1"/>
          </p:cNvGraphicFramePr>
          <p:nvPr/>
        </p:nvGraphicFramePr>
        <p:xfrm>
          <a:off x="539496" y="1600200"/>
          <a:ext cx="11109960" cy="4389120"/>
        </p:xfrm>
        <a:graphic>
          <a:graphicData uri="http://schemas.openxmlformats.org/drawingml/2006/table">
            <a:tbl>
              <a:tblPr firstRow="1" bandRow="1">
                <a:tableStyleId>{5C22544A-7EE6-4342-B048-85BDC9FD1C3A}</a:tableStyleId>
              </a:tblPr>
              <a:tblGrid>
                <a:gridCol w="2514600"/>
                <a:gridCol w="2240280"/>
                <a:gridCol w="3611880"/>
                <a:gridCol w="2743200"/>
              </a:tblGrid>
              <a:tr h="548640">
                <a:tc>
                  <a:txBody>
                    <a:bodyPr wrap="square"/>
                    <a:lstStyle/>
                    <a:p>
                      <a:r>
                        <a:rPr sz="1300" b="1" i="0">
                          <a:solidFill>
                            <a:srgbClr val="FFFFFF"/>
                          </a:solidFill>
                          <a:latin typeface="Calibri"/>
                        </a:rPr>
                        <a:t>Stage</a:t>
                      </a:r>
                    </a:p>
                  </a:txBody>
                  <a:tcPr marL="64008" marR="64008" marT="27432" marB="27432" anchor="ctr">
                    <a:solidFill>
                      <a:srgbClr val="0000DC"/>
                    </a:solidFill>
                  </a:tcPr>
                </a:tc>
                <a:tc>
                  <a:txBody>
                    <a:bodyPr wrap="square"/>
                    <a:lstStyle/>
                    <a:p>
                      <a:r>
                        <a:rPr sz="1300" b="1" i="0">
                          <a:solidFill>
                            <a:srgbClr val="FFFFFF"/>
                          </a:solidFill>
                          <a:latin typeface="Calibri"/>
                        </a:rPr>
                        <a:t>Code</a:t>
                      </a:r>
                    </a:p>
                  </a:txBody>
                  <a:tcPr marL="64008" marR="64008" marT="27432" marB="27432" anchor="ctr">
                    <a:solidFill>
                      <a:srgbClr val="0000DC"/>
                    </a:solidFill>
                  </a:tcPr>
                </a:tc>
                <a:tc>
                  <a:txBody>
                    <a:bodyPr wrap="square"/>
                    <a:lstStyle/>
                    <a:p>
                      <a:r>
                        <a:rPr sz="1300" b="1" i="0">
                          <a:solidFill>
                            <a:srgbClr val="FFFFFF"/>
                          </a:solidFill>
                          <a:latin typeface="Calibri"/>
                        </a:rPr>
                        <a:t>Input</a:t>
                      </a:r>
                    </a:p>
                  </a:txBody>
                  <a:tcPr marL="64008" marR="64008" marT="27432" marB="27432" anchor="ctr">
                    <a:solidFill>
                      <a:srgbClr val="0000DC"/>
                    </a:solidFill>
                  </a:tcPr>
                </a:tc>
                <a:tc>
                  <a:txBody>
                    <a:bodyPr wrap="square"/>
                    <a:lstStyle/>
                    <a:p>
                      <a:r>
                        <a:rPr sz="1300" b="1" i="0">
                          <a:solidFill>
                            <a:srgbClr val="FFFFFF"/>
                          </a:solidFill>
                          <a:latin typeface="Calibri"/>
                        </a:rPr>
                        <a:t>Output</a:t>
                      </a:r>
                    </a:p>
                  </a:txBody>
                  <a:tcPr marL="64008" marR="64008" marT="27432" marB="27432" anchor="ctr">
                    <a:solidFill>
                      <a:srgbClr val="0000DC"/>
                    </a:solidFill>
                  </a:tcPr>
                </a:tc>
              </a:tr>
              <a:tr h="548640">
                <a:tc>
                  <a:txBody>
                    <a:bodyPr wrap="square"/>
                    <a:lstStyle/>
                    <a:p>
                      <a:r>
                        <a:rPr sz="1300" b="0" i="0">
                          <a:solidFill>
                            <a:srgbClr val="000000"/>
                          </a:solidFill>
                          <a:latin typeface="Calibri"/>
                        </a:rPr>
                        <a:t>1  Config + environment</a:t>
                      </a:r>
                    </a:p>
                  </a:txBody>
                  <a:tcPr marL="64008" marR="64008" marT="27432" marB="27432" anchor="ctr">
                    <a:solidFill>
                      <a:srgbClr val="F2F2FD"/>
                    </a:solidFill>
                  </a:tcPr>
                </a:tc>
                <a:tc>
                  <a:txBody>
                    <a:bodyPr wrap="square"/>
                    <a:lstStyle/>
                    <a:p>
                      <a:r>
                        <a:rPr sz="1300" b="0" i="0">
                          <a:solidFill>
                            <a:srgbClr val="000000"/>
                          </a:solidFill>
                          <a:latin typeface="Calibri"/>
                        </a:rPr>
                        <a:t>load_config, envinfo</a:t>
                      </a:r>
                    </a:p>
                  </a:txBody>
                  <a:tcPr marL="64008" marR="64008" marT="27432" marB="27432" anchor="ctr">
                    <a:solidFill>
                      <a:srgbClr val="F2F2FD"/>
                    </a:solidFill>
                  </a:tcPr>
                </a:tc>
                <a:tc>
                  <a:txBody>
                    <a:bodyPr wrap="square"/>
                    <a:lstStyle/>
                    <a:p>
                      <a:r>
                        <a:rPr sz="1300" b="0" i="0">
                          <a:solidFill>
                            <a:srgbClr val="000000"/>
                          </a:solidFill>
                          <a:latin typeface="Calibri"/>
                        </a:rPr>
                        <a:t>quick.yaml: seed 20261005, 3 trials, 5 modes, 20 / 60 / 200 names</a:t>
                      </a:r>
                    </a:p>
                  </a:txBody>
                  <a:tcPr marL="64008" marR="64008" marT="27432" marB="27432" anchor="ctr">
                    <a:solidFill>
                      <a:srgbClr val="F2F2FD"/>
                    </a:solidFill>
                  </a:tcPr>
                </a:tc>
                <a:tc>
                  <a:txBody>
                    <a:bodyPr wrap="square"/>
                    <a:lstStyle/>
                    <a:p>
                      <a:r>
                        <a:rPr sz="1300" b="0" i="0">
                          <a:solidFill>
                            <a:srgbClr val="000000"/>
                          </a:solidFill>
                          <a:latin typeface="Calibri"/>
                        </a:rPr>
                        <a:t>config.yaml, environment.json</a:t>
                      </a:r>
                    </a:p>
                  </a:txBody>
                  <a:tcPr marL="64008" marR="64008" marT="27432" marB="27432" anchor="ctr">
                    <a:solidFill>
                      <a:srgbClr val="F2F2FD"/>
                    </a:solidFill>
                  </a:tcPr>
                </a:tc>
              </a:tr>
              <a:tr h="548640">
                <a:tc>
                  <a:txBody>
                    <a:bodyPr wrap="square"/>
                    <a:lstStyle/>
                    <a:p>
                      <a:r>
                        <a:rPr sz="1300" b="0" i="0">
                          <a:solidFill>
                            <a:srgbClr val="000000"/>
                          </a:solidFill>
                          <a:latin typeface="Calibri"/>
                        </a:rPr>
                        <a:t>2  Go/no-go gate</a:t>
                      </a:r>
                    </a:p>
                  </a:txBody>
                  <a:tcPr marL="64008" marR="64008" marT="27432" marB="27432" anchor="ctr">
                    <a:solidFill>
                      <a:srgbClr val="FFFFFF"/>
                    </a:solidFill>
                  </a:tcPr>
                </a:tc>
                <a:tc>
                  <a:txBody>
                    <a:bodyPr wrap="square"/>
                    <a:lstStyle/>
                    <a:p>
                      <a:r>
                        <a:rPr sz="1300" b="0" i="0">
                          <a:solidFill>
                            <a:srgbClr val="000000"/>
                          </a:solidFill>
                          <a:latin typeface="Calibri"/>
                        </a:rPr>
                        <a:t>preflight.py</a:t>
                      </a:r>
                    </a:p>
                  </a:txBody>
                  <a:tcPr marL="64008" marR="64008" marT="27432" marB="27432" anchor="ctr">
                    <a:solidFill>
                      <a:srgbClr val="FFFFFF"/>
                    </a:solidFill>
                  </a:tcPr>
                </a:tc>
                <a:tc>
                  <a:txBody>
                    <a:bodyPr wrap="square"/>
                    <a:lstStyle/>
                    <a:p>
                      <a:r>
                        <a:rPr sz="1300" b="0" i="0">
                          <a:solidFill>
                            <a:srgbClr val="000000"/>
                          </a:solidFill>
                          <a:latin typeface="Calibri"/>
                        </a:rPr>
                        <a:t>Verisign library, tests, tools; mtlbench</a:t>
                      </a:r>
                    </a:p>
                  </a:txBody>
                  <a:tcPr marL="64008" marR="64008" marT="27432" marB="27432" anchor="ctr">
                    <a:solidFill>
                      <a:srgbClr val="FFFFFF"/>
                    </a:solidFill>
                  </a:tcPr>
                </a:tc>
                <a:tc>
                  <a:txBody>
                    <a:bodyPr wrap="square"/>
                    <a:lstStyle/>
                    <a:p>
                      <a:r>
                        <a:rPr sz="1300" b="0" i="0">
                          <a:solidFill>
                            <a:srgbClr val="000000"/>
                          </a:solidFill>
                          <a:latin typeface="Calibri"/>
                        </a:rPr>
                        <a:t>preflight.json: GO (9 checks)</a:t>
                      </a:r>
                    </a:p>
                  </a:txBody>
                  <a:tcPr marL="64008" marR="64008" marT="27432" marB="27432" anchor="ctr">
                    <a:solidFill>
                      <a:srgbClr val="FFFFFF"/>
                    </a:solidFill>
                  </a:tcPr>
                </a:tc>
              </a:tr>
              <a:tr h="548640">
                <a:tc>
                  <a:txBody>
                    <a:bodyPr wrap="square"/>
                    <a:lstStyle/>
                    <a:p>
                      <a:r>
                        <a:rPr sz="1300" b="0" i="0">
                          <a:solidFill>
                            <a:srgbClr val="000000"/>
                          </a:solidFill>
                          <a:latin typeface="Calibri"/>
                        </a:rPr>
                        <a:t>3  Zones + signing inputs</a:t>
                      </a:r>
                    </a:p>
                  </a:txBody>
                  <a:tcPr marL="64008" marR="64008" marT="27432" marB="27432" anchor="ctr">
                    <a:solidFill>
                      <a:srgbClr val="F2F2FD"/>
                    </a:solidFill>
                  </a:tcPr>
                </a:tc>
                <a:tc>
                  <a:txBody>
                    <a:bodyPr wrap="square"/>
                    <a:lstStyle/>
                    <a:p>
                      <a:r>
                        <a:rPr sz="1300" b="0" i="0">
                          <a:solidFill>
                            <a:srgbClr val="000000"/>
                          </a:solidFill>
                          <a:latin typeface="Calibri"/>
                        </a:rPr>
                        <a:t>workload.py</a:t>
                      </a:r>
                    </a:p>
                  </a:txBody>
                  <a:tcPr marL="64008" marR="64008" marT="27432" marB="27432" anchor="ctr">
                    <a:solidFill>
                      <a:srgbClr val="F2F2FD"/>
                    </a:solidFill>
                  </a:tcPr>
                </a:tc>
                <a:tc>
                  <a:txBody>
                    <a:bodyPr wrap="square"/>
                    <a:lstStyle/>
                    <a:p>
                      <a:r>
                        <a:rPr sz="1300" b="0" i="0">
                          <a:solidFill>
                            <a:srgbClr val="000000"/>
                          </a:solidFill>
                          <a:latin typeface="Calibri"/>
                        </a:rPr>
                        <a:t>names, seed, modes</a:t>
                      </a:r>
                    </a:p>
                  </a:txBody>
                  <a:tcPr marL="64008" marR="64008" marT="27432" marB="27432" anchor="ctr">
                    <a:solidFill>
                      <a:srgbClr val="F2F2FD"/>
                    </a:solidFill>
                  </a:tcPr>
                </a:tc>
                <a:tc>
                  <a:txBody>
                    <a:bodyPr wrap="square"/>
                    <a:lstStyle/>
                    <a:p>
                      <a:r>
                        <a:rPr sz="1300" b="0" i="0">
                          <a:solidFill>
                            <a:srgbClr val="000000"/>
                          </a:solidFill>
                          <a:latin typeface="Calibri"/>
                        </a:rPr>
                        <a:t>45 / 125 / 405 RRsets; 15 × messages.bin</a:t>
                      </a:r>
                    </a:p>
                  </a:txBody>
                  <a:tcPr marL="64008" marR="64008" marT="27432" marB="27432" anchor="ctr">
                    <a:solidFill>
                      <a:srgbClr val="F2F2FD"/>
                    </a:solidFill>
                  </a:tcPr>
                </a:tc>
              </a:tr>
              <a:tr h="548640">
                <a:tc>
                  <a:txBody>
                    <a:bodyPr wrap="square"/>
                    <a:lstStyle/>
                    <a:p>
                      <a:r>
                        <a:rPr sz="1300" b="0" i="0">
                          <a:solidFill>
                            <a:srgbClr val="000000"/>
                          </a:solidFill>
                          <a:latin typeface="Calibri"/>
                        </a:rPr>
                        <a:t>4  Sign + verify</a:t>
                      </a:r>
                    </a:p>
                  </a:txBody>
                  <a:tcPr marL="64008" marR="64008" marT="27432" marB="27432" anchor="ctr">
                    <a:solidFill>
                      <a:srgbClr val="FFFFFF"/>
                    </a:solidFill>
                  </a:tcPr>
                </a:tc>
                <a:tc>
                  <a:txBody>
                    <a:bodyPr wrap="square"/>
                    <a:lstStyle/>
                    <a:p>
                      <a:r>
                        <a:rPr sz="1300" b="0" i="0">
                          <a:solidFill>
                            <a:srgbClr val="000000"/>
                          </a:solidFill>
                          <a:latin typeface="Calibri"/>
                        </a:rPr>
                        <a:t>harness.py → mtlbench</a:t>
                      </a:r>
                    </a:p>
                  </a:txBody>
                  <a:tcPr marL="64008" marR="64008" marT="27432" marB="27432" anchor="ctr">
                    <a:solidFill>
                      <a:srgbClr val="FFFFFF"/>
                    </a:solidFill>
                  </a:tcPr>
                </a:tc>
                <a:tc>
                  <a:txBody>
                    <a:bodyPr wrap="square"/>
                    <a:lstStyle/>
                    <a:p>
                      <a:r>
                        <a:rPr sz="1300" b="0" i="0">
                          <a:solidFill>
                            <a:srgbClr val="000000"/>
                          </a:solidFill>
                          <a:latin typeface="Calibri"/>
                        </a:rPr>
                        <a:t>15 messages.bin files</a:t>
                      </a:r>
                    </a:p>
                  </a:txBody>
                  <a:tcPr marL="64008" marR="64008" marT="27432" marB="27432" anchor="ctr">
                    <a:solidFill>
                      <a:srgbClr val="FFFFFF"/>
                    </a:solidFill>
                  </a:tcPr>
                </a:tc>
                <a:tc>
                  <a:txBody>
                    <a:bodyPr wrap="square"/>
                    <a:lstStyle/>
                    <a:p>
                      <a:r>
                        <a:rPr sz="1300" b="0" i="0">
                          <a:solidFill>
                            <a:srgbClr val="000000"/>
                          </a:solidFill>
                          <a:latin typeface="Calibri"/>
                        </a:rPr>
                        <a:t>45 trials: trials.csv, raw/, artifacts/ (signatures)</a:t>
                      </a:r>
                    </a:p>
                  </a:txBody>
                  <a:tcPr marL="64008" marR="64008" marT="27432" marB="27432" anchor="ctr">
                    <a:solidFill>
                      <a:srgbClr val="FFFFFF"/>
                    </a:solidFill>
                  </a:tcPr>
                </a:tc>
              </a:tr>
              <a:tr h="548640">
                <a:tc>
                  <a:txBody>
                    <a:bodyPr wrap="square"/>
                    <a:lstStyle/>
                    <a:p>
                      <a:r>
                        <a:rPr sz="1300" b="0" i="0">
                          <a:solidFill>
                            <a:srgbClr val="000000"/>
                          </a:solidFill>
                          <a:latin typeface="Calibri"/>
                        </a:rPr>
                        <a:t>5  DNS bytes + cache</a:t>
                      </a:r>
                    </a:p>
                  </a:txBody>
                  <a:tcPr marL="64008" marR="64008" marT="27432" marB="27432" anchor="ctr">
                    <a:solidFill>
                      <a:srgbClr val="F2F2FD"/>
                    </a:solidFill>
                  </a:tcPr>
                </a:tc>
                <a:tc>
                  <a:txBody>
                    <a:bodyPr wrap="square"/>
                    <a:lstStyle/>
                    <a:p>
                      <a:r>
                        <a:rPr sz="1300" b="0" i="0">
                          <a:solidFill>
                            <a:srgbClr val="000000"/>
                          </a:solidFill>
                          <a:latin typeface="Calibri"/>
                        </a:rPr>
                        <a:t>dnswire.py, cache.py</a:t>
                      </a:r>
                    </a:p>
                  </a:txBody>
                  <a:tcPr marL="64008" marR="64008" marT="27432" marB="27432" anchor="ctr">
                    <a:solidFill>
                      <a:srgbClr val="F2F2FD"/>
                    </a:solidFill>
                  </a:tcPr>
                </a:tc>
                <a:tc>
                  <a:txBody>
                    <a:bodyPr wrap="square"/>
                    <a:lstStyle/>
                    <a:p>
                      <a:r>
                        <a:rPr sz="1300" b="0" i="0">
                          <a:solidFill>
                            <a:srgbClr val="000000"/>
                          </a:solidFill>
                          <a:latin typeface="Calibri"/>
                        </a:rPr>
                        <a:t>zones, real signatures, 301 lookups</a:t>
                      </a:r>
                    </a:p>
                  </a:txBody>
                  <a:tcPr marL="64008" marR="64008" marT="27432" marB="27432" anchor="ctr">
                    <a:solidFill>
                      <a:srgbClr val="F2F2FD"/>
                    </a:solidFill>
                  </a:tcPr>
                </a:tc>
                <a:tc>
                  <a:txBody>
                    <a:bodyPr wrap="square"/>
                    <a:lstStyle/>
                    <a:p>
                      <a:r>
                        <a:rPr sz="1300" b="0" i="0">
                          <a:solidFill>
                            <a:srgbClr val="000000"/>
                          </a:solidFill>
                          <a:latin typeface="Calibri"/>
                        </a:rPr>
                        <a:t>responses, workload, cache, sizes .csv</a:t>
                      </a:r>
                    </a:p>
                  </a:txBody>
                  <a:tcPr marL="64008" marR="64008" marT="27432" marB="27432" anchor="ctr">
                    <a:solidFill>
                      <a:srgbClr val="F2F2FD"/>
                    </a:solidFill>
                  </a:tcPr>
                </a:tc>
              </a:tr>
              <a:tr h="548640">
                <a:tc>
                  <a:txBody>
                    <a:bodyPr wrap="square"/>
                    <a:lstStyle/>
                    <a:p>
                      <a:r>
                        <a:rPr sz="1300" b="0" i="0">
                          <a:solidFill>
                            <a:srgbClr val="000000"/>
                          </a:solidFill>
                          <a:latin typeface="Calibri"/>
                        </a:rPr>
                        <a:t>6  Statistics</a:t>
                      </a:r>
                    </a:p>
                  </a:txBody>
                  <a:tcPr marL="64008" marR="64008" marT="27432" marB="27432" anchor="ctr">
                    <a:solidFill>
                      <a:srgbClr val="FFFFFF"/>
                    </a:solidFill>
                  </a:tcPr>
                </a:tc>
                <a:tc>
                  <a:txBody>
                    <a:bodyPr wrap="square"/>
                    <a:lstStyle/>
                    <a:p>
                      <a:r>
                        <a:rPr sz="1300" b="0" i="0">
                          <a:solidFill>
                            <a:srgbClr val="000000"/>
                          </a:solidFill>
                          <a:latin typeface="Calibri"/>
                        </a:rPr>
                        <a:t>stats.py, summarise</a:t>
                      </a:r>
                    </a:p>
                  </a:txBody>
                  <a:tcPr marL="64008" marR="64008" marT="27432" marB="27432" anchor="ctr">
                    <a:solidFill>
                      <a:srgbClr val="FFFFFF"/>
                    </a:solidFill>
                  </a:tcPr>
                </a:tc>
                <a:tc>
                  <a:txBody>
                    <a:bodyPr wrap="square"/>
                    <a:lstStyle/>
                    <a:p>
                      <a:r>
                        <a:rPr sz="1300" b="0" i="0">
                          <a:solidFill>
                            <a:srgbClr val="000000"/>
                          </a:solidFill>
                          <a:latin typeface="Calibri"/>
                        </a:rPr>
                        <a:t>45 trial rows + stage 5 tables</a:t>
                      </a:r>
                    </a:p>
                  </a:txBody>
                  <a:tcPr marL="64008" marR="64008" marT="27432" marB="27432" anchor="ctr">
                    <a:solidFill>
                      <a:srgbClr val="FFFFFF"/>
                    </a:solidFill>
                  </a:tcPr>
                </a:tc>
                <a:tc>
                  <a:txBody>
                    <a:bodyPr wrap="square"/>
                    <a:lstStyle/>
                    <a:p>
                      <a:r>
                        <a:rPr sz="1300" b="0" i="0">
                          <a:solidFill>
                            <a:srgbClr val="000000"/>
                          </a:solidFill>
                          <a:latin typeface="Calibri"/>
                        </a:rPr>
                        <a:t>summary.json (median, 95% CI)</a:t>
                      </a:r>
                    </a:p>
                  </a:txBody>
                  <a:tcPr marL="64008" marR="64008" marT="27432" marB="27432" anchor="ctr">
                    <a:solidFill>
                      <a:srgbClr val="FFFFFF"/>
                    </a:solidFill>
                  </a:tcPr>
                </a:tc>
              </a:tr>
              <a:tr h="548640">
                <a:tc>
                  <a:txBody>
                    <a:bodyPr wrap="square"/>
                    <a:lstStyle/>
                    <a:p>
                      <a:r>
                        <a:rPr sz="1300" b="0" i="0">
                          <a:solidFill>
                            <a:srgbClr val="000000"/>
                          </a:solidFill>
                          <a:latin typeface="Calibri"/>
                        </a:rPr>
                        <a:t>7  Report</a:t>
                      </a:r>
                    </a:p>
                  </a:txBody>
                  <a:tcPr marL="64008" marR="64008" marT="27432" marB="27432" anchor="ctr">
                    <a:solidFill>
                      <a:srgbClr val="F2F2FD"/>
                    </a:solidFill>
                  </a:tcPr>
                </a:tc>
                <a:tc>
                  <a:txBody>
                    <a:bodyPr wrap="square"/>
                    <a:lstStyle/>
                    <a:p>
                      <a:r>
                        <a:rPr sz="1300" b="0" i="0">
                          <a:solidFill>
                            <a:srgbClr val="000000"/>
                          </a:solidFill>
                          <a:latin typeface="Calibri"/>
                        </a:rPr>
                        <a:t>report.py</a:t>
                      </a:r>
                    </a:p>
                  </a:txBody>
                  <a:tcPr marL="64008" marR="64008" marT="27432" marB="27432" anchor="ctr">
                    <a:solidFill>
                      <a:srgbClr val="F2F2FD"/>
                    </a:solidFill>
                  </a:tcPr>
                </a:tc>
                <a:tc>
                  <a:txBody>
                    <a:bodyPr wrap="square"/>
                    <a:lstStyle/>
                    <a:p>
                      <a:r>
                        <a:rPr sz="1300" b="0" i="0">
                          <a:solidFill>
                            <a:srgbClr val="000000"/>
                          </a:solidFill>
                          <a:latin typeface="Calibri"/>
                        </a:rPr>
                        <a:t>the run folder</a:t>
                      </a:r>
                    </a:p>
                  </a:txBody>
                  <a:tcPr marL="64008" marR="64008" marT="27432" marB="27432" anchor="ctr">
                    <a:solidFill>
                      <a:srgbClr val="F2F2FD"/>
                    </a:solidFill>
                  </a:tcPr>
                </a:tc>
                <a:tc>
                  <a:txBody>
                    <a:bodyPr wrap="square"/>
                    <a:lstStyle/>
                    <a:p>
                      <a:r>
                        <a:rPr sz="1300" b="0" i="0">
                          <a:solidFill>
                            <a:srgbClr val="000000"/>
                          </a:solidFill>
                          <a:latin typeface="Calibri"/>
                        </a:rPr>
                        <a:t>report.md / .html, 5 figures</a:t>
                      </a:r>
                    </a:p>
                  </a:txBody>
                  <a:tcPr marL="64008" marR="64008" marT="27432" marB="27432" anchor="ctr">
                    <a:solidFill>
                      <a:srgbClr val="F2F2FD"/>
                    </a:solidFill>
                  </a:tcPr>
                </a:tc>
              </a:tr>
            </a:tbl>
          </a:graphicData>
        </a:graphic>
      </p:graphicFrame>
      <p:sp>
        <p:nvSpPr>
          <p:cNvPr id="7" name="TextBox 6"/>
          <p:cNvSpPr txBox="1"/>
          <p:nvPr/>
        </p:nvSpPr>
        <p:spPr>
          <a:xfrm>
            <a:off x="539496" y="6510528"/>
            <a:ext cx="7315200" cy="274320"/>
          </a:xfrm>
          <a:prstGeom prst="rect">
            <a:avLst/>
          </a:prstGeom>
          <a:noFill/>
        </p:spPr>
        <p:txBody>
          <a:bodyPr wrap="square" anchor="t" lIns="0" rIns="0" tIns="0" bIns="0">
            <a:spAutoFit/>
          </a:bodyPr>
          <a:lstStyle/>
          <a:p>
            <a:pPr algn="l"/>
            <a:r>
              <a:rPr sz="1200" b="0" i="0">
                <a:solidFill>
                  <a:srgbClr val="0000DC"/>
                </a:solidFill>
                <a:latin typeface="Calibri"/>
              </a:rPr>
              <a:t>A. Joshi  •  </a:t>
            </a:r>
            <a:r>
              <a:rPr sz="1200" b="1" i="0">
                <a:solidFill>
                  <a:srgbClr val="0000DC"/>
                </a:solidFill>
                <a:latin typeface="Calibri"/>
              </a:rPr>
              <a:t>A3-PS036-TC161</a:t>
            </a:r>
            <a:r>
              <a:rPr sz="1200" b="0" i="0">
                <a:solidFill>
                  <a:srgbClr val="0000DC"/>
                </a:solidFill>
                <a:latin typeface="Calibri"/>
              </a:rPr>
              <a:t>  •  October 8, 2026</a:t>
            </a:r>
          </a:p>
        </p:txBody>
      </p:sp>
      <p:sp>
        <p:nvSpPr>
          <p:cNvPr id="8" name="TextBox 7"/>
          <p:cNvSpPr txBox="1"/>
          <p:nvPr/>
        </p:nvSpPr>
        <p:spPr>
          <a:xfrm>
            <a:off x="9601200" y="6510528"/>
            <a:ext cx="2057400" cy="274320"/>
          </a:xfrm>
          <a:prstGeom prst="rect">
            <a:avLst/>
          </a:prstGeom>
          <a:noFill/>
        </p:spPr>
        <p:txBody>
          <a:bodyPr wrap="square" anchor="t" lIns="0" rIns="0" tIns="0" bIns="0">
            <a:spAutoFit/>
          </a:bodyPr>
          <a:lstStyle/>
          <a:p>
            <a:pPr algn="r"/>
            <a:r>
              <a:rPr sz="1200" b="0" i="0">
                <a:solidFill>
                  <a:srgbClr val="0000DC"/>
                </a:solidFill>
                <a:latin typeface="Calibri"/>
              </a:rPr>
              <a:t>9 /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6080" y="73152"/>
            <a:ext cx="3200400" cy="274320"/>
          </a:xfrm>
          <a:prstGeom prst="rect">
            <a:avLst/>
          </a:prstGeom>
          <a:noFill/>
        </p:spPr>
        <p:txBody>
          <a:bodyPr wrap="square" anchor="t" lIns="0" rIns="0" tIns="0" bIns="0">
            <a:spAutoFit/>
          </a:bodyPr>
          <a:lstStyle/>
          <a:p>
            <a:pPr algn="r"/>
            <a:r>
              <a:rPr sz="1200" b="1" i="0">
                <a:solidFill>
                  <a:srgbClr val="0000DC"/>
                </a:solidFill>
                <a:latin typeface="Calibri"/>
              </a:rPr>
              <a:t>AIORI 3</a:t>
            </a:r>
          </a:p>
        </p:txBody>
      </p:sp>
      <p:sp>
        <p:nvSpPr>
          <p:cNvPr id="3" name="TextBox 2"/>
          <p:cNvSpPr txBox="1"/>
          <p:nvPr/>
        </p:nvSpPr>
        <p:spPr>
          <a:xfrm>
            <a:off x="6263640" y="73152"/>
            <a:ext cx="5486400" cy="274320"/>
          </a:xfrm>
          <a:prstGeom prst="rect">
            <a:avLst/>
          </a:prstGeom>
          <a:noFill/>
        </p:spPr>
        <p:txBody>
          <a:bodyPr wrap="square" anchor="t" lIns="0" rIns="0" tIns="0" bIns="0">
            <a:spAutoFit/>
          </a:bodyPr>
          <a:lstStyle/>
          <a:p>
            <a:pPr algn="l"/>
            <a:r>
              <a:rPr sz="1200" b="1" i="0">
                <a:solidFill>
                  <a:srgbClr val="0000DC"/>
                </a:solidFill>
                <a:latin typeface="Calibri"/>
              </a:rPr>
              <a:t>Stages 1 and 2</a:t>
            </a:r>
          </a:p>
        </p:txBody>
      </p:sp>
      <p:sp>
        <p:nvSpPr>
          <p:cNvPr id="4" name="TextBox 3"/>
          <p:cNvSpPr txBox="1"/>
          <p:nvPr/>
        </p:nvSpPr>
        <p:spPr>
          <a:xfrm>
            <a:off x="539496" y="384048"/>
            <a:ext cx="11109960" cy="548640"/>
          </a:xfrm>
          <a:prstGeom prst="rect">
            <a:avLst/>
          </a:prstGeom>
          <a:noFill/>
        </p:spPr>
        <p:txBody>
          <a:bodyPr wrap="square" anchor="t" lIns="0" rIns="0" tIns="0" bIns="0">
            <a:spAutoFit/>
          </a:bodyPr>
          <a:lstStyle/>
          <a:p>
            <a:pPr algn="l"/>
            <a:r>
              <a:rPr sz="3000" b="1" i="0">
                <a:solidFill>
                  <a:srgbClr val="0000DC"/>
                </a:solidFill>
                <a:latin typeface="Calibri"/>
              </a:rPr>
              <a:t>Stages 1–2: configuration, environment, go/no-go</a:t>
            </a:r>
          </a:p>
        </p:txBody>
      </p:sp>
      <p:sp>
        <p:nvSpPr>
          <p:cNvPr id="5" name="TextBox 4"/>
          <p:cNvSpPr txBox="1"/>
          <p:nvPr/>
        </p:nvSpPr>
        <p:spPr>
          <a:xfrm>
            <a:off x="539496" y="978408"/>
            <a:ext cx="11109960" cy="411480"/>
          </a:xfrm>
          <a:prstGeom prst="rect">
            <a:avLst/>
          </a:prstGeom>
          <a:noFill/>
        </p:spPr>
        <p:txBody>
          <a:bodyPr wrap="square" anchor="t" lIns="0" rIns="0" tIns="0" bIns="0">
            <a:spAutoFit/>
          </a:bodyPr>
          <a:lstStyle/>
          <a:p>
            <a:pPr algn="l"/>
            <a:r>
              <a:rPr sz="1700" b="1" i="0">
                <a:solidFill>
                  <a:srgbClr val="000000"/>
                </a:solidFill>
                <a:latin typeface="Calibri"/>
              </a:rPr>
              <a:t>Before any number is produced we record what we run on, and prove the reference library works.</a:t>
            </a:r>
          </a:p>
        </p:txBody>
      </p:sp>
      <p:sp>
        <p:nvSpPr>
          <p:cNvPr id="6" name="TextBox 5"/>
          <p:cNvSpPr txBox="1"/>
          <p:nvPr/>
        </p:nvSpPr>
        <p:spPr>
          <a:xfrm>
            <a:off x="539496" y="1600200"/>
            <a:ext cx="5120640" cy="365760"/>
          </a:xfrm>
          <a:prstGeom prst="rect">
            <a:avLst/>
          </a:prstGeom>
          <a:noFill/>
        </p:spPr>
        <p:txBody>
          <a:bodyPr wrap="square" anchor="t" lIns="0" rIns="0" tIns="0" bIns="0">
            <a:spAutoFit/>
          </a:bodyPr>
          <a:lstStyle/>
          <a:p>
            <a:pPr algn="l"/>
            <a:r>
              <a:rPr sz="1700" b="1" i="0">
                <a:solidFill>
                  <a:srgbClr val="0000DC"/>
                </a:solidFill>
                <a:latin typeface="Calibri"/>
              </a:rPr>
              <a:t>Stage 1 – inputs and record</a:t>
            </a:r>
          </a:p>
        </p:txBody>
      </p:sp>
      <p:sp>
        <p:nvSpPr>
          <p:cNvPr id="7" name="TextBox 6"/>
          <p:cNvSpPr txBox="1"/>
          <p:nvPr/>
        </p:nvSpPr>
        <p:spPr>
          <a:xfrm>
            <a:off x="539496" y="2011680"/>
            <a:ext cx="5120640" cy="4206240"/>
          </a:xfrm>
          <a:prstGeom prst="rect">
            <a:avLst/>
          </a:prstGeom>
          <a:noFill/>
        </p:spPr>
        <p:txBody>
          <a:bodyPr wrap="square" anchor="t" lIns="0" rIns="0" tIns="0" bIns="0">
            <a:spAutoFit/>
          </a:bodyPr>
          <a:lstStyle/>
          <a:p>
            <a:pPr algn="l" marL="274320" indent="-274320">
              <a:buClr>
                <a:srgbClr val="0000DC"/>
              </a:buClr>
              <a:buFont typeface="Arial"/>
              <a:buChar char="•"/>
            </a:pPr>
            <a:r>
              <a:rPr sz="1450" b="1" i="0">
                <a:solidFill>
                  <a:srgbClr val="000000"/>
                </a:solidFill>
                <a:latin typeface="Calibri"/>
              </a:rPr>
              <a:t>configs/quick.yaml</a:t>
            </a:r>
            <a:r>
              <a:rPr sz="1450" b="0" i="0">
                <a:solidFill>
                  <a:srgbClr val="000000"/>
                </a:solidFill>
                <a:latin typeface="Calibri"/>
              </a:rPr>
              <a:t>: seed 20261005, 3 trials + 1 warm-up, 5 modes, zones of 20 / 60 / 200 names, 16 cold MTL verifications per trial, direct SLH-DSA capped at 60 / 100 signatures, 300 lookups.</a:t>
            </a:r>
          </a:p>
          <a:p>
            <a:pPr algn="l" marL="274320" indent="-274320">
              <a:spcBef>
                <a:spcPts val="700"/>
              </a:spcBef>
              <a:buClr>
                <a:srgbClr val="0000DC"/>
              </a:buClr>
              <a:buFont typeface="Arial"/>
              <a:buChar char="•"/>
            </a:pPr>
            <a:r>
              <a:rPr sz="1450" b="1" i="0">
                <a:solidFill>
                  <a:srgbClr val="000000"/>
                </a:solidFill>
                <a:latin typeface="Calibri"/>
              </a:rPr>
              <a:t>Run folder</a:t>
            </a:r>
            <a:r>
              <a:rPr sz="1450" b="0" i="0">
                <a:solidFill>
                  <a:srgbClr val="000000"/>
                </a:solidFill>
                <a:latin typeface="Calibri"/>
              </a:rPr>
              <a:t>: results/runs/</a:t>
            </a:r>
            <a:r>
              <a:rPr sz="1450" b="1" i="0">
                <a:solidFill>
                  <a:srgbClr val="000000"/>
                </a:solidFill>
                <a:latin typeface="Calibri"/>
              </a:rPr>
              <a:t>20261007T045213Z-quick-demo</a:t>
            </a:r>
            <a:r>
              <a:rPr sz="1450" b="0" i="0">
                <a:solidFill>
                  <a:srgbClr val="000000"/>
                </a:solidFill>
                <a:latin typeface="Calibri"/>
              </a:rPr>
              <a:t>/</a:t>
            </a:r>
          </a:p>
          <a:p>
            <a:pPr algn="l" marL="274320" indent="-274320">
              <a:spcBef>
                <a:spcPts val="700"/>
              </a:spcBef>
              <a:buClr>
                <a:srgbClr val="0000DC"/>
              </a:buClr>
              <a:buFont typeface="Arial"/>
              <a:buChar char="•"/>
            </a:pPr>
            <a:r>
              <a:rPr sz="1450" b="1" i="0">
                <a:solidFill>
                  <a:srgbClr val="000000"/>
                </a:solidFill>
                <a:latin typeface="Calibri"/>
              </a:rPr>
              <a:t>environment.json</a:t>
            </a:r>
            <a:r>
              <a:rPr sz="1450" b="0" i="0">
                <a:solidFill>
                  <a:srgbClr val="000000"/>
                </a:solidFill>
                <a:latin typeface="Calibri"/>
              </a:rPr>
              <a:t>: Intel Core Ultra 7 155U, pinned core [2], WSL2 kernel, OpenSSL 3.6.0, liboqs 0.16.0, MTL 7cef019 (-O2), git SHA, image ID, SHA-256 of mtlbench.</a:t>
            </a:r>
          </a:p>
        </p:txBody>
      </p:sp>
      <p:graphicFrame>
        <p:nvGraphicFramePr>
          <p:cNvPr id="8" name="Table 7"/>
          <p:cNvGraphicFramePr>
            <a:graphicFrameLocks noGrp="1"/>
          </p:cNvGraphicFramePr>
          <p:nvPr/>
        </p:nvGraphicFramePr>
        <p:xfrm>
          <a:off x="6035040" y="1600200"/>
          <a:ext cx="5623558" cy="3520440"/>
        </p:xfrm>
        <a:graphic>
          <a:graphicData uri="http://schemas.openxmlformats.org/drawingml/2006/table">
            <a:tbl>
              <a:tblPr firstRow="1" bandRow="1">
                <a:tableStyleId>{5C22544A-7EE6-4342-B048-85BDC9FD1C3A}</a:tableStyleId>
              </a:tblPr>
              <a:tblGrid>
                <a:gridCol w="3749039"/>
                <a:gridCol w="1874519"/>
              </a:tblGrid>
              <a:tr h="502920">
                <a:tc>
                  <a:txBody>
                    <a:bodyPr wrap="square"/>
                    <a:lstStyle/>
                    <a:p>
                      <a:r>
                        <a:rPr sz="1300" b="1" i="0">
                          <a:solidFill>
                            <a:srgbClr val="FFFFFF"/>
                          </a:solidFill>
                          <a:latin typeface="Calibri"/>
                        </a:rPr>
                        <a:t>Stage 2 check</a:t>
                      </a:r>
                    </a:p>
                  </a:txBody>
                  <a:tcPr marL="64008" marR="64008" marT="27432" marB="27432" anchor="ctr">
                    <a:solidFill>
                      <a:srgbClr val="0000DC"/>
                    </a:solidFill>
                  </a:tcPr>
                </a:tc>
                <a:tc>
                  <a:txBody>
                    <a:bodyPr wrap="square"/>
                    <a:lstStyle/>
                    <a:p>
                      <a:r>
                        <a:rPr sz="1300" b="1" i="0">
                          <a:solidFill>
                            <a:srgbClr val="FFFFFF"/>
                          </a:solidFill>
                          <a:latin typeface="Calibri"/>
                        </a:rPr>
                        <a:t>Result</a:t>
                      </a:r>
                    </a:p>
                  </a:txBody>
                  <a:tcPr marL="64008" marR="64008" marT="27432" marB="27432" anchor="ctr">
                    <a:solidFill>
                      <a:srgbClr val="0000DC"/>
                    </a:solidFill>
                  </a:tcPr>
                </a:tc>
              </a:tr>
              <a:tr h="502920">
                <a:tc>
                  <a:txBody>
                    <a:bodyPr wrap="square"/>
                    <a:lstStyle/>
                    <a:p>
                      <a:r>
                        <a:rPr sz="1300" b="0" i="0">
                          <a:solidFill>
                            <a:srgbClr val="000000"/>
                          </a:solidFill>
                          <a:latin typeface="Calibri"/>
                        </a:rPr>
                        <a:t>Library files installed</a:t>
                      </a:r>
                    </a:p>
                  </a:txBody>
                  <a:tcPr marL="64008" marR="64008" marT="27432" marB="27432" anchor="ctr">
                    <a:solidFill>
                      <a:srgbClr val="F2F2FD"/>
                    </a:solidFill>
                  </a:tcPr>
                </a:tc>
                <a:tc>
                  <a:txBody>
                    <a:bodyPr wrap="square"/>
                    <a:lstStyle/>
                    <a:p>
                      <a:r>
                        <a:rPr sz="1300" b="0" i="0">
                          <a:solidFill>
                            <a:srgbClr val="000000"/>
                          </a:solidFill>
                          <a:latin typeface="Calibri"/>
                        </a:rPr>
                        <a:t>ok</a:t>
                      </a:r>
                    </a:p>
                  </a:txBody>
                  <a:tcPr marL="64008" marR="64008" marT="27432" marB="27432" anchor="ctr">
                    <a:solidFill>
                      <a:srgbClr val="F2F2FD"/>
                    </a:solidFill>
                  </a:tcPr>
                </a:tc>
              </a:tr>
              <a:tr h="502920">
                <a:tc>
                  <a:txBody>
                    <a:bodyPr wrap="square"/>
                    <a:lstStyle/>
                    <a:p>
                      <a:r>
                        <a:rPr sz="1300" b="0" i="0">
                          <a:solidFill>
                            <a:srgbClr val="000000"/>
                          </a:solidFill>
                          <a:latin typeface="Calibri"/>
                        </a:rPr>
                        <a:t>Verisign test suite (mtltest)</a:t>
                      </a:r>
                    </a:p>
                  </a:txBody>
                  <a:tcPr marL="64008" marR="64008" marT="27432" marB="27432" anchor="ctr">
                    <a:solidFill>
                      <a:srgbClr val="FFFFFF"/>
                    </a:solidFill>
                  </a:tcPr>
                </a:tc>
                <a:tc>
                  <a:txBody>
                    <a:bodyPr wrap="square"/>
                    <a:lstStyle/>
                    <a:p>
                      <a:r>
                        <a:rPr sz="1300" b="0" i="0">
                          <a:solidFill>
                            <a:srgbClr val="000000"/>
                          </a:solidFill>
                          <a:latin typeface="Calibri"/>
                        </a:rPr>
                        <a:t>89 passed, 0 failed</a:t>
                      </a:r>
                    </a:p>
                  </a:txBody>
                  <a:tcPr marL="64008" marR="64008" marT="27432" marB="27432" anchor="ctr">
                    <a:solidFill>
                      <a:srgbClr val="FFFFFF"/>
                    </a:solidFill>
                  </a:tcPr>
                </a:tc>
              </a:tr>
              <a:tr h="502920">
                <a:tc>
                  <a:txBody>
                    <a:bodyPr wrap="square"/>
                    <a:lstStyle/>
                    <a:p>
                      <a:r>
                        <a:rPr sz="1300" b="0" i="0">
                          <a:solidFill>
                            <a:srgbClr val="000000"/>
                          </a:solidFill>
                          <a:latin typeface="Calibri"/>
                        </a:rPr>
                        <a:t>mtlkeygen → mtlsign → mtlverify, 16 msgs + 1 tampered</a:t>
                      </a:r>
                    </a:p>
                  </a:txBody>
                  <a:tcPr marL="64008" marR="64008" marT="27432" marB="27432" anchor="ctr">
                    <a:solidFill>
                      <a:srgbClr val="F2F2FD"/>
                    </a:solidFill>
                  </a:tcPr>
                </a:tc>
                <a:tc>
                  <a:txBody>
                    <a:bodyPr wrap="square"/>
                    <a:lstStyle/>
                    <a:p>
                      <a:r>
                        <a:rPr sz="1300" b="0" i="0">
                          <a:solidFill>
                            <a:srgbClr val="000000"/>
                          </a:solidFill>
                          <a:latin typeface="Calibri"/>
                        </a:rPr>
                        <a:t>all verified, tamper rejected</a:t>
                      </a:r>
                    </a:p>
                  </a:txBody>
                  <a:tcPr marL="64008" marR="64008" marT="27432" marB="27432" anchor="ctr">
                    <a:solidFill>
                      <a:srgbClr val="F2F2FD"/>
                    </a:solidFill>
                  </a:tcPr>
                </a:tc>
              </a:tr>
              <a:tr h="502920">
                <a:tc>
                  <a:txBody>
                    <a:bodyPr wrap="square"/>
                    <a:lstStyle/>
                    <a:p>
                      <a:r>
                        <a:rPr sz="1300" b="0" i="0">
                          <a:solidFill>
                            <a:srgbClr val="000000"/>
                          </a:solidFill>
                          <a:latin typeface="Calibri"/>
                        </a:rPr>
                        <a:t>mtlbench smoke test, 6-name zone, 5 modes</a:t>
                      </a:r>
                    </a:p>
                  </a:txBody>
                  <a:tcPr marL="64008" marR="64008" marT="27432" marB="27432" anchor="ctr">
                    <a:solidFill>
                      <a:srgbClr val="FFFFFF"/>
                    </a:solidFill>
                  </a:tcPr>
                </a:tc>
                <a:tc>
                  <a:txBody>
                    <a:bodyPr wrap="square"/>
                    <a:lstStyle/>
                    <a:p>
                      <a:r>
                        <a:rPr sz="1300" b="0" i="0">
                          <a:solidFill>
                            <a:srgbClr val="000000"/>
                          </a:solidFill>
                          <a:latin typeface="Calibri"/>
                        </a:rPr>
                        <a:t>all pass, tamper rejected</a:t>
                      </a:r>
                    </a:p>
                  </a:txBody>
                  <a:tcPr marL="64008" marR="64008" marT="27432" marB="27432" anchor="ctr">
                    <a:solidFill>
                      <a:srgbClr val="FFFFFF"/>
                    </a:solidFill>
                  </a:tcPr>
                </a:tc>
              </a:tr>
              <a:tr h="502920">
                <a:tc>
                  <a:txBody>
                    <a:bodyPr wrap="square"/>
                    <a:lstStyle/>
                    <a:p>
                      <a:r>
                        <a:rPr sz="1300" b="0" i="0">
                          <a:solidFill>
                            <a:srgbClr val="000000"/>
                          </a:solidFill>
                          <a:latin typeface="Calibri"/>
                        </a:rPr>
                        <a:t>Bundled vector scheme (warning only)</a:t>
                      </a:r>
                    </a:p>
                  </a:txBody>
                  <a:tcPr marL="64008" marR="64008" marT="27432" marB="27432" anchor="ctr">
                    <a:solidFill>
                      <a:srgbClr val="F2F2FD"/>
                    </a:solidFill>
                  </a:tcPr>
                </a:tc>
                <a:tc>
                  <a:txBody>
                    <a:bodyPr wrap="square"/>
                    <a:lstStyle/>
                    <a:p>
                      <a:r>
                        <a:rPr sz="1300" b="0" i="0">
                          <a:solidFill>
                            <a:srgbClr val="000000"/>
                          </a:solidFill>
                          <a:latin typeface="Calibri"/>
                        </a:rPr>
                        <a:t>ML-DSA-44-MTL</a:t>
                      </a:r>
                    </a:p>
                  </a:txBody>
                  <a:tcPr marL="64008" marR="64008" marT="27432" marB="27432" anchor="ctr">
                    <a:solidFill>
                      <a:srgbClr val="F2F2FD"/>
                    </a:solidFill>
                  </a:tcPr>
                </a:tc>
              </a:tr>
              <a:tr h="502920">
                <a:tc>
                  <a:txBody>
                    <a:bodyPr wrap="square"/>
                    <a:lstStyle/>
                    <a:p>
                      <a:r>
                        <a:rPr sz="1300" b="1" i="0">
                          <a:solidFill>
                            <a:srgbClr val="000000"/>
                          </a:solidFill>
                          <a:latin typeface="Calibri"/>
                        </a:rPr>
                        <a:t>Verdict</a:t>
                      </a:r>
                    </a:p>
                  </a:txBody>
                  <a:tcPr marL="64008" marR="64008" marT="27432" marB="27432" anchor="ctr">
                    <a:solidFill>
                      <a:srgbClr val="FFFFFF"/>
                    </a:solidFill>
                  </a:tcPr>
                </a:tc>
                <a:tc>
                  <a:txBody>
                    <a:bodyPr wrap="square"/>
                    <a:lstStyle/>
                    <a:p>
                      <a:r>
                        <a:rPr sz="1300" b="1" i="0">
                          <a:solidFill>
                            <a:srgbClr val="000000"/>
                          </a:solidFill>
                          <a:latin typeface="Calibri"/>
                        </a:rPr>
                        <a:t>GO</a:t>
                      </a:r>
                    </a:p>
                  </a:txBody>
                  <a:tcPr marL="64008" marR="64008" marT="27432" marB="27432" anchor="ctr">
                    <a:solidFill>
                      <a:srgbClr val="FFFFFF"/>
                    </a:solidFill>
                  </a:tcPr>
                </a:tc>
              </a:tr>
            </a:tbl>
          </a:graphicData>
        </a:graphic>
      </p:graphicFrame>
      <p:sp>
        <p:nvSpPr>
          <p:cNvPr id="9" name="TextBox 8"/>
          <p:cNvSpPr txBox="1"/>
          <p:nvPr/>
        </p:nvSpPr>
        <p:spPr>
          <a:xfrm>
            <a:off x="6035040" y="5257800"/>
            <a:ext cx="5623560" cy="731520"/>
          </a:xfrm>
          <a:prstGeom prst="rect">
            <a:avLst/>
          </a:prstGeom>
          <a:noFill/>
        </p:spPr>
        <p:txBody>
          <a:bodyPr wrap="square" anchor="t" lIns="0" rIns="0" tIns="0" bIns="0">
            <a:spAutoFit/>
          </a:bodyPr>
          <a:lstStyle/>
          <a:p>
            <a:pPr algn="l"/>
            <a:r>
              <a:rPr sz="1250" b="0" i="0">
                <a:solidFill>
                  <a:srgbClr val="555555"/>
                </a:solidFill>
                <a:latin typeface="Calibri"/>
              </a:rPr>
              <a:t>NO-GO on any critical check → the run prints the verdict and stops with exit code 3. No benchmark numbers are produced (PS-036: defer).</a:t>
            </a:r>
          </a:p>
        </p:txBody>
      </p:sp>
      <p:sp>
        <p:nvSpPr>
          <p:cNvPr id="10" name="TextBox 9"/>
          <p:cNvSpPr txBox="1"/>
          <p:nvPr/>
        </p:nvSpPr>
        <p:spPr>
          <a:xfrm>
            <a:off x="539496" y="6510528"/>
            <a:ext cx="7315200" cy="274320"/>
          </a:xfrm>
          <a:prstGeom prst="rect">
            <a:avLst/>
          </a:prstGeom>
          <a:noFill/>
        </p:spPr>
        <p:txBody>
          <a:bodyPr wrap="square" anchor="t" lIns="0" rIns="0" tIns="0" bIns="0">
            <a:spAutoFit/>
          </a:bodyPr>
          <a:lstStyle/>
          <a:p>
            <a:pPr algn="l"/>
            <a:r>
              <a:rPr sz="1200" b="0" i="0">
                <a:solidFill>
                  <a:srgbClr val="0000DC"/>
                </a:solidFill>
                <a:latin typeface="Calibri"/>
              </a:rPr>
              <a:t>A. Joshi  •  </a:t>
            </a:r>
            <a:r>
              <a:rPr sz="1200" b="1" i="0">
                <a:solidFill>
                  <a:srgbClr val="0000DC"/>
                </a:solidFill>
                <a:latin typeface="Calibri"/>
              </a:rPr>
              <a:t>A3-PS036-TC161</a:t>
            </a:r>
            <a:r>
              <a:rPr sz="1200" b="0" i="0">
                <a:solidFill>
                  <a:srgbClr val="0000DC"/>
                </a:solidFill>
                <a:latin typeface="Calibri"/>
              </a:rPr>
              <a:t>  •  October 8, 2026</a:t>
            </a:r>
          </a:p>
        </p:txBody>
      </p:sp>
      <p:sp>
        <p:nvSpPr>
          <p:cNvPr id="11" name="TextBox 10"/>
          <p:cNvSpPr txBox="1"/>
          <p:nvPr/>
        </p:nvSpPr>
        <p:spPr>
          <a:xfrm>
            <a:off x="9601200" y="6510528"/>
            <a:ext cx="2057400" cy="274320"/>
          </a:xfrm>
          <a:prstGeom prst="rect">
            <a:avLst/>
          </a:prstGeom>
          <a:noFill/>
        </p:spPr>
        <p:txBody>
          <a:bodyPr wrap="square" anchor="t" lIns="0" rIns="0" tIns="0" bIns="0">
            <a:spAutoFit/>
          </a:bodyPr>
          <a:lstStyle/>
          <a:p>
            <a:pPr algn="r"/>
            <a:r>
              <a:rPr sz="1200" b="0" i="0">
                <a:solidFill>
                  <a:srgbClr val="0000DC"/>
                </a:solidFill>
                <a:latin typeface="Calibri"/>
              </a:rPr>
              <a:t>10 / 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6080" y="73152"/>
            <a:ext cx="3200400" cy="274320"/>
          </a:xfrm>
          <a:prstGeom prst="rect">
            <a:avLst/>
          </a:prstGeom>
          <a:noFill/>
        </p:spPr>
        <p:txBody>
          <a:bodyPr wrap="square" anchor="t" lIns="0" rIns="0" tIns="0" bIns="0">
            <a:spAutoFit/>
          </a:bodyPr>
          <a:lstStyle/>
          <a:p>
            <a:pPr algn="r"/>
            <a:r>
              <a:rPr sz="1200" b="1" i="0">
                <a:solidFill>
                  <a:srgbClr val="0000DC"/>
                </a:solidFill>
                <a:latin typeface="Calibri"/>
              </a:rPr>
              <a:t>AIORI 3</a:t>
            </a:r>
          </a:p>
        </p:txBody>
      </p:sp>
      <p:sp>
        <p:nvSpPr>
          <p:cNvPr id="3" name="TextBox 2"/>
          <p:cNvSpPr txBox="1"/>
          <p:nvPr/>
        </p:nvSpPr>
        <p:spPr>
          <a:xfrm>
            <a:off x="6263640" y="73152"/>
            <a:ext cx="5486400" cy="274320"/>
          </a:xfrm>
          <a:prstGeom prst="rect">
            <a:avLst/>
          </a:prstGeom>
          <a:noFill/>
        </p:spPr>
        <p:txBody>
          <a:bodyPr wrap="square" anchor="t" lIns="0" rIns="0" tIns="0" bIns="0">
            <a:spAutoFit/>
          </a:bodyPr>
          <a:lstStyle/>
          <a:p>
            <a:pPr algn="l"/>
            <a:r>
              <a:rPr sz="1200" b="1" i="0">
                <a:solidFill>
                  <a:srgbClr val="0000DC"/>
                </a:solidFill>
                <a:latin typeface="Calibri"/>
              </a:rPr>
              <a:t>Stage 3</a:t>
            </a:r>
          </a:p>
        </p:txBody>
      </p:sp>
      <p:sp>
        <p:nvSpPr>
          <p:cNvPr id="4" name="TextBox 3"/>
          <p:cNvSpPr txBox="1"/>
          <p:nvPr/>
        </p:nvSpPr>
        <p:spPr>
          <a:xfrm>
            <a:off x="539496" y="384048"/>
            <a:ext cx="11109960" cy="548640"/>
          </a:xfrm>
          <a:prstGeom prst="rect">
            <a:avLst/>
          </a:prstGeom>
          <a:noFill/>
        </p:spPr>
        <p:txBody>
          <a:bodyPr wrap="square" anchor="t" lIns="0" rIns="0" tIns="0" bIns="0">
            <a:spAutoFit/>
          </a:bodyPr>
          <a:lstStyle/>
          <a:p>
            <a:pPr algn="l"/>
            <a:r>
              <a:rPr sz="3000" b="1" i="0">
                <a:solidFill>
                  <a:srgbClr val="0000DC"/>
                </a:solidFill>
                <a:latin typeface="Calibri"/>
              </a:rPr>
              <a:t>Stage 3: zones and signing inputs</a:t>
            </a:r>
          </a:p>
        </p:txBody>
      </p:sp>
      <p:sp>
        <p:nvSpPr>
          <p:cNvPr id="5" name="TextBox 4"/>
          <p:cNvSpPr txBox="1"/>
          <p:nvPr/>
        </p:nvSpPr>
        <p:spPr>
          <a:xfrm>
            <a:off x="539496" y="978408"/>
            <a:ext cx="11109960" cy="411480"/>
          </a:xfrm>
          <a:prstGeom prst="rect">
            <a:avLst/>
          </a:prstGeom>
          <a:noFill/>
        </p:spPr>
        <p:txBody>
          <a:bodyPr wrap="square" anchor="t" lIns="0" rIns="0" tIns="0" bIns="0">
            <a:spAutoFit/>
          </a:bodyPr>
          <a:lstStyle/>
          <a:p>
            <a:pPr algn="l"/>
            <a:r>
              <a:rPr sz="1700" b="1" i="0">
                <a:solidFill>
                  <a:srgbClr val="000000"/>
                </a:solidFill>
                <a:latin typeface="Calibri"/>
              </a:rPr>
              <a:t>Deterministic DNS zones, then the exact bytes each signature must cover (RFC 4034 §3.1.8.1).</a:t>
            </a:r>
          </a:p>
        </p:txBody>
      </p:sp>
      <p:graphicFrame>
        <p:nvGraphicFramePr>
          <p:cNvPr id="6" name="Table 5"/>
          <p:cNvGraphicFramePr>
            <a:graphicFrameLocks noGrp="1"/>
          </p:cNvGraphicFramePr>
          <p:nvPr/>
        </p:nvGraphicFramePr>
        <p:xfrm>
          <a:off x="539496" y="1600200"/>
          <a:ext cx="6720840" cy="1645920"/>
        </p:xfrm>
        <a:graphic>
          <a:graphicData uri="http://schemas.openxmlformats.org/drawingml/2006/table">
            <a:tbl>
              <a:tblPr firstRow="1" bandRow="1">
                <a:tableStyleId>{5C22544A-7EE6-4342-B048-85BDC9FD1C3A}</a:tableStyleId>
              </a:tblPr>
              <a:tblGrid>
                <a:gridCol w="1097280"/>
                <a:gridCol w="822960"/>
                <a:gridCol w="868680"/>
                <a:gridCol w="731520"/>
                <a:gridCol w="777240"/>
                <a:gridCol w="868680"/>
                <a:gridCol w="777240"/>
                <a:gridCol w="777240"/>
              </a:tblGrid>
              <a:tr h="411480">
                <a:tc>
                  <a:txBody>
                    <a:bodyPr wrap="square"/>
                    <a:lstStyle/>
                    <a:p>
                      <a:r>
                        <a:rPr sz="1350" b="1" i="0">
                          <a:solidFill>
                            <a:srgbClr val="FFFFFF"/>
                          </a:solidFill>
                          <a:latin typeface="Calibri"/>
                        </a:rPr>
                        <a:t>Zone</a:t>
                      </a:r>
                    </a:p>
                  </a:txBody>
                  <a:tcPr marL="64008" marR="64008" marT="27432" marB="27432" anchor="ctr">
                    <a:solidFill>
                      <a:srgbClr val="0000DC"/>
                    </a:solidFill>
                  </a:tcPr>
                </a:tc>
                <a:tc>
                  <a:txBody>
                    <a:bodyPr wrap="square"/>
                    <a:lstStyle/>
                    <a:p>
                      <a:r>
                        <a:rPr sz="1350" b="1" i="0">
                          <a:solidFill>
                            <a:srgbClr val="FFFFFF"/>
                          </a:solidFill>
                          <a:latin typeface="Calibri"/>
                        </a:rPr>
                        <a:t>Names</a:t>
                      </a:r>
                    </a:p>
                  </a:txBody>
                  <a:tcPr marL="64008" marR="64008" marT="27432" marB="27432" anchor="ctr">
                    <a:solidFill>
                      <a:srgbClr val="0000DC"/>
                    </a:solidFill>
                  </a:tcPr>
                </a:tc>
                <a:tc>
                  <a:txBody>
                    <a:bodyPr wrap="square"/>
                    <a:lstStyle/>
                    <a:p>
                      <a:r>
                        <a:rPr sz="1350" b="1" i="0">
                          <a:solidFill>
                            <a:srgbClr val="FFFFFF"/>
                          </a:solidFill>
                          <a:latin typeface="Calibri"/>
                        </a:rPr>
                        <a:t>RRsets</a:t>
                      </a:r>
                    </a:p>
                  </a:txBody>
                  <a:tcPr marL="64008" marR="64008" marT="27432" marB="27432" anchor="ctr">
                    <a:solidFill>
                      <a:srgbClr val="0000DC"/>
                    </a:solidFill>
                  </a:tcPr>
                </a:tc>
                <a:tc>
                  <a:txBody>
                    <a:bodyPr wrap="square"/>
                    <a:lstStyle/>
                    <a:p>
                      <a:r>
                        <a:rPr sz="1350" b="1" i="0">
                          <a:solidFill>
                            <a:srgbClr val="FFFFFF"/>
                          </a:solidFill>
                          <a:latin typeface="Calibri"/>
                        </a:rPr>
                        <a:t>apex</a:t>
                      </a:r>
                    </a:p>
                  </a:txBody>
                  <a:tcPr marL="64008" marR="64008" marT="27432" marB="27432" anchor="ctr">
                    <a:solidFill>
                      <a:srgbClr val="0000DC"/>
                    </a:solidFill>
                  </a:tcPr>
                </a:tc>
                <a:tc>
                  <a:txBody>
                    <a:bodyPr wrap="square"/>
                    <a:lstStyle/>
                    <a:p>
                      <a:r>
                        <a:rPr sz="1350" b="1" i="0">
                          <a:solidFill>
                            <a:srgbClr val="FFFFFF"/>
                          </a:solidFill>
                          <a:latin typeface="Calibri"/>
                        </a:rPr>
                        <a:t>small</a:t>
                      </a:r>
                    </a:p>
                  </a:txBody>
                  <a:tcPr marL="64008" marR="64008" marT="27432" marB="27432" anchor="ctr">
                    <a:solidFill>
                      <a:srgbClr val="0000DC"/>
                    </a:solidFill>
                  </a:tcPr>
                </a:tc>
                <a:tc>
                  <a:txBody>
                    <a:bodyPr wrap="square"/>
                    <a:lstStyle/>
                    <a:p>
                      <a:r>
                        <a:rPr sz="1350" b="1" i="0">
                          <a:solidFill>
                            <a:srgbClr val="FFFFFF"/>
                          </a:solidFill>
                          <a:latin typeface="Calibri"/>
                        </a:rPr>
                        <a:t>medium</a:t>
                      </a:r>
                    </a:p>
                  </a:txBody>
                  <a:tcPr marL="64008" marR="64008" marT="27432" marB="27432" anchor="ctr">
                    <a:solidFill>
                      <a:srgbClr val="0000DC"/>
                    </a:solidFill>
                  </a:tcPr>
                </a:tc>
                <a:tc>
                  <a:txBody>
                    <a:bodyPr wrap="square"/>
                    <a:lstStyle/>
                    <a:p>
                      <a:r>
                        <a:rPr sz="1350" b="1" i="0">
                          <a:solidFill>
                            <a:srgbClr val="FFFFFF"/>
                          </a:solidFill>
                          <a:latin typeface="Calibri"/>
                        </a:rPr>
                        <a:t>large</a:t>
                      </a:r>
                    </a:p>
                  </a:txBody>
                  <a:tcPr marL="64008" marR="64008" marT="27432" marB="27432" anchor="ctr">
                    <a:solidFill>
                      <a:srgbClr val="0000DC"/>
                    </a:solidFill>
                  </a:tcPr>
                </a:tc>
                <a:tc>
                  <a:txBody>
                    <a:bodyPr wrap="square"/>
                    <a:lstStyle/>
                    <a:p>
                      <a:r>
                        <a:rPr sz="1350" b="1" i="0">
                          <a:solidFill>
                            <a:srgbClr val="FFFFFF"/>
                          </a:solidFill>
                          <a:latin typeface="Calibri"/>
                        </a:rPr>
                        <a:t>NSEC3</a:t>
                      </a:r>
                    </a:p>
                  </a:txBody>
                  <a:tcPr marL="64008" marR="64008" marT="27432" marB="27432" anchor="ctr">
                    <a:solidFill>
                      <a:srgbClr val="0000DC"/>
                    </a:solidFill>
                  </a:tcPr>
                </a:tc>
              </a:tr>
              <a:tr h="411480">
                <a:tc>
                  <a:txBody>
                    <a:bodyPr wrap="square"/>
                    <a:lstStyle/>
                    <a:p>
                      <a:r>
                        <a:rPr sz="1350" b="0" i="0">
                          <a:solidFill>
                            <a:srgbClr val="000000"/>
                          </a:solidFill>
                          <a:latin typeface="Calibri"/>
                        </a:rPr>
                        <a:t>small</a:t>
                      </a:r>
                    </a:p>
                  </a:txBody>
                  <a:tcPr marL="64008" marR="64008" marT="27432" marB="27432" anchor="ctr">
                    <a:solidFill>
                      <a:srgbClr val="F2F2FD"/>
                    </a:solidFill>
                  </a:tcPr>
                </a:tc>
                <a:tc>
                  <a:txBody>
                    <a:bodyPr wrap="square"/>
                    <a:lstStyle/>
                    <a:p>
                      <a:r>
                        <a:rPr sz="1350" b="0" i="0">
                          <a:solidFill>
                            <a:srgbClr val="000000"/>
                          </a:solidFill>
                          <a:latin typeface="Calibri"/>
                        </a:rPr>
                        <a:t>20</a:t>
                      </a:r>
                    </a:p>
                  </a:txBody>
                  <a:tcPr marL="64008" marR="64008" marT="27432" marB="27432" anchor="ctr">
                    <a:solidFill>
                      <a:srgbClr val="F2F2FD"/>
                    </a:solidFill>
                  </a:tcPr>
                </a:tc>
                <a:tc>
                  <a:txBody>
                    <a:bodyPr wrap="square"/>
                    <a:lstStyle/>
                    <a:p>
                      <a:r>
                        <a:rPr sz="1350" b="0" i="0">
                          <a:solidFill>
                            <a:srgbClr val="000000"/>
                          </a:solidFill>
                          <a:latin typeface="Calibri"/>
                        </a:rPr>
                        <a:t>45</a:t>
                      </a:r>
                    </a:p>
                  </a:txBody>
                  <a:tcPr marL="64008" marR="64008" marT="27432" marB="27432" anchor="ctr">
                    <a:solidFill>
                      <a:srgbClr val="F2F2FD"/>
                    </a:solidFill>
                  </a:tcPr>
                </a:tc>
                <a:tc>
                  <a:txBody>
                    <a:bodyPr wrap="square"/>
                    <a:lstStyle/>
                    <a:p>
                      <a:r>
                        <a:rPr sz="1350" b="0" i="0">
                          <a:solidFill>
                            <a:srgbClr val="000000"/>
                          </a:solidFill>
                          <a:latin typeface="Calibri"/>
                        </a:rPr>
                        <a:t>4</a:t>
                      </a:r>
                    </a:p>
                  </a:txBody>
                  <a:tcPr marL="64008" marR="64008" marT="27432" marB="27432" anchor="ctr">
                    <a:solidFill>
                      <a:srgbClr val="F2F2FD"/>
                    </a:solidFill>
                  </a:tcPr>
                </a:tc>
                <a:tc>
                  <a:txBody>
                    <a:bodyPr wrap="square"/>
                    <a:lstStyle/>
                    <a:p>
                      <a:r>
                        <a:rPr sz="1350" b="0" i="0">
                          <a:solidFill>
                            <a:srgbClr val="000000"/>
                          </a:solidFill>
                          <a:latin typeface="Calibri"/>
                        </a:rPr>
                        <a:t>14</a:t>
                      </a:r>
                    </a:p>
                  </a:txBody>
                  <a:tcPr marL="64008" marR="64008" marT="27432" marB="27432" anchor="ctr">
                    <a:solidFill>
                      <a:srgbClr val="F2F2FD"/>
                    </a:solidFill>
                  </a:tcPr>
                </a:tc>
                <a:tc>
                  <a:txBody>
                    <a:bodyPr wrap="square"/>
                    <a:lstStyle/>
                    <a:p>
                      <a:r>
                        <a:rPr sz="1350" b="0" i="0">
                          <a:solidFill>
                            <a:srgbClr val="000000"/>
                          </a:solidFill>
                          <a:latin typeface="Calibri"/>
                        </a:rPr>
                        <a:t>3</a:t>
                      </a:r>
                    </a:p>
                  </a:txBody>
                  <a:tcPr marL="64008" marR="64008" marT="27432" marB="27432" anchor="ctr">
                    <a:solidFill>
                      <a:srgbClr val="F2F2FD"/>
                    </a:solidFill>
                  </a:tcPr>
                </a:tc>
                <a:tc>
                  <a:txBody>
                    <a:bodyPr wrap="square"/>
                    <a:lstStyle/>
                    <a:p>
                      <a:r>
                        <a:rPr sz="1350" b="0" i="0">
                          <a:solidFill>
                            <a:srgbClr val="000000"/>
                          </a:solidFill>
                          <a:latin typeface="Calibri"/>
                        </a:rPr>
                        <a:t>3</a:t>
                      </a:r>
                    </a:p>
                  </a:txBody>
                  <a:tcPr marL="64008" marR="64008" marT="27432" marB="27432" anchor="ctr">
                    <a:solidFill>
                      <a:srgbClr val="F2F2FD"/>
                    </a:solidFill>
                  </a:tcPr>
                </a:tc>
                <a:tc>
                  <a:txBody>
                    <a:bodyPr wrap="square"/>
                    <a:lstStyle/>
                    <a:p>
                      <a:r>
                        <a:rPr sz="1350" b="0" i="0">
                          <a:solidFill>
                            <a:srgbClr val="000000"/>
                          </a:solidFill>
                          <a:latin typeface="Calibri"/>
                        </a:rPr>
                        <a:t>21</a:t>
                      </a:r>
                    </a:p>
                  </a:txBody>
                  <a:tcPr marL="64008" marR="64008" marT="27432" marB="27432" anchor="ctr">
                    <a:solidFill>
                      <a:srgbClr val="F2F2FD"/>
                    </a:solidFill>
                  </a:tcPr>
                </a:tc>
              </a:tr>
              <a:tr h="411480">
                <a:tc>
                  <a:txBody>
                    <a:bodyPr wrap="square"/>
                    <a:lstStyle/>
                    <a:p>
                      <a:r>
                        <a:rPr sz="1350" b="0" i="0">
                          <a:solidFill>
                            <a:srgbClr val="000000"/>
                          </a:solidFill>
                          <a:latin typeface="Calibri"/>
                        </a:rPr>
                        <a:t>medium</a:t>
                      </a:r>
                    </a:p>
                  </a:txBody>
                  <a:tcPr marL="64008" marR="64008" marT="27432" marB="27432" anchor="ctr">
                    <a:solidFill>
                      <a:srgbClr val="FFFFFF"/>
                    </a:solidFill>
                  </a:tcPr>
                </a:tc>
                <a:tc>
                  <a:txBody>
                    <a:bodyPr wrap="square"/>
                    <a:lstStyle/>
                    <a:p>
                      <a:r>
                        <a:rPr sz="1350" b="0" i="0">
                          <a:solidFill>
                            <a:srgbClr val="000000"/>
                          </a:solidFill>
                          <a:latin typeface="Calibri"/>
                        </a:rPr>
                        <a:t>60</a:t>
                      </a:r>
                    </a:p>
                  </a:txBody>
                  <a:tcPr marL="64008" marR="64008" marT="27432" marB="27432" anchor="ctr">
                    <a:solidFill>
                      <a:srgbClr val="FFFFFF"/>
                    </a:solidFill>
                  </a:tcPr>
                </a:tc>
                <a:tc>
                  <a:txBody>
                    <a:bodyPr wrap="square"/>
                    <a:lstStyle/>
                    <a:p>
                      <a:r>
                        <a:rPr sz="1350" b="0" i="0">
                          <a:solidFill>
                            <a:srgbClr val="000000"/>
                          </a:solidFill>
                          <a:latin typeface="Calibri"/>
                        </a:rPr>
                        <a:t>125</a:t>
                      </a:r>
                    </a:p>
                  </a:txBody>
                  <a:tcPr marL="64008" marR="64008" marT="27432" marB="27432" anchor="ctr">
                    <a:solidFill>
                      <a:srgbClr val="FFFFFF"/>
                    </a:solidFill>
                  </a:tcPr>
                </a:tc>
                <a:tc>
                  <a:txBody>
                    <a:bodyPr wrap="square"/>
                    <a:lstStyle/>
                    <a:p>
                      <a:r>
                        <a:rPr sz="1350" b="0" i="0">
                          <a:solidFill>
                            <a:srgbClr val="000000"/>
                          </a:solidFill>
                          <a:latin typeface="Calibri"/>
                        </a:rPr>
                        <a:t>4</a:t>
                      </a:r>
                    </a:p>
                  </a:txBody>
                  <a:tcPr marL="64008" marR="64008" marT="27432" marB="27432" anchor="ctr">
                    <a:solidFill>
                      <a:srgbClr val="FFFFFF"/>
                    </a:solidFill>
                  </a:tcPr>
                </a:tc>
                <a:tc>
                  <a:txBody>
                    <a:bodyPr wrap="square"/>
                    <a:lstStyle/>
                    <a:p>
                      <a:r>
                        <a:rPr sz="1350" b="0" i="0">
                          <a:solidFill>
                            <a:srgbClr val="000000"/>
                          </a:solidFill>
                          <a:latin typeface="Calibri"/>
                        </a:rPr>
                        <a:t>32</a:t>
                      </a:r>
                    </a:p>
                  </a:txBody>
                  <a:tcPr marL="64008" marR="64008" marT="27432" marB="27432" anchor="ctr">
                    <a:solidFill>
                      <a:srgbClr val="FFFFFF"/>
                    </a:solidFill>
                  </a:tcPr>
                </a:tc>
                <a:tc>
                  <a:txBody>
                    <a:bodyPr wrap="square"/>
                    <a:lstStyle/>
                    <a:p>
                      <a:r>
                        <a:rPr sz="1350" b="0" i="0">
                          <a:solidFill>
                            <a:srgbClr val="000000"/>
                          </a:solidFill>
                          <a:latin typeface="Calibri"/>
                        </a:rPr>
                        <a:t>17</a:t>
                      </a:r>
                    </a:p>
                  </a:txBody>
                  <a:tcPr marL="64008" marR="64008" marT="27432" marB="27432" anchor="ctr">
                    <a:solidFill>
                      <a:srgbClr val="FFFFFF"/>
                    </a:solidFill>
                  </a:tcPr>
                </a:tc>
                <a:tc>
                  <a:txBody>
                    <a:bodyPr wrap="square"/>
                    <a:lstStyle/>
                    <a:p>
                      <a:r>
                        <a:rPr sz="1350" b="0" i="0">
                          <a:solidFill>
                            <a:srgbClr val="000000"/>
                          </a:solidFill>
                          <a:latin typeface="Calibri"/>
                        </a:rPr>
                        <a:t>11</a:t>
                      </a:r>
                    </a:p>
                  </a:txBody>
                  <a:tcPr marL="64008" marR="64008" marT="27432" marB="27432" anchor="ctr">
                    <a:solidFill>
                      <a:srgbClr val="FFFFFF"/>
                    </a:solidFill>
                  </a:tcPr>
                </a:tc>
                <a:tc>
                  <a:txBody>
                    <a:bodyPr wrap="square"/>
                    <a:lstStyle/>
                    <a:p>
                      <a:r>
                        <a:rPr sz="1350" b="0" i="0">
                          <a:solidFill>
                            <a:srgbClr val="000000"/>
                          </a:solidFill>
                          <a:latin typeface="Calibri"/>
                        </a:rPr>
                        <a:t>61</a:t>
                      </a:r>
                    </a:p>
                  </a:txBody>
                  <a:tcPr marL="64008" marR="64008" marT="27432" marB="27432" anchor="ctr">
                    <a:solidFill>
                      <a:srgbClr val="FFFFFF"/>
                    </a:solidFill>
                  </a:tcPr>
                </a:tc>
              </a:tr>
              <a:tr h="411480">
                <a:tc>
                  <a:txBody>
                    <a:bodyPr wrap="square"/>
                    <a:lstStyle/>
                    <a:p>
                      <a:r>
                        <a:rPr sz="1350" b="0" i="0">
                          <a:solidFill>
                            <a:srgbClr val="000000"/>
                          </a:solidFill>
                          <a:latin typeface="Calibri"/>
                        </a:rPr>
                        <a:t>large</a:t>
                      </a:r>
                    </a:p>
                  </a:txBody>
                  <a:tcPr marL="64008" marR="64008" marT="27432" marB="27432" anchor="ctr">
                    <a:solidFill>
                      <a:srgbClr val="F2F2FD"/>
                    </a:solidFill>
                  </a:tcPr>
                </a:tc>
                <a:tc>
                  <a:txBody>
                    <a:bodyPr wrap="square"/>
                    <a:lstStyle/>
                    <a:p>
                      <a:r>
                        <a:rPr sz="1350" b="0" i="0">
                          <a:solidFill>
                            <a:srgbClr val="000000"/>
                          </a:solidFill>
                          <a:latin typeface="Calibri"/>
                        </a:rPr>
                        <a:t>200</a:t>
                      </a:r>
                    </a:p>
                  </a:txBody>
                  <a:tcPr marL="64008" marR="64008" marT="27432" marB="27432" anchor="ctr">
                    <a:solidFill>
                      <a:srgbClr val="F2F2FD"/>
                    </a:solidFill>
                  </a:tcPr>
                </a:tc>
                <a:tc>
                  <a:txBody>
                    <a:bodyPr wrap="square"/>
                    <a:lstStyle/>
                    <a:p>
                      <a:r>
                        <a:rPr sz="1350" b="0" i="0">
                          <a:solidFill>
                            <a:srgbClr val="000000"/>
                          </a:solidFill>
                          <a:latin typeface="Calibri"/>
                        </a:rPr>
                        <a:t>405</a:t>
                      </a:r>
                    </a:p>
                  </a:txBody>
                  <a:tcPr marL="64008" marR="64008" marT="27432" marB="27432" anchor="ctr">
                    <a:solidFill>
                      <a:srgbClr val="F2F2FD"/>
                    </a:solidFill>
                  </a:tcPr>
                </a:tc>
                <a:tc>
                  <a:txBody>
                    <a:bodyPr wrap="square"/>
                    <a:lstStyle/>
                    <a:p>
                      <a:r>
                        <a:rPr sz="1350" b="0" i="0">
                          <a:solidFill>
                            <a:srgbClr val="000000"/>
                          </a:solidFill>
                          <a:latin typeface="Calibri"/>
                        </a:rPr>
                        <a:t>4</a:t>
                      </a:r>
                    </a:p>
                  </a:txBody>
                  <a:tcPr marL="64008" marR="64008" marT="27432" marB="27432" anchor="ctr">
                    <a:solidFill>
                      <a:srgbClr val="F2F2FD"/>
                    </a:solidFill>
                  </a:tcPr>
                </a:tc>
                <a:tc>
                  <a:txBody>
                    <a:bodyPr wrap="square"/>
                    <a:lstStyle/>
                    <a:p>
                      <a:r>
                        <a:rPr sz="1350" b="0" i="0">
                          <a:solidFill>
                            <a:srgbClr val="000000"/>
                          </a:solidFill>
                          <a:latin typeface="Calibri"/>
                        </a:rPr>
                        <a:t>117</a:t>
                      </a:r>
                    </a:p>
                  </a:txBody>
                  <a:tcPr marL="64008" marR="64008" marT="27432" marB="27432" anchor="ctr">
                    <a:solidFill>
                      <a:srgbClr val="F2F2FD"/>
                    </a:solidFill>
                  </a:tcPr>
                </a:tc>
                <a:tc>
                  <a:txBody>
                    <a:bodyPr wrap="square"/>
                    <a:lstStyle/>
                    <a:p>
                      <a:r>
                        <a:rPr sz="1350" b="0" i="0">
                          <a:solidFill>
                            <a:srgbClr val="000000"/>
                          </a:solidFill>
                          <a:latin typeface="Calibri"/>
                        </a:rPr>
                        <a:t>70</a:t>
                      </a:r>
                    </a:p>
                  </a:txBody>
                  <a:tcPr marL="64008" marR="64008" marT="27432" marB="27432" anchor="ctr">
                    <a:solidFill>
                      <a:srgbClr val="F2F2FD"/>
                    </a:solidFill>
                  </a:tcPr>
                </a:tc>
                <a:tc>
                  <a:txBody>
                    <a:bodyPr wrap="square"/>
                    <a:lstStyle/>
                    <a:p>
                      <a:r>
                        <a:rPr sz="1350" b="0" i="0">
                          <a:solidFill>
                            <a:srgbClr val="000000"/>
                          </a:solidFill>
                          <a:latin typeface="Calibri"/>
                        </a:rPr>
                        <a:t>13</a:t>
                      </a:r>
                    </a:p>
                  </a:txBody>
                  <a:tcPr marL="64008" marR="64008" marT="27432" marB="27432" anchor="ctr">
                    <a:solidFill>
                      <a:srgbClr val="F2F2FD"/>
                    </a:solidFill>
                  </a:tcPr>
                </a:tc>
                <a:tc>
                  <a:txBody>
                    <a:bodyPr wrap="square"/>
                    <a:lstStyle/>
                    <a:p>
                      <a:r>
                        <a:rPr sz="1350" b="0" i="0">
                          <a:solidFill>
                            <a:srgbClr val="000000"/>
                          </a:solidFill>
                          <a:latin typeface="Calibri"/>
                        </a:rPr>
                        <a:t>201</a:t>
                      </a:r>
                    </a:p>
                  </a:txBody>
                  <a:tcPr marL="64008" marR="64008" marT="27432" marB="27432" anchor="ctr">
                    <a:solidFill>
                      <a:srgbClr val="F2F2FD"/>
                    </a:solidFill>
                  </a:tcPr>
                </a:tc>
              </a:tr>
            </a:tbl>
          </a:graphicData>
        </a:graphic>
      </p:graphicFrame>
      <p:sp>
        <p:nvSpPr>
          <p:cNvPr id="7" name="TextBox 6"/>
          <p:cNvSpPr txBox="1"/>
          <p:nvPr/>
        </p:nvSpPr>
        <p:spPr>
          <a:xfrm>
            <a:off x="7543800" y="1600200"/>
            <a:ext cx="4114800" cy="2011680"/>
          </a:xfrm>
          <a:prstGeom prst="rect">
            <a:avLst/>
          </a:prstGeom>
          <a:noFill/>
        </p:spPr>
        <p:txBody>
          <a:bodyPr wrap="square" anchor="t" lIns="0" rIns="0" tIns="0" bIns="0">
            <a:spAutoFit/>
          </a:bodyPr>
          <a:lstStyle/>
          <a:p>
            <a:pPr algn="l" marL="274320" indent="-274320">
              <a:buClr>
                <a:srgbClr val="0000DC"/>
              </a:buClr>
              <a:buFont typeface="Arial"/>
              <a:buChar char="•"/>
            </a:pPr>
            <a:r>
              <a:rPr sz="1350" b="0" i="0">
                <a:solidFill>
                  <a:srgbClr val="000000"/>
                </a:solidFill>
                <a:latin typeface="Calibri"/>
              </a:rPr>
              <a:t>Zone </a:t>
            </a:r>
            <a:r>
              <a:rPr sz="1350" b="1" i="0">
                <a:solidFill>
                  <a:srgbClr val="000000"/>
                </a:solidFill>
                <a:latin typeface="Calibri"/>
              </a:rPr>
              <a:t>bench.example.</a:t>
            </a:r>
            <a:r>
              <a:rPr sz="1350" b="0" i="0">
                <a:solidFill>
                  <a:srgbClr val="000000"/>
                </a:solidFill>
                <a:latin typeface="Calibri"/>
              </a:rPr>
              <a:t>, seed + dataset index</a:t>
            </a:r>
          </a:p>
          <a:p>
            <a:pPr algn="l" marL="274320" indent="-274320">
              <a:spcBef>
                <a:spcPts val="500"/>
              </a:spcBef>
              <a:buClr>
                <a:srgbClr val="0000DC"/>
              </a:buClr>
              <a:buFont typeface="Arial"/>
              <a:buChar char="•"/>
            </a:pPr>
            <a:r>
              <a:rPr sz="1350" b="1" i="0">
                <a:solidFill>
                  <a:srgbClr val="000000"/>
                </a:solidFill>
                <a:latin typeface="Calibri"/>
              </a:rPr>
              <a:t>small</a:t>
            </a:r>
            <a:r>
              <a:rPr sz="1350" b="0" i="0">
                <a:solidFill>
                  <a:srgbClr val="000000"/>
                </a:solidFill>
                <a:latin typeface="Calibri"/>
              </a:rPr>
              <a:t> 60%: one A / AAAA · </a:t>
            </a:r>
            <a:r>
              <a:rPr sz="1350" b="1" i="0">
                <a:solidFill>
                  <a:srgbClr val="000000"/>
                </a:solidFill>
                <a:latin typeface="Calibri"/>
              </a:rPr>
              <a:t>medium</a:t>
            </a:r>
            <a:r>
              <a:rPr sz="1350" b="0" i="0">
                <a:solidFill>
                  <a:srgbClr val="000000"/>
                </a:solidFill>
                <a:latin typeface="Calibri"/>
              </a:rPr>
              <a:t> 30%: 3 MX or 4 AAAA · </a:t>
            </a:r>
            <a:r>
              <a:rPr sz="1350" b="1" i="0">
                <a:solidFill>
                  <a:srgbClr val="000000"/>
                </a:solidFill>
                <a:latin typeface="Calibri"/>
              </a:rPr>
              <a:t>large</a:t>
            </a:r>
            <a:r>
              <a:rPr sz="1350" b="0" i="0">
                <a:solidFill>
                  <a:srgbClr val="000000"/>
                </a:solidFill>
                <a:latin typeface="Calibri"/>
              </a:rPr>
              <a:t> 10%: TXT 1–2 KB</a:t>
            </a:r>
          </a:p>
          <a:p>
            <a:pPr algn="l" marL="274320" indent="-274320">
              <a:spcBef>
                <a:spcPts val="500"/>
              </a:spcBef>
              <a:buClr>
                <a:srgbClr val="0000DC"/>
              </a:buClr>
              <a:buFont typeface="Arial"/>
              <a:buChar char="•"/>
            </a:pPr>
            <a:r>
              <a:rPr sz="1350" b="0" i="0">
                <a:solidFill>
                  <a:srgbClr val="000000"/>
                </a:solidFill>
                <a:latin typeface="Calibri"/>
              </a:rPr>
              <a:t>RRsets = 2 × names + 5 (4 apex, 1 per name, NSEC3 chain)</a:t>
            </a:r>
          </a:p>
        </p:txBody>
      </p:sp>
      <p:sp>
        <p:nvSpPr>
          <p:cNvPr id="8" name="TextBox 7"/>
          <p:cNvSpPr txBox="1"/>
          <p:nvPr/>
        </p:nvSpPr>
        <p:spPr>
          <a:xfrm>
            <a:off x="539496" y="3520440"/>
            <a:ext cx="11109960" cy="320040"/>
          </a:xfrm>
          <a:prstGeom prst="rect">
            <a:avLst/>
          </a:prstGeom>
          <a:noFill/>
        </p:spPr>
        <p:txBody>
          <a:bodyPr wrap="square" anchor="t" lIns="0" rIns="0" tIns="0" bIns="0">
            <a:spAutoFit/>
          </a:bodyPr>
          <a:lstStyle/>
          <a:p>
            <a:pPr algn="l"/>
            <a:r>
              <a:rPr sz="1600" b="1" i="0">
                <a:solidFill>
                  <a:srgbClr val="0000DC"/>
                </a:solidFill>
                <a:latin typeface="Calibri"/>
              </a:rPr>
              <a:t>One signing input (here host000000 A, 73 bytes)</a:t>
            </a:r>
          </a:p>
        </p:txBody>
      </p:sp>
      <p:sp>
        <p:nvSpPr>
          <p:cNvPr id="9" name="Rectangle 8"/>
          <p:cNvSpPr/>
          <p:nvPr/>
        </p:nvSpPr>
        <p:spPr>
          <a:xfrm>
            <a:off x="539496" y="3931920"/>
            <a:ext cx="548640" cy="566928"/>
          </a:xfrm>
          <a:prstGeom prst="rect">
            <a:avLst/>
          </a:prstGeom>
          <a:solidFill>
            <a:srgbClr val="E3E3FA"/>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0" i="0">
                <a:solidFill>
                  <a:srgbClr val="000000"/>
                </a:solidFill>
                <a:latin typeface="Calibri"/>
              </a:rPr>
              <a:t>type</a:t>
            </a:r>
          </a:p>
          <a:p>
            <a:pPr algn="ctr"/>
            <a:r>
              <a:rPr sz="900" b="0" i="0">
                <a:solidFill>
                  <a:srgbClr val="555555"/>
                </a:solidFill>
                <a:latin typeface="Calibri"/>
              </a:rPr>
              <a:t>2 B</a:t>
            </a:r>
          </a:p>
        </p:txBody>
      </p:sp>
      <p:sp>
        <p:nvSpPr>
          <p:cNvPr id="10" name="Rectangle 9"/>
          <p:cNvSpPr/>
          <p:nvPr/>
        </p:nvSpPr>
        <p:spPr>
          <a:xfrm>
            <a:off x="1088136" y="3931920"/>
            <a:ext cx="548640" cy="566928"/>
          </a:xfrm>
          <a:prstGeom prst="rect">
            <a:avLst/>
          </a:prstGeom>
          <a:solidFill>
            <a:srgbClr val="E3E3FA"/>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0" i="0">
                <a:solidFill>
                  <a:srgbClr val="000000"/>
                </a:solidFill>
                <a:latin typeface="Calibri"/>
              </a:rPr>
              <a:t>alg</a:t>
            </a:r>
          </a:p>
          <a:p>
            <a:pPr algn="ctr"/>
            <a:r>
              <a:rPr sz="900" b="0" i="0">
                <a:solidFill>
                  <a:srgbClr val="555555"/>
                </a:solidFill>
                <a:latin typeface="Calibri"/>
              </a:rPr>
              <a:t>1 B</a:t>
            </a:r>
          </a:p>
        </p:txBody>
      </p:sp>
      <p:sp>
        <p:nvSpPr>
          <p:cNvPr id="11" name="Rectangle 10"/>
          <p:cNvSpPr/>
          <p:nvPr/>
        </p:nvSpPr>
        <p:spPr>
          <a:xfrm>
            <a:off x="1636776" y="3931920"/>
            <a:ext cx="548640" cy="566928"/>
          </a:xfrm>
          <a:prstGeom prst="rect">
            <a:avLst/>
          </a:prstGeom>
          <a:solidFill>
            <a:srgbClr val="E3E3FA"/>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0" i="0">
                <a:solidFill>
                  <a:srgbClr val="000000"/>
                </a:solidFill>
                <a:latin typeface="Calibri"/>
              </a:rPr>
              <a:t>labels</a:t>
            </a:r>
          </a:p>
          <a:p>
            <a:pPr algn="ctr"/>
            <a:r>
              <a:rPr sz="900" b="0" i="0">
                <a:solidFill>
                  <a:srgbClr val="555555"/>
                </a:solidFill>
                <a:latin typeface="Calibri"/>
              </a:rPr>
              <a:t>1 B</a:t>
            </a:r>
          </a:p>
        </p:txBody>
      </p:sp>
      <p:sp>
        <p:nvSpPr>
          <p:cNvPr id="12" name="Rectangle 11"/>
          <p:cNvSpPr/>
          <p:nvPr/>
        </p:nvSpPr>
        <p:spPr>
          <a:xfrm>
            <a:off x="2185416" y="3931920"/>
            <a:ext cx="548640" cy="566928"/>
          </a:xfrm>
          <a:prstGeom prst="rect">
            <a:avLst/>
          </a:prstGeom>
          <a:solidFill>
            <a:srgbClr val="E3E3FA"/>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0" i="0">
                <a:solidFill>
                  <a:srgbClr val="000000"/>
                </a:solidFill>
                <a:latin typeface="Calibri"/>
              </a:rPr>
              <a:t>orig TTL</a:t>
            </a:r>
          </a:p>
          <a:p>
            <a:pPr algn="ctr"/>
            <a:r>
              <a:rPr sz="900" b="0" i="0">
                <a:solidFill>
                  <a:srgbClr val="555555"/>
                </a:solidFill>
                <a:latin typeface="Calibri"/>
              </a:rPr>
              <a:t>4 B</a:t>
            </a:r>
          </a:p>
        </p:txBody>
      </p:sp>
      <p:sp>
        <p:nvSpPr>
          <p:cNvPr id="13" name="Rectangle 12"/>
          <p:cNvSpPr/>
          <p:nvPr/>
        </p:nvSpPr>
        <p:spPr>
          <a:xfrm>
            <a:off x="2734056" y="3931920"/>
            <a:ext cx="548640" cy="566928"/>
          </a:xfrm>
          <a:prstGeom prst="rect">
            <a:avLst/>
          </a:prstGeom>
          <a:solidFill>
            <a:srgbClr val="E3E3FA"/>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0" i="0">
                <a:solidFill>
                  <a:srgbClr val="000000"/>
                </a:solidFill>
                <a:latin typeface="Calibri"/>
              </a:rPr>
              <a:t>expiry</a:t>
            </a:r>
          </a:p>
          <a:p>
            <a:pPr algn="ctr"/>
            <a:r>
              <a:rPr sz="900" b="0" i="0">
                <a:solidFill>
                  <a:srgbClr val="555555"/>
                </a:solidFill>
                <a:latin typeface="Calibri"/>
              </a:rPr>
              <a:t>4 B</a:t>
            </a:r>
          </a:p>
        </p:txBody>
      </p:sp>
      <p:sp>
        <p:nvSpPr>
          <p:cNvPr id="14" name="Rectangle 13"/>
          <p:cNvSpPr/>
          <p:nvPr/>
        </p:nvSpPr>
        <p:spPr>
          <a:xfrm>
            <a:off x="3282696" y="3931920"/>
            <a:ext cx="548640" cy="566928"/>
          </a:xfrm>
          <a:prstGeom prst="rect">
            <a:avLst/>
          </a:prstGeom>
          <a:solidFill>
            <a:srgbClr val="E3E3FA"/>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0" i="0">
                <a:solidFill>
                  <a:srgbClr val="000000"/>
                </a:solidFill>
                <a:latin typeface="Calibri"/>
              </a:rPr>
              <a:t>incept.</a:t>
            </a:r>
          </a:p>
          <a:p>
            <a:pPr algn="ctr"/>
            <a:r>
              <a:rPr sz="900" b="0" i="0">
                <a:solidFill>
                  <a:srgbClr val="555555"/>
                </a:solidFill>
                <a:latin typeface="Calibri"/>
              </a:rPr>
              <a:t>4 B</a:t>
            </a:r>
          </a:p>
        </p:txBody>
      </p:sp>
      <p:sp>
        <p:nvSpPr>
          <p:cNvPr id="15" name="Rectangle 14"/>
          <p:cNvSpPr/>
          <p:nvPr/>
        </p:nvSpPr>
        <p:spPr>
          <a:xfrm>
            <a:off x="3831336" y="3931920"/>
            <a:ext cx="548640" cy="566928"/>
          </a:xfrm>
          <a:prstGeom prst="rect">
            <a:avLst/>
          </a:prstGeom>
          <a:solidFill>
            <a:srgbClr val="E3E3FA"/>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0" i="0">
                <a:solidFill>
                  <a:srgbClr val="000000"/>
                </a:solidFill>
                <a:latin typeface="Calibri"/>
              </a:rPr>
              <a:t>key tag</a:t>
            </a:r>
          </a:p>
          <a:p>
            <a:pPr algn="ctr"/>
            <a:r>
              <a:rPr sz="900" b="0" i="0">
                <a:solidFill>
                  <a:srgbClr val="555555"/>
                </a:solidFill>
                <a:latin typeface="Calibri"/>
              </a:rPr>
              <a:t>2 B</a:t>
            </a:r>
          </a:p>
        </p:txBody>
      </p:sp>
      <p:sp>
        <p:nvSpPr>
          <p:cNvPr id="16" name="Rectangle 15"/>
          <p:cNvSpPr/>
          <p:nvPr/>
        </p:nvSpPr>
        <p:spPr>
          <a:xfrm>
            <a:off x="4379976" y="3931920"/>
            <a:ext cx="1577340" cy="566928"/>
          </a:xfrm>
          <a:prstGeom prst="rect">
            <a:avLst/>
          </a:prstGeom>
          <a:solidFill>
            <a:srgbClr val="E3E3FA"/>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0" i="0">
                <a:solidFill>
                  <a:srgbClr val="000000"/>
                </a:solidFill>
                <a:latin typeface="Calibri"/>
              </a:rPr>
              <a:t>signer bench.example.</a:t>
            </a:r>
          </a:p>
          <a:p>
            <a:pPr algn="ctr"/>
            <a:r>
              <a:rPr sz="900" b="0" i="0">
                <a:solidFill>
                  <a:srgbClr val="555555"/>
                </a:solidFill>
                <a:latin typeface="Calibri"/>
              </a:rPr>
              <a:t>15 B</a:t>
            </a:r>
          </a:p>
        </p:txBody>
      </p:sp>
      <p:sp>
        <p:nvSpPr>
          <p:cNvPr id="17" name="Rectangle 16"/>
          <p:cNvSpPr/>
          <p:nvPr/>
        </p:nvSpPr>
        <p:spPr>
          <a:xfrm>
            <a:off x="5957316" y="3931920"/>
            <a:ext cx="2734056" cy="566928"/>
          </a:xfrm>
          <a:prstGeom prst="rect">
            <a:avLst/>
          </a:prstGeom>
          <a:solidFill>
            <a:srgbClr val="E2F2E3"/>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0" i="0">
                <a:solidFill>
                  <a:srgbClr val="000000"/>
                </a:solidFill>
                <a:latin typeface="Calibri"/>
              </a:rPr>
              <a:t>owner host000000.bench.example.</a:t>
            </a:r>
          </a:p>
          <a:p>
            <a:pPr algn="ctr"/>
            <a:r>
              <a:rPr sz="900" b="0" i="0">
                <a:solidFill>
                  <a:srgbClr val="555555"/>
                </a:solidFill>
                <a:latin typeface="Calibri"/>
              </a:rPr>
              <a:t>26 B</a:t>
            </a:r>
          </a:p>
        </p:txBody>
      </p:sp>
      <p:sp>
        <p:nvSpPr>
          <p:cNvPr id="18" name="Rectangle 17"/>
          <p:cNvSpPr/>
          <p:nvPr/>
        </p:nvSpPr>
        <p:spPr>
          <a:xfrm>
            <a:off x="8691372" y="3931920"/>
            <a:ext cx="548640" cy="566928"/>
          </a:xfrm>
          <a:prstGeom prst="rect">
            <a:avLst/>
          </a:prstGeom>
          <a:solidFill>
            <a:srgbClr val="E2F2E3"/>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0" i="0">
                <a:solidFill>
                  <a:srgbClr val="000000"/>
                </a:solidFill>
                <a:latin typeface="Calibri"/>
              </a:rPr>
              <a:t>type</a:t>
            </a:r>
          </a:p>
          <a:p>
            <a:pPr algn="ctr"/>
            <a:r>
              <a:rPr sz="900" b="0" i="0">
                <a:solidFill>
                  <a:srgbClr val="555555"/>
                </a:solidFill>
                <a:latin typeface="Calibri"/>
              </a:rPr>
              <a:t>2 B</a:t>
            </a:r>
          </a:p>
        </p:txBody>
      </p:sp>
      <p:sp>
        <p:nvSpPr>
          <p:cNvPr id="19" name="Rectangle 18"/>
          <p:cNvSpPr/>
          <p:nvPr/>
        </p:nvSpPr>
        <p:spPr>
          <a:xfrm>
            <a:off x="9240012" y="3931920"/>
            <a:ext cx="548640" cy="566928"/>
          </a:xfrm>
          <a:prstGeom prst="rect">
            <a:avLst/>
          </a:prstGeom>
          <a:solidFill>
            <a:srgbClr val="E2F2E3"/>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0" i="0">
                <a:solidFill>
                  <a:srgbClr val="000000"/>
                </a:solidFill>
                <a:latin typeface="Calibri"/>
              </a:rPr>
              <a:t>class</a:t>
            </a:r>
          </a:p>
          <a:p>
            <a:pPr algn="ctr"/>
            <a:r>
              <a:rPr sz="900" b="0" i="0">
                <a:solidFill>
                  <a:srgbClr val="555555"/>
                </a:solidFill>
                <a:latin typeface="Calibri"/>
              </a:rPr>
              <a:t>2 B</a:t>
            </a:r>
          </a:p>
        </p:txBody>
      </p:sp>
      <p:sp>
        <p:nvSpPr>
          <p:cNvPr id="20" name="Rectangle 19"/>
          <p:cNvSpPr/>
          <p:nvPr/>
        </p:nvSpPr>
        <p:spPr>
          <a:xfrm>
            <a:off x="9788652" y="3931920"/>
            <a:ext cx="548640" cy="566928"/>
          </a:xfrm>
          <a:prstGeom prst="rect">
            <a:avLst/>
          </a:prstGeom>
          <a:solidFill>
            <a:srgbClr val="E2F2E3"/>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0" i="0">
                <a:solidFill>
                  <a:srgbClr val="000000"/>
                </a:solidFill>
                <a:latin typeface="Calibri"/>
              </a:rPr>
              <a:t>TTL</a:t>
            </a:r>
          </a:p>
          <a:p>
            <a:pPr algn="ctr"/>
            <a:r>
              <a:rPr sz="900" b="0" i="0">
                <a:solidFill>
                  <a:srgbClr val="555555"/>
                </a:solidFill>
                <a:latin typeface="Calibri"/>
              </a:rPr>
              <a:t>4 B</a:t>
            </a:r>
          </a:p>
        </p:txBody>
      </p:sp>
      <p:sp>
        <p:nvSpPr>
          <p:cNvPr id="21" name="Rectangle 20"/>
          <p:cNvSpPr/>
          <p:nvPr/>
        </p:nvSpPr>
        <p:spPr>
          <a:xfrm>
            <a:off x="10337292" y="3931920"/>
            <a:ext cx="548640" cy="566928"/>
          </a:xfrm>
          <a:prstGeom prst="rect">
            <a:avLst/>
          </a:prstGeom>
          <a:solidFill>
            <a:srgbClr val="E2F2E3"/>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0" i="0">
                <a:solidFill>
                  <a:srgbClr val="000000"/>
                </a:solidFill>
                <a:latin typeface="Calibri"/>
              </a:rPr>
              <a:t>rdlen</a:t>
            </a:r>
          </a:p>
          <a:p>
            <a:pPr algn="ctr"/>
            <a:r>
              <a:rPr sz="900" b="0" i="0">
                <a:solidFill>
                  <a:srgbClr val="555555"/>
                </a:solidFill>
                <a:latin typeface="Calibri"/>
              </a:rPr>
              <a:t>2 B</a:t>
            </a:r>
          </a:p>
        </p:txBody>
      </p:sp>
      <p:sp>
        <p:nvSpPr>
          <p:cNvPr id="22" name="Rectangle 21"/>
          <p:cNvSpPr/>
          <p:nvPr/>
        </p:nvSpPr>
        <p:spPr>
          <a:xfrm>
            <a:off x="10885932" y="3931920"/>
            <a:ext cx="548640" cy="566928"/>
          </a:xfrm>
          <a:prstGeom prst="rect">
            <a:avLst/>
          </a:prstGeom>
          <a:solidFill>
            <a:srgbClr val="E2F2E3"/>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950" b="0" i="0">
                <a:solidFill>
                  <a:srgbClr val="000000"/>
                </a:solidFill>
                <a:latin typeface="Calibri"/>
              </a:rPr>
              <a:t>192.0.0.0</a:t>
            </a:r>
          </a:p>
          <a:p>
            <a:pPr algn="ctr"/>
            <a:r>
              <a:rPr sz="900" b="0" i="0">
                <a:solidFill>
                  <a:srgbClr val="555555"/>
                </a:solidFill>
                <a:latin typeface="Calibri"/>
              </a:rPr>
              <a:t>4 B</a:t>
            </a:r>
          </a:p>
        </p:txBody>
      </p:sp>
      <p:sp>
        <p:nvSpPr>
          <p:cNvPr id="23" name="TextBox 22"/>
          <p:cNvSpPr txBox="1"/>
          <p:nvPr/>
        </p:nvSpPr>
        <p:spPr>
          <a:xfrm>
            <a:off x="539496" y="4572000"/>
            <a:ext cx="5029200" cy="274320"/>
          </a:xfrm>
          <a:prstGeom prst="rect">
            <a:avLst/>
          </a:prstGeom>
          <a:noFill/>
        </p:spPr>
        <p:txBody>
          <a:bodyPr wrap="square" anchor="t" lIns="0" rIns="0" tIns="0" bIns="0">
            <a:spAutoFit/>
          </a:bodyPr>
          <a:lstStyle/>
          <a:p>
            <a:pPr algn="l"/>
            <a:r>
              <a:rPr sz="1200" b="0" i="0">
                <a:solidFill>
                  <a:srgbClr val="0000DC"/>
                </a:solidFill>
                <a:latin typeface="Calibri"/>
              </a:rPr>
              <a:t>RRSIG fields, signature left empty: 33 B</a:t>
            </a:r>
          </a:p>
        </p:txBody>
      </p:sp>
      <p:sp>
        <p:nvSpPr>
          <p:cNvPr id="24" name="TextBox 23"/>
          <p:cNvSpPr txBox="1"/>
          <p:nvPr/>
        </p:nvSpPr>
        <p:spPr>
          <a:xfrm>
            <a:off x="5957316" y="4572000"/>
            <a:ext cx="5029200" cy="274320"/>
          </a:xfrm>
          <a:prstGeom prst="rect">
            <a:avLst/>
          </a:prstGeom>
          <a:noFill/>
        </p:spPr>
        <p:txBody>
          <a:bodyPr wrap="square" anchor="t" lIns="0" rIns="0" tIns="0" bIns="0">
            <a:spAutoFit/>
          </a:bodyPr>
          <a:lstStyle/>
          <a:p>
            <a:pPr algn="l"/>
            <a:r>
              <a:rPr sz="1200" b="0" i="0">
                <a:solidFill>
                  <a:srgbClr val="2E7D32"/>
                </a:solidFill>
                <a:latin typeface="Calibri"/>
              </a:rPr>
              <a:t>the RRset in canonical form: 40 B</a:t>
            </a:r>
          </a:p>
        </p:txBody>
      </p:sp>
      <p:sp>
        <p:nvSpPr>
          <p:cNvPr id="25" name="TextBox 24"/>
          <p:cNvSpPr txBox="1"/>
          <p:nvPr/>
        </p:nvSpPr>
        <p:spPr>
          <a:xfrm>
            <a:off x="539496" y="4983480"/>
            <a:ext cx="11109960" cy="1371600"/>
          </a:xfrm>
          <a:prstGeom prst="rect">
            <a:avLst/>
          </a:prstGeom>
          <a:noFill/>
        </p:spPr>
        <p:txBody>
          <a:bodyPr wrap="square" anchor="t" lIns="0" rIns="0" tIns="0" bIns="0">
            <a:spAutoFit/>
          </a:bodyPr>
          <a:lstStyle/>
          <a:p>
            <a:pPr algn="l" marL="274320" indent="-274320">
              <a:buClr>
                <a:srgbClr val="0000DC"/>
              </a:buClr>
              <a:buFont typeface="Arial"/>
              <a:buChar char="•"/>
            </a:pPr>
            <a:r>
              <a:rPr sz="1350" b="0" i="0">
                <a:solidFill>
                  <a:srgbClr val="000000"/>
                </a:solidFill>
                <a:latin typeface="Calibri"/>
              </a:rPr>
              <a:t>Per mode only the algorithm byte, key tag and DNSKEY change, so each of the </a:t>
            </a:r>
            <a:r>
              <a:rPr sz="1350" b="1" i="0">
                <a:solidFill>
                  <a:srgbClr val="000000"/>
                </a:solidFill>
                <a:latin typeface="Calibri"/>
              </a:rPr>
              <a:t>15</a:t>
            </a:r>
            <a:r>
              <a:rPr sz="1350" b="0" i="0">
                <a:solidFill>
                  <a:srgbClr val="000000"/>
                </a:solidFill>
                <a:latin typeface="Calibri"/>
              </a:rPr>
              <a:t> (zone, mode) pairs gets its own </a:t>
            </a:r>
            <a:r>
              <a:rPr sz="1350" b="1" i="0">
                <a:solidFill>
                  <a:srgbClr val="000000"/>
                </a:solidFill>
                <a:latin typeface="Calibri"/>
              </a:rPr>
              <a:t>messages.bin</a:t>
            </a:r>
            <a:r>
              <a:rPr sz="1350" b="0" i="0">
                <a:solidFill>
                  <a:srgbClr val="000000"/>
                </a:solidFill>
                <a:latin typeface="Calibri"/>
              </a:rPr>
              <a:t>: small/MTL = 45 messages, 9,311 B. Keys do not exist yet: DNSKEY holds a placeholder of the right length.</a:t>
            </a:r>
          </a:p>
          <a:p>
            <a:pPr algn="l" marL="274320" indent="-274320">
              <a:spcBef>
                <a:spcPts val="500"/>
              </a:spcBef>
              <a:buClr>
                <a:srgbClr val="0000DC"/>
              </a:buClr>
              <a:buFont typeface="Arial"/>
              <a:buChar char="•"/>
            </a:pPr>
            <a:r>
              <a:rPr sz="1350" b="0" i="0">
                <a:solidFill>
                  <a:srgbClr val="000000"/>
                </a:solidFill>
                <a:latin typeface="Calibri"/>
              </a:rPr>
              <a:t>Direct SLH-DSA is capped at 60 / 100 evenly spaced RRsets (</a:t>
            </a:r>
            <a:r>
              <a:rPr sz="1350" b="1" i="0">
                <a:solidFill>
                  <a:srgbClr val="000000"/>
                </a:solidFill>
                <a:latin typeface="Calibri"/>
              </a:rPr>
              <a:t>messages_sample.bin</a:t>
            </a:r>
            <a:r>
              <a:rPr sz="1350" b="0" i="0">
                <a:solidFill>
                  <a:srgbClr val="000000"/>
                </a:solidFill>
                <a:latin typeface="Calibri"/>
              </a:rPr>
              <a:t>); its zone total is extrapolated.</a:t>
            </a:r>
          </a:p>
        </p:txBody>
      </p:sp>
      <p:sp>
        <p:nvSpPr>
          <p:cNvPr id="26" name="TextBox 25"/>
          <p:cNvSpPr txBox="1"/>
          <p:nvPr/>
        </p:nvSpPr>
        <p:spPr>
          <a:xfrm>
            <a:off x="539496" y="6510528"/>
            <a:ext cx="7315200" cy="274320"/>
          </a:xfrm>
          <a:prstGeom prst="rect">
            <a:avLst/>
          </a:prstGeom>
          <a:noFill/>
        </p:spPr>
        <p:txBody>
          <a:bodyPr wrap="square" anchor="t" lIns="0" rIns="0" tIns="0" bIns="0">
            <a:spAutoFit/>
          </a:bodyPr>
          <a:lstStyle/>
          <a:p>
            <a:pPr algn="l"/>
            <a:r>
              <a:rPr sz="1200" b="0" i="0">
                <a:solidFill>
                  <a:srgbClr val="0000DC"/>
                </a:solidFill>
                <a:latin typeface="Calibri"/>
              </a:rPr>
              <a:t>A. Joshi  •  </a:t>
            </a:r>
            <a:r>
              <a:rPr sz="1200" b="1" i="0">
                <a:solidFill>
                  <a:srgbClr val="0000DC"/>
                </a:solidFill>
                <a:latin typeface="Calibri"/>
              </a:rPr>
              <a:t>A3-PS036-TC161</a:t>
            </a:r>
            <a:r>
              <a:rPr sz="1200" b="0" i="0">
                <a:solidFill>
                  <a:srgbClr val="0000DC"/>
                </a:solidFill>
                <a:latin typeface="Calibri"/>
              </a:rPr>
              <a:t>  •  October 8, 2026</a:t>
            </a:r>
          </a:p>
        </p:txBody>
      </p:sp>
      <p:sp>
        <p:nvSpPr>
          <p:cNvPr id="27" name="TextBox 26"/>
          <p:cNvSpPr txBox="1"/>
          <p:nvPr/>
        </p:nvSpPr>
        <p:spPr>
          <a:xfrm>
            <a:off x="9601200" y="6510528"/>
            <a:ext cx="2057400" cy="274320"/>
          </a:xfrm>
          <a:prstGeom prst="rect">
            <a:avLst/>
          </a:prstGeom>
          <a:noFill/>
        </p:spPr>
        <p:txBody>
          <a:bodyPr wrap="square" anchor="t" lIns="0" rIns="0" tIns="0" bIns="0">
            <a:spAutoFit/>
          </a:bodyPr>
          <a:lstStyle/>
          <a:p>
            <a:pPr algn="r"/>
            <a:r>
              <a:rPr sz="1200" b="0" i="0">
                <a:solidFill>
                  <a:srgbClr val="0000DC"/>
                </a:solidFill>
                <a:latin typeface="Calibri"/>
              </a:rPr>
              <a:t>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6080" y="73152"/>
            <a:ext cx="3200400" cy="274320"/>
          </a:xfrm>
          <a:prstGeom prst="rect">
            <a:avLst/>
          </a:prstGeom>
          <a:noFill/>
        </p:spPr>
        <p:txBody>
          <a:bodyPr wrap="square" anchor="t" lIns="0" rIns="0" tIns="0" bIns="0">
            <a:spAutoFit/>
          </a:bodyPr>
          <a:lstStyle/>
          <a:p>
            <a:pPr algn="r"/>
            <a:r>
              <a:rPr sz="1200" b="1" i="0">
                <a:solidFill>
                  <a:srgbClr val="0000DC"/>
                </a:solidFill>
                <a:latin typeface="Calibri"/>
              </a:rPr>
              <a:t>AIORI 3</a:t>
            </a:r>
          </a:p>
        </p:txBody>
      </p:sp>
      <p:sp>
        <p:nvSpPr>
          <p:cNvPr id="3" name="TextBox 2"/>
          <p:cNvSpPr txBox="1"/>
          <p:nvPr/>
        </p:nvSpPr>
        <p:spPr>
          <a:xfrm>
            <a:off x="6263640" y="73152"/>
            <a:ext cx="5486400" cy="274320"/>
          </a:xfrm>
          <a:prstGeom prst="rect">
            <a:avLst/>
          </a:prstGeom>
          <a:noFill/>
        </p:spPr>
        <p:txBody>
          <a:bodyPr wrap="square" anchor="t" lIns="0" rIns="0" tIns="0" bIns="0">
            <a:spAutoFit/>
          </a:bodyPr>
          <a:lstStyle/>
          <a:p>
            <a:pPr algn="l"/>
            <a:r>
              <a:rPr sz="1200" b="1" i="0">
                <a:solidFill>
                  <a:srgbClr val="0000DC"/>
                </a:solidFill>
                <a:latin typeface="Calibri"/>
              </a:rPr>
              <a:t>Stage 4</a:t>
            </a:r>
          </a:p>
        </p:txBody>
      </p:sp>
      <p:sp>
        <p:nvSpPr>
          <p:cNvPr id="4" name="TextBox 3"/>
          <p:cNvSpPr txBox="1"/>
          <p:nvPr/>
        </p:nvSpPr>
        <p:spPr>
          <a:xfrm>
            <a:off x="539496" y="384048"/>
            <a:ext cx="11109960" cy="548640"/>
          </a:xfrm>
          <a:prstGeom prst="rect">
            <a:avLst/>
          </a:prstGeom>
          <a:noFill/>
        </p:spPr>
        <p:txBody>
          <a:bodyPr wrap="square" anchor="t" lIns="0" rIns="0" tIns="0" bIns="0">
            <a:spAutoFit/>
          </a:bodyPr>
          <a:lstStyle/>
          <a:p>
            <a:pPr algn="l"/>
            <a:r>
              <a:rPr sz="3000" b="1" i="0">
                <a:solidFill>
                  <a:srgbClr val="0000DC"/>
                </a:solidFill>
                <a:latin typeface="Calibri"/>
              </a:rPr>
              <a:t>Stage 4: sign and verify (one trial)</a:t>
            </a:r>
          </a:p>
        </p:txBody>
      </p:sp>
      <p:sp>
        <p:nvSpPr>
          <p:cNvPr id="5" name="TextBox 4"/>
          <p:cNvSpPr txBox="1"/>
          <p:nvPr/>
        </p:nvSpPr>
        <p:spPr>
          <a:xfrm>
            <a:off x="539496" y="978408"/>
            <a:ext cx="11109960" cy="411480"/>
          </a:xfrm>
          <a:prstGeom prst="rect">
            <a:avLst/>
          </a:prstGeom>
          <a:noFill/>
        </p:spPr>
        <p:txBody>
          <a:bodyPr wrap="square" anchor="t" lIns="0" rIns="0" tIns="0" bIns="0">
            <a:spAutoFit/>
          </a:bodyPr>
          <a:lstStyle/>
          <a:p>
            <a:pPr algn="l"/>
            <a:r>
              <a:rPr sz="1700" b="1" i="0">
                <a:solidFill>
                  <a:srgbClr val="000000"/>
                </a:solidFill>
                <a:latin typeface="Calibri"/>
              </a:rPr>
              <a:t>45 trials = 3 trials × 3 zones × 5 modes, shuffled order, one new process and new key pair each.</a:t>
            </a:r>
          </a:p>
        </p:txBody>
      </p:sp>
      <p:sp>
        <p:nvSpPr>
          <p:cNvPr id="6" name="Rectangle 5"/>
          <p:cNvSpPr/>
          <p:nvPr/>
        </p:nvSpPr>
        <p:spPr>
          <a:xfrm>
            <a:off x="539496" y="1600200"/>
            <a:ext cx="2331720" cy="640080"/>
          </a:xfrm>
          <a:prstGeom prst="rect">
            <a:avLst/>
          </a:prstGeom>
          <a:solidFill>
            <a:srgbClr val="F2F2FD"/>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000000"/>
                </a:solidFill>
                <a:latin typeface="Calibri"/>
              </a:rPr>
              <a:t>run_trials</a:t>
            </a:r>
          </a:p>
          <a:p>
            <a:pPr algn="ctr"/>
            <a:r>
              <a:rPr sz="1050" b="0" i="0">
                <a:solidFill>
                  <a:srgbClr val="555555"/>
                </a:solidFill>
                <a:latin typeface="Calibri"/>
              </a:rPr>
              <a:t>runner.py, loop</a:t>
            </a:r>
          </a:p>
        </p:txBody>
      </p:sp>
      <p:cxnSp>
        <p:nvCxnSpPr>
          <p:cNvPr id="7" name="Connector 6"/>
          <p:cNvCxnSpPr/>
          <p:nvPr/>
        </p:nvCxnSpPr>
        <p:spPr>
          <a:xfrm>
            <a:off x="2871215" y="1920240"/>
            <a:ext cx="274320" cy="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145535" y="1600200"/>
            <a:ext cx="2331720" cy="640080"/>
          </a:xfrm>
          <a:prstGeom prst="rect">
            <a:avLst/>
          </a:prstGeom>
          <a:solidFill>
            <a:srgbClr val="F2F2FD"/>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000000"/>
                </a:solidFill>
                <a:latin typeface="Calibri"/>
              </a:rPr>
              <a:t>run_trial</a:t>
            </a:r>
          </a:p>
          <a:p>
            <a:pPr algn="ctr"/>
            <a:r>
              <a:rPr sz="1050" b="0" i="0">
                <a:solidFill>
                  <a:srgbClr val="555555"/>
                </a:solidFill>
                <a:latin typeface="Calibri"/>
              </a:rPr>
              <a:t>harness.py, subprocess</a:t>
            </a:r>
          </a:p>
        </p:txBody>
      </p:sp>
      <p:cxnSp>
        <p:nvCxnSpPr>
          <p:cNvPr id="9" name="Connector 8"/>
          <p:cNvCxnSpPr/>
          <p:nvPr/>
        </p:nvCxnSpPr>
        <p:spPr>
          <a:xfrm>
            <a:off x="5477255" y="1920240"/>
            <a:ext cx="274320" cy="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751575" y="1600200"/>
            <a:ext cx="2331720" cy="640080"/>
          </a:xfrm>
          <a:prstGeom prst="rect">
            <a:avLst/>
          </a:prstGeom>
          <a:solidFill>
            <a:srgbClr val="F2F2FD"/>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000000"/>
                </a:solidFill>
                <a:latin typeface="Calibri"/>
              </a:rPr>
              <a:t>mtlbench (C)</a:t>
            </a:r>
          </a:p>
          <a:p>
            <a:pPr algn="ctr"/>
            <a:r>
              <a:rPr sz="1050" b="0" i="0">
                <a:solidFill>
                  <a:srgbClr val="555555"/>
                </a:solidFill>
                <a:latin typeface="Calibri"/>
              </a:rPr>
              <a:t>times each call in ns</a:t>
            </a:r>
          </a:p>
        </p:txBody>
      </p:sp>
      <p:cxnSp>
        <p:nvCxnSpPr>
          <p:cNvPr id="11" name="Connector 10"/>
          <p:cNvCxnSpPr/>
          <p:nvPr/>
        </p:nvCxnSpPr>
        <p:spPr>
          <a:xfrm>
            <a:off x="8083296" y="1920240"/>
            <a:ext cx="274320" cy="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8357615" y="1600200"/>
            <a:ext cx="3291840" cy="640080"/>
          </a:xfrm>
          <a:prstGeom prst="rect">
            <a:avLst/>
          </a:prstGeom>
          <a:solidFill>
            <a:srgbClr val="E3E3FA"/>
          </a:solidFill>
          <a:ln w="15875">
            <a:solidFill>
              <a:srgbClr val="0000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000000"/>
                </a:solidFill>
                <a:latin typeface="Calibri"/>
              </a:rPr>
              <a:t>Verisign MTL · liboqs · OpenSSL</a:t>
            </a:r>
          </a:p>
          <a:p>
            <a:pPr algn="ctr"/>
            <a:r>
              <a:rPr sz="1050" b="0" i="0">
                <a:solidFill>
                  <a:srgbClr val="555555"/>
                </a:solidFill>
                <a:latin typeface="Calibri"/>
              </a:rPr>
              <a:t>the real crypto</a:t>
            </a:r>
          </a:p>
        </p:txBody>
      </p:sp>
      <p:graphicFrame>
        <p:nvGraphicFramePr>
          <p:cNvPr id="13" name="Table 12"/>
          <p:cNvGraphicFramePr>
            <a:graphicFrameLocks noGrp="1"/>
          </p:cNvGraphicFramePr>
          <p:nvPr/>
        </p:nvGraphicFramePr>
        <p:xfrm>
          <a:off x="539496" y="2514600"/>
          <a:ext cx="5852160" cy="3456432"/>
        </p:xfrm>
        <a:graphic>
          <a:graphicData uri="http://schemas.openxmlformats.org/drawingml/2006/table">
            <a:tbl>
              <a:tblPr firstRow="1" bandRow="1">
                <a:tableStyleId>{5C22544A-7EE6-4342-B048-85BDC9FD1C3A}</a:tableStyleId>
              </a:tblPr>
              <a:tblGrid>
                <a:gridCol w="3657600"/>
                <a:gridCol w="731520"/>
                <a:gridCol w="1463040"/>
              </a:tblGrid>
              <a:tr h="384048">
                <a:tc>
                  <a:txBody>
                    <a:bodyPr wrap="square"/>
                    <a:lstStyle/>
                    <a:p>
                      <a:r>
                        <a:rPr sz="1250" b="1" i="0">
                          <a:solidFill>
                            <a:srgbClr val="FFFFFF"/>
                          </a:solidFill>
                          <a:latin typeface="Calibri"/>
                        </a:rPr>
                        <a:t>MTL trial, small zone (45 RRsets)</a:t>
                      </a:r>
                    </a:p>
                  </a:txBody>
                  <a:tcPr marL="64008" marR="64008" marT="27432" marB="27432" anchor="ctr">
                    <a:solidFill>
                      <a:srgbClr val="0000DC"/>
                    </a:solidFill>
                  </a:tcPr>
                </a:tc>
                <a:tc>
                  <a:txBody>
                    <a:bodyPr wrap="square"/>
                    <a:lstStyle/>
                    <a:p>
                      <a:r>
                        <a:rPr sz="1250" b="1" i="0">
                          <a:solidFill>
                            <a:srgbClr val="FFFFFF"/>
                          </a:solidFill>
                          <a:latin typeface="Calibri"/>
                        </a:rPr>
                        <a:t>Calls</a:t>
                      </a:r>
                    </a:p>
                  </a:txBody>
                  <a:tcPr marL="64008" marR="64008" marT="27432" marB="27432" anchor="ctr">
                    <a:solidFill>
                      <a:srgbClr val="0000DC"/>
                    </a:solidFill>
                  </a:tcPr>
                </a:tc>
                <a:tc>
                  <a:txBody>
                    <a:bodyPr wrap="square"/>
                    <a:lstStyle/>
                    <a:p>
                      <a:r>
                        <a:rPr sz="1250" b="1" i="0">
                          <a:solidFill>
                            <a:srgbClr val="FFFFFF"/>
                          </a:solidFill>
                          <a:latin typeface="Calibri"/>
                        </a:rPr>
                        <a:t>Time</a:t>
                      </a:r>
                    </a:p>
                  </a:txBody>
                  <a:tcPr marL="64008" marR="64008" marT="27432" marB="27432" anchor="ctr">
                    <a:solidFill>
                      <a:srgbClr val="0000DC"/>
                    </a:solidFill>
                  </a:tcPr>
                </a:tc>
              </a:tr>
              <a:tr h="384048">
                <a:tc>
                  <a:txBody>
                    <a:bodyPr wrap="square"/>
                    <a:lstStyle/>
                    <a:p>
                      <a:r>
                        <a:rPr sz="1250" b="0" i="0">
                          <a:solidFill>
                            <a:srgbClr val="000000"/>
                          </a:solidFill>
                          <a:latin typeface="Calibri"/>
                        </a:rPr>
                        <a:t>Key generation</a:t>
                      </a:r>
                    </a:p>
                  </a:txBody>
                  <a:tcPr marL="64008" marR="64008" marT="27432" marB="27432" anchor="ctr">
                    <a:solidFill>
                      <a:srgbClr val="F2F2FD"/>
                    </a:solidFill>
                  </a:tcPr>
                </a:tc>
                <a:tc>
                  <a:txBody>
                    <a:bodyPr wrap="square"/>
                    <a:lstStyle/>
                    <a:p>
                      <a:r>
                        <a:rPr sz="1250" b="0" i="0">
                          <a:solidFill>
                            <a:srgbClr val="000000"/>
                          </a:solidFill>
                          <a:latin typeface="Calibri"/>
                        </a:rPr>
                        <a:t>1</a:t>
                      </a:r>
                    </a:p>
                  </a:txBody>
                  <a:tcPr marL="64008" marR="64008" marT="27432" marB="27432" anchor="ctr">
                    <a:solidFill>
                      <a:srgbClr val="F2F2FD"/>
                    </a:solidFill>
                  </a:tcPr>
                </a:tc>
                <a:tc>
                  <a:txBody>
                    <a:bodyPr wrap="square"/>
                    <a:lstStyle/>
                    <a:p>
                      <a:r>
                        <a:rPr sz="1250" b="0" i="0">
                          <a:solidFill>
                            <a:srgbClr val="000000"/>
                          </a:solidFill>
                          <a:latin typeface="Calibri"/>
                        </a:rPr>
                        <a:t>68.6 ms</a:t>
                      </a:r>
                    </a:p>
                  </a:txBody>
                  <a:tcPr marL="64008" marR="64008" marT="27432" marB="27432" anchor="ctr">
                    <a:solidFill>
                      <a:srgbClr val="F2F2FD"/>
                    </a:solidFill>
                  </a:tcPr>
                </a:tc>
              </a:tr>
              <a:tr h="384048">
                <a:tc>
                  <a:txBody>
                    <a:bodyPr wrap="square"/>
                    <a:lstStyle/>
                    <a:p>
                      <a:r>
                        <a:rPr sz="1250" b="0" i="0">
                          <a:solidFill>
                            <a:srgbClr val="000000"/>
                          </a:solidFill>
                          <a:latin typeface="Calibri"/>
                        </a:rPr>
                        <a:t>Add each RRset as a leaf (hash)</a:t>
                      </a:r>
                    </a:p>
                  </a:txBody>
                  <a:tcPr marL="64008" marR="64008" marT="27432" marB="27432" anchor="ctr">
                    <a:solidFill>
                      <a:srgbClr val="FFFFFF"/>
                    </a:solidFill>
                  </a:tcPr>
                </a:tc>
                <a:tc>
                  <a:txBody>
                    <a:bodyPr wrap="square"/>
                    <a:lstStyle/>
                    <a:p>
                      <a:r>
                        <a:rPr sz="1250" b="0" i="0">
                          <a:solidFill>
                            <a:srgbClr val="000000"/>
                          </a:solidFill>
                          <a:latin typeface="Calibri"/>
                        </a:rPr>
                        <a:t>45</a:t>
                      </a:r>
                    </a:p>
                  </a:txBody>
                  <a:tcPr marL="64008" marR="64008" marT="27432" marB="27432" anchor="ctr">
                    <a:solidFill>
                      <a:srgbClr val="FFFFFF"/>
                    </a:solidFill>
                  </a:tcPr>
                </a:tc>
                <a:tc>
                  <a:txBody>
                    <a:bodyPr wrap="square"/>
                    <a:lstStyle/>
                    <a:p>
                      <a:r>
                        <a:rPr sz="1250" b="0" i="0">
                          <a:solidFill>
                            <a:srgbClr val="000000"/>
                          </a:solidFill>
                          <a:latin typeface="Calibri"/>
                        </a:rPr>
                        <a:t>3.9 µs each</a:t>
                      </a:r>
                    </a:p>
                  </a:txBody>
                  <a:tcPr marL="64008" marR="64008" marT="27432" marB="27432" anchor="ctr">
                    <a:solidFill>
                      <a:srgbClr val="FFFFFF"/>
                    </a:solidFill>
                  </a:tcPr>
                </a:tc>
              </a:tr>
              <a:tr h="384048">
                <a:tc>
                  <a:txBody>
                    <a:bodyPr wrap="square"/>
                    <a:lstStyle/>
                    <a:p>
                      <a:r>
                        <a:rPr sz="1250" b="1" i="0">
                          <a:solidFill>
                            <a:srgbClr val="000000"/>
                          </a:solidFill>
                          <a:latin typeface="Calibri"/>
                        </a:rPr>
                        <a:t>Sign the ladder (SLH-DSA)</a:t>
                      </a:r>
                    </a:p>
                  </a:txBody>
                  <a:tcPr marL="64008" marR="64008" marT="27432" marB="27432" anchor="ctr">
                    <a:solidFill>
                      <a:srgbClr val="F2F2FD"/>
                    </a:solidFill>
                  </a:tcPr>
                </a:tc>
                <a:tc>
                  <a:txBody>
                    <a:bodyPr wrap="square"/>
                    <a:lstStyle/>
                    <a:p>
                      <a:r>
                        <a:rPr sz="1250" b="1" i="0">
                          <a:solidFill>
                            <a:srgbClr val="000000"/>
                          </a:solidFill>
                          <a:latin typeface="Calibri"/>
                        </a:rPr>
                        <a:t>1</a:t>
                      </a:r>
                    </a:p>
                  </a:txBody>
                  <a:tcPr marL="64008" marR="64008" marT="27432" marB="27432" anchor="ctr">
                    <a:solidFill>
                      <a:srgbClr val="F2F2FD"/>
                    </a:solidFill>
                  </a:tcPr>
                </a:tc>
                <a:tc>
                  <a:txBody>
                    <a:bodyPr wrap="square"/>
                    <a:lstStyle/>
                    <a:p>
                      <a:r>
                        <a:rPr sz="1250" b="1" i="0">
                          <a:solidFill>
                            <a:srgbClr val="000000"/>
                          </a:solidFill>
                          <a:latin typeface="Calibri"/>
                        </a:rPr>
                        <a:t>486 ms</a:t>
                      </a:r>
                    </a:p>
                  </a:txBody>
                  <a:tcPr marL="64008" marR="64008" marT="27432" marB="27432" anchor="ctr">
                    <a:solidFill>
                      <a:srgbClr val="F2F2FD"/>
                    </a:solidFill>
                  </a:tcPr>
                </a:tc>
              </a:tr>
              <a:tr h="384048">
                <a:tc>
                  <a:txBody>
                    <a:bodyPr wrap="square"/>
                    <a:lstStyle/>
                    <a:p>
                      <a:r>
                        <a:rPr sz="1250" b="0" i="0">
                          <a:solidFill>
                            <a:srgbClr val="000000"/>
                          </a:solidFill>
                          <a:latin typeface="Calibri"/>
                        </a:rPr>
                        <a:t>Extract condensed signatures</a:t>
                      </a:r>
                    </a:p>
                  </a:txBody>
                  <a:tcPr marL="64008" marR="64008" marT="27432" marB="27432" anchor="ctr">
                    <a:solidFill>
                      <a:srgbClr val="FFFFFF"/>
                    </a:solidFill>
                  </a:tcPr>
                </a:tc>
                <a:tc>
                  <a:txBody>
                    <a:bodyPr wrap="square"/>
                    <a:lstStyle/>
                    <a:p>
                      <a:r>
                        <a:rPr sz="1250" b="0" i="0">
                          <a:solidFill>
                            <a:srgbClr val="000000"/>
                          </a:solidFill>
                          <a:latin typeface="Calibri"/>
                        </a:rPr>
                        <a:t>45</a:t>
                      </a:r>
                    </a:p>
                  </a:txBody>
                  <a:tcPr marL="64008" marR="64008" marT="27432" marB="27432" anchor="ctr">
                    <a:solidFill>
                      <a:srgbClr val="FFFFFF"/>
                    </a:solidFill>
                  </a:tcPr>
                </a:tc>
                <a:tc>
                  <a:txBody>
                    <a:bodyPr wrap="square"/>
                    <a:lstStyle/>
                    <a:p>
                      <a:r>
                        <a:rPr sz="1250" b="0" i="0">
                          <a:solidFill>
                            <a:srgbClr val="000000"/>
                          </a:solidFill>
                          <a:latin typeface="Calibri"/>
                        </a:rPr>
                        <a:t>0.24 µs each</a:t>
                      </a:r>
                    </a:p>
                  </a:txBody>
                  <a:tcPr marL="64008" marR="64008" marT="27432" marB="27432" anchor="ctr">
                    <a:solidFill>
                      <a:srgbClr val="FFFFFF"/>
                    </a:solidFill>
                  </a:tcPr>
                </a:tc>
              </a:tr>
              <a:tr h="384048">
                <a:tc>
                  <a:txBody>
                    <a:bodyPr wrap="square"/>
                    <a:lstStyle/>
                    <a:p>
                      <a:r>
                        <a:rPr sz="1250" b="0" i="0">
                          <a:solidFill>
                            <a:srgbClr val="000000"/>
                          </a:solidFill>
                          <a:latin typeface="Calibri"/>
                        </a:rPr>
                        <a:t>Verify the ladder</a:t>
                      </a:r>
                    </a:p>
                  </a:txBody>
                  <a:tcPr marL="64008" marR="64008" marT="27432" marB="27432" anchor="ctr">
                    <a:solidFill>
                      <a:srgbClr val="F2F2FD"/>
                    </a:solidFill>
                  </a:tcPr>
                </a:tc>
                <a:tc>
                  <a:txBody>
                    <a:bodyPr wrap="square"/>
                    <a:lstStyle/>
                    <a:p>
                      <a:r>
                        <a:rPr sz="1250" b="0" i="0">
                          <a:solidFill>
                            <a:srgbClr val="000000"/>
                          </a:solidFill>
                          <a:latin typeface="Calibri"/>
                        </a:rPr>
                        <a:t>1</a:t>
                      </a:r>
                    </a:p>
                  </a:txBody>
                  <a:tcPr marL="64008" marR="64008" marT="27432" marB="27432" anchor="ctr">
                    <a:solidFill>
                      <a:srgbClr val="F2F2FD"/>
                    </a:solidFill>
                  </a:tcPr>
                </a:tc>
                <a:tc>
                  <a:txBody>
                    <a:bodyPr wrap="square"/>
                    <a:lstStyle/>
                    <a:p>
                      <a:r>
                        <a:rPr sz="1250" b="0" i="0">
                          <a:solidFill>
                            <a:srgbClr val="000000"/>
                          </a:solidFill>
                          <a:latin typeface="Calibri"/>
                        </a:rPr>
                        <a:t>441 µs</a:t>
                      </a:r>
                    </a:p>
                  </a:txBody>
                  <a:tcPr marL="64008" marR="64008" marT="27432" marB="27432" anchor="ctr">
                    <a:solidFill>
                      <a:srgbClr val="F2F2FD"/>
                    </a:solidFill>
                  </a:tcPr>
                </a:tc>
              </a:tr>
              <a:tr h="384048">
                <a:tc>
                  <a:txBody>
                    <a:bodyPr wrap="square"/>
                    <a:lstStyle/>
                    <a:p>
                      <a:r>
                        <a:rPr sz="1250" b="1" i="0">
                          <a:solidFill>
                            <a:srgbClr val="000000"/>
                          </a:solidFill>
                          <a:latin typeface="Calibri"/>
                        </a:rPr>
                        <a:t>Verify an answer, ladder cached</a:t>
                      </a:r>
                    </a:p>
                  </a:txBody>
                  <a:tcPr marL="64008" marR="64008" marT="27432" marB="27432" anchor="ctr">
                    <a:solidFill>
                      <a:srgbClr val="FFFFFF"/>
                    </a:solidFill>
                  </a:tcPr>
                </a:tc>
                <a:tc>
                  <a:txBody>
                    <a:bodyPr wrap="square"/>
                    <a:lstStyle/>
                    <a:p>
                      <a:r>
                        <a:rPr sz="1250" b="0" i="0">
                          <a:solidFill>
                            <a:srgbClr val="000000"/>
                          </a:solidFill>
                          <a:latin typeface="Calibri"/>
                        </a:rPr>
                        <a:t>45</a:t>
                      </a:r>
                    </a:p>
                  </a:txBody>
                  <a:tcPr marL="64008" marR="64008" marT="27432" marB="27432" anchor="ctr">
                    <a:solidFill>
                      <a:srgbClr val="FFFFFF"/>
                    </a:solidFill>
                  </a:tcPr>
                </a:tc>
                <a:tc>
                  <a:txBody>
                    <a:bodyPr wrap="square"/>
                    <a:lstStyle/>
                    <a:p>
                      <a:r>
                        <a:rPr sz="1250" b="1" i="0">
                          <a:solidFill>
                            <a:srgbClr val="000000"/>
                          </a:solidFill>
                          <a:latin typeface="Calibri"/>
                        </a:rPr>
                        <a:t>2.4 µs each</a:t>
                      </a:r>
                    </a:p>
                  </a:txBody>
                  <a:tcPr marL="64008" marR="64008" marT="27432" marB="27432" anchor="ctr">
                    <a:solidFill>
                      <a:srgbClr val="FFFFFF"/>
                    </a:solidFill>
                  </a:tcPr>
                </a:tc>
              </a:tr>
              <a:tr h="384048">
                <a:tc>
                  <a:txBody>
                    <a:bodyPr wrap="square"/>
                    <a:lstStyle/>
                    <a:p>
                      <a:r>
                        <a:rPr sz="1250" b="0" i="0">
                          <a:solidFill>
                            <a:srgbClr val="000000"/>
                          </a:solidFill>
                          <a:latin typeface="Calibri"/>
                        </a:rPr>
                        <a:t>Verify a full signature (cold)</a:t>
                      </a:r>
                    </a:p>
                  </a:txBody>
                  <a:tcPr marL="64008" marR="64008" marT="27432" marB="27432" anchor="ctr">
                    <a:solidFill>
                      <a:srgbClr val="F2F2FD"/>
                    </a:solidFill>
                  </a:tcPr>
                </a:tc>
                <a:tc>
                  <a:txBody>
                    <a:bodyPr wrap="square"/>
                    <a:lstStyle/>
                    <a:p>
                      <a:r>
                        <a:rPr sz="1250" b="0" i="0">
                          <a:solidFill>
                            <a:srgbClr val="000000"/>
                          </a:solidFill>
                          <a:latin typeface="Calibri"/>
                        </a:rPr>
                        <a:t>16</a:t>
                      </a:r>
                    </a:p>
                  </a:txBody>
                  <a:tcPr marL="64008" marR="64008" marT="27432" marB="27432" anchor="ctr">
                    <a:solidFill>
                      <a:srgbClr val="F2F2FD"/>
                    </a:solidFill>
                  </a:tcPr>
                </a:tc>
                <a:tc>
                  <a:txBody>
                    <a:bodyPr wrap="square"/>
                    <a:lstStyle/>
                    <a:p>
                      <a:r>
                        <a:rPr sz="1250" b="0" i="0">
                          <a:solidFill>
                            <a:srgbClr val="000000"/>
                          </a:solidFill>
                          <a:latin typeface="Calibri"/>
                        </a:rPr>
                        <a:t>604 µs each</a:t>
                      </a:r>
                    </a:p>
                  </a:txBody>
                  <a:tcPr marL="64008" marR="64008" marT="27432" marB="27432" anchor="ctr">
                    <a:solidFill>
                      <a:srgbClr val="F2F2FD"/>
                    </a:solidFill>
                  </a:tcPr>
                </a:tc>
              </a:tr>
              <a:tr h="384048">
                <a:tc>
                  <a:txBody>
                    <a:bodyPr wrap="square"/>
                    <a:lstStyle/>
                    <a:p>
                      <a:r>
                        <a:rPr sz="1250" b="0" i="0">
                          <a:solidFill>
                            <a:srgbClr val="000000"/>
                          </a:solidFill>
                          <a:latin typeface="Calibri"/>
                        </a:rPr>
                        <a:t>Tamper: message, signature, ladder</a:t>
                      </a:r>
                    </a:p>
                  </a:txBody>
                  <a:tcPr marL="64008" marR="64008" marT="27432" marB="27432" anchor="ctr">
                    <a:solidFill>
                      <a:srgbClr val="FFFFFF"/>
                    </a:solidFill>
                  </a:tcPr>
                </a:tc>
                <a:tc>
                  <a:txBody>
                    <a:bodyPr wrap="square"/>
                    <a:lstStyle/>
                    <a:p>
                      <a:r>
                        <a:rPr sz="1250" b="0" i="0">
                          <a:solidFill>
                            <a:srgbClr val="000000"/>
                          </a:solidFill>
                          <a:latin typeface="Calibri"/>
                        </a:rPr>
                        <a:t>3</a:t>
                      </a:r>
                    </a:p>
                  </a:txBody>
                  <a:tcPr marL="64008" marR="64008" marT="27432" marB="27432" anchor="ctr">
                    <a:solidFill>
                      <a:srgbClr val="FFFFFF"/>
                    </a:solidFill>
                  </a:tcPr>
                </a:tc>
                <a:tc>
                  <a:txBody>
                    <a:bodyPr wrap="square"/>
                    <a:lstStyle/>
                    <a:p>
                      <a:r>
                        <a:rPr sz="1250" b="0" i="0">
                          <a:solidFill>
                            <a:srgbClr val="000000"/>
                          </a:solidFill>
                          <a:latin typeface="Calibri"/>
                        </a:rPr>
                        <a:t>all rejected</a:t>
                      </a:r>
                    </a:p>
                  </a:txBody>
                  <a:tcPr marL="64008" marR="64008" marT="27432" marB="27432" anchor="ctr">
                    <a:solidFill>
                      <a:srgbClr val="FFFFFF"/>
                    </a:solidFill>
                  </a:tcPr>
                </a:tc>
              </a:tr>
            </a:tbl>
          </a:graphicData>
        </a:graphic>
      </p:graphicFrame>
      <p:sp>
        <p:nvSpPr>
          <p:cNvPr id="14" name="Rectangle 13"/>
          <p:cNvSpPr/>
          <p:nvPr/>
        </p:nvSpPr>
        <p:spPr>
          <a:xfrm>
            <a:off x="6720840" y="2514600"/>
            <a:ext cx="4937760" cy="3474720"/>
          </a:xfrm>
          <a:prstGeom prst="rect">
            <a:avLst/>
          </a:prstGeom>
          <a:solidFill>
            <a:srgbClr val="F2F2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p>
        </p:txBody>
      </p:sp>
      <p:sp>
        <p:nvSpPr>
          <p:cNvPr id="15" name="TextBox 14"/>
          <p:cNvSpPr txBox="1"/>
          <p:nvPr/>
        </p:nvSpPr>
        <p:spPr>
          <a:xfrm>
            <a:off x="6885431" y="2651760"/>
            <a:ext cx="4608576" cy="365760"/>
          </a:xfrm>
          <a:prstGeom prst="rect">
            <a:avLst/>
          </a:prstGeom>
          <a:noFill/>
        </p:spPr>
        <p:txBody>
          <a:bodyPr wrap="square" anchor="t" lIns="0" rIns="0" tIns="0" bIns="0">
            <a:spAutoFit/>
          </a:bodyPr>
          <a:lstStyle/>
          <a:p>
            <a:pPr algn="l"/>
            <a:r>
              <a:rPr sz="1500" b="1" i="0">
                <a:solidFill>
                  <a:srgbClr val="0000DC"/>
                </a:solidFill>
                <a:latin typeface="Calibri"/>
              </a:rPr>
              <a:t>Other modes, same zone</a:t>
            </a:r>
          </a:p>
        </p:txBody>
      </p:sp>
      <p:sp>
        <p:nvSpPr>
          <p:cNvPr id="16" name="TextBox 15"/>
          <p:cNvSpPr txBox="1"/>
          <p:nvPr/>
        </p:nvSpPr>
        <p:spPr>
          <a:xfrm>
            <a:off x="6885431" y="3063240"/>
            <a:ext cx="4608576" cy="2834639"/>
          </a:xfrm>
          <a:prstGeom prst="rect">
            <a:avLst/>
          </a:prstGeom>
          <a:noFill/>
        </p:spPr>
        <p:txBody>
          <a:bodyPr wrap="square" anchor="t" lIns="0" rIns="0" tIns="0" bIns="0">
            <a:spAutoFit/>
          </a:bodyPr>
          <a:lstStyle/>
          <a:p>
            <a:pPr algn="l" marL="274320" indent="-274320">
              <a:buClr>
                <a:srgbClr val="0000DC"/>
              </a:buClr>
              <a:buFont typeface="Arial"/>
              <a:buChar char="•"/>
            </a:pPr>
            <a:r>
              <a:rPr sz="1300" b="1" i="0">
                <a:solidFill>
                  <a:srgbClr val="000000"/>
                </a:solidFill>
                <a:latin typeface="Calibri"/>
              </a:rPr>
              <a:t>SLH-DSA direct</a:t>
            </a:r>
            <a:r>
              <a:rPr sz="1300" b="0" i="0">
                <a:solidFill>
                  <a:srgbClr val="000000"/>
                </a:solidFill>
                <a:latin typeface="Calibri"/>
              </a:rPr>
              <a:t>: 45 × sign ≈ </a:t>
            </a:r>
            <a:r>
              <a:rPr sz="1300" b="1" i="0">
                <a:solidFill>
                  <a:srgbClr val="000000"/>
                </a:solidFill>
                <a:latin typeface="Calibri"/>
              </a:rPr>
              <a:t>0.50 s</a:t>
            </a:r>
            <a:r>
              <a:rPr sz="1300" b="0" i="0">
                <a:solidFill>
                  <a:srgbClr val="000000"/>
                </a:solidFill>
                <a:latin typeface="Calibri"/>
              </a:rPr>
              <a:t>, 45 × verify ≈ 0.47 ms.</a:t>
            </a:r>
          </a:p>
          <a:p>
            <a:pPr algn="l" marL="274320" indent="-274320">
              <a:spcBef>
                <a:spcPts val="600"/>
              </a:spcBef>
              <a:buClr>
                <a:srgbClr val="0000DC"/>
              </a:buClr>
              <a:buFont typeface="Arial"/>
              <a:buChar char="•"/>
            </a:pPr>
            <a:r>
              <a:rPr sz="1300" b="1" i="0">
                <a:solidFill>
                  <a:srgbClr val="000000"/>
                </a:solidFill>
                <a:latin typeface="Calibri"/>
              </a:rPr>
              <a:t>Ed25519</a:t>
            </a:r>
            <a:r>
              <a:rPr sz="1300" b="0" i="0">
                <a:solidFill>
                  <a:srgbClr val="000000"/>
                </a:solidFill>
                <a:latin typeface="Calibri"/>
              </a:rPr>
              <a:t>: 45 × sign ≈ 31 µs, verify ≈ 93 µs. ECDSA signatures converted to DNSSEC's 64-byte form.</a:t>
            </a:r>
          </a:p>
          <a:p>
            <a:pPr algn="l" marL="274320" indent="-274320">
              <a:spcBef>
                <a:spcPts val="600"/>
              </a:spcBef>
              <a:buClr>
                <a:srgbClr val="0000DC"/>
              </a:buClr>
              <a:buFont typeface="Arial"/>
              <a:buChar char="•"/>
            </a:pPr>
            <a:r>
              <a:rPr sz="1300" b="1" i="0">
                <a:solidFill>
                  <a:srgbClr val="000000"/>
                </a:solidFill>
                <a:latin typeface="Calibri"/>
              </a:rPr>
              <a:t>Outputs</a:t>
            </a:r>
            <a:r>
              <a:rPr sz="1300" b="0" i="0">
                <a:solidFill>
                  <a:srgbClr val="000000"/>
                </a:solidFill>
                <a:latin typeface="Calibri"/>
              </a:rPr>
              <a:t>: raw/*.json.gz (45, exact JSON), artifacts/ (trial 0 signatures, used in stage 5), trials.csv (45 rows), ops.parquet (16,899 timed calls).</a:t>
            </a:r>
          </a:p>
          <a:p>
            <a:pPr algn="l" marL="274320" indent="-274320">
              <a:spcBef>
                <a:spcPts val="600"/>
              </a:spcBef>
              <a:buClr>
                <a:srgbClr val="0000DC"/>
              </a:buClr>
              <a:buFont typeface="Arial"/>
              <a:buChar char="•"/>
            </a:pPr>
            <a:r>
              <a:rPr sz="1300" b="0" i="0">
                <a:solidFill>
                  <a:srgbClr val="000000"/>
                </a:solidFill>
                <a:latin typeface="Calibri"/>
              </a:rPr>
              <a:t>All 45 trials: exit 0, 0 failures, every tamper test rejected.</a:t>
            </a:r>
          </a:p>
        </p:txBody>
      </p:sp>
      <p:sp>
        <p:nvSpPr>
          <p:cNvPr id="17" name="TextBox 16"/>
          <p:cNvSpPr txBox="1"/>
          <p:nvPr/>
        </p:nvSpPr>
        <p:spPr>
          <a:xfrm>
            <a:off x="539496" y="6510528"/>
            <a:ext cx="7315200" cy="274320"/>
          </a:xfrm>
          <a:prstGeom prst="rect">
            <a:avLst/>
          </a:prstGeom>
          <a:noFill/>
        </p:spPr>
        <p:txBody>
          <a:bodyPr wrap="square" anchor="t" lIns="0" rIns="0" tIns="0" bIns="0">
            <a:spAutoFit/>
          </a:bodyPr>
          <a:lstStyle/>
          <a:p>
            <a:pPr algn="l"/>
            <a:r>
              <a:rPr sz="1200" b="0" i="0">
                <a:solidFill>
                  <a:srgbClr val="0000DC"/>
                </a:solidFill>
                <a:latin typeface="Calibri"/>
              </a:rPr>
              <a:t>A. Joshi  •  </a:t>
            </a:r>
            <a:r>
              <a:rPr sz="1200" b="1" i="0">
                <a:solidFill>
                  <a:srgbClr val="0000DC"/>
                </a:solidFill>
                <a:latin typeface="Calibri"/>
              </a:rPr>
              <a:t>A3-PS036-TC161</a:t>
            </a:r>
            <a:r>
              <a:rPr sz="1200" b="0" i="0">
                <a:solidFill>
                  <a:srgbClr val="0000DC"/>
                </a:solidFill>
                <a:latin typeface="Calibri"/>
              </a:rPr>
              <a:t>  •  October 8, 2026</a:t>
            </a:r>
          </a:p>
        </p:txBody>
      </p:sp>
      <p:sp>
        <p:nvSpPr>
          <p:cNvPr id="18" name="TextBox 17"/>
          <p:cNvSpPr txBox="1"/>
          <p:nvPr/>
        </p:nvSpPr>
        <p:spPr>
          <a:xfrm>
            <a:off x="9601200" y="6510528"/>
            <a:ext cx="2057400" cy="274320"/>
          </a:xfrm>
          <a:prstGeom prst="rect">
            <a:avLst/>
          </a:prstGeom>
          <a:noFill/>
        </p:spPr>
        <p:txBody>
          <a:bodyPr wrap="square" anchor="t" lIns="0" rIns="0" tIns="0" bIns="0">
            <a:spAutoFit/>
          </a:bodyPr>
          <a:lstStyle/>
          <a:p>
            <a:pPr algn="r"/>
            <a:r>
              <a:rPr sz="1200" b="0" i="0">
                <a:solidFill>
                  <a:srgbClr val="0000DC"/>
                </a:solidFill>
                <a:latin typeface="Calibri"/>
              </a:rPr>
              <a:t>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6080" y="73152"/>
            <a:ext cx="3200400" cy="274320"/>
          </a:xfrm>
          <a:prstGeom prst="rect">
            <a:avLst/>
          </a:prstGeom>
          <a:noFill/>
        </p:spPr>
        <p:txBody>
          <a:bodyPr wrap="square" anchor="t" lIns="0" rIns="0" tIns="0" bIns="0">
            <a:spAutoFit/>
          </a:bodyPr>
          <a:lstStyle/>
          <a:p>
            <a:pPr algn="r"/>
            <a:r>
              <a:rPr sz="1200" b="1" i="0">
                <a:solidFill>
                  <a:srgbClr val="0000DC"/>
                </a:solidFill>
                <a:latin typeface="Calibri"/>
              </a:rPr>
              <a:t>AIORI 3</a:t>
            </a:r>
          </a:p>
        </p:txBody>
      </p:sp>
      <p:sp>
        <p:nvSpPr>
          <p:cNvPr id="3" name="TextBox 2"/>
          <p:cNvSpPr txBox="1"/>
          <p:nvPr/>
        </p:nvSpPr>
        <p:spPr>
          <a:xfrm>
            <a:off x="6263640" y="73152"/>
            <a:ext cx="5486400" cy="274320"/>
          </a:xfrm>
          <a:prstGeom prst="rect">
            <a:avLst/>
          </a:prstGeom>
          <a:noFill/>
        </p:spPr>
        <p:txBody>
          <a:bodyPr wrap="square" anchor="t" lIns="0" rIns="0" tIns="0" bIns="0">
            <a:spAutoFit/>
          </a:bodyPr>
          <a:lstStyle/>
          <a:p>
            <a:pPr algn="l"/>
            <a:r>
              <a:rPr sz="1200" b="1" i="0">
                <a:solidFill>
                  <a:srgbClr val="0000DC"/>
                </a:solidFill>
                <a:latin typeface="Calibri"/>
              </a:rPr>
              <a:t>Stage 5</a:t>
            </a:r>
          </a:p>
        </p:txBody>
      </p:sp>
      <p:sp>
        <p:nvSpPr>
          <p:cNvPr id="4" name="TextBox 3"/>
          <p:cNvSpPr txBox="1"/>
          <p:nvPr/>
        </p:nvSpPr>
        <p:spPr>
          <a:xfrm>
            <a:off x="539496" y="384048"/>
            <a:ext cx="11109960" cy="548640"/>
          </a:xfrm>
          <a:prstGeom prst="rect">
            <a:avLst/>
          </a:prstGeom>
          <a:noFill/>
        </p:spPr>
        <p:txBody>
          <a:bodyPr wrap="square" anchor="t" lIns="0" rIns="0" tIns="0" bIns="0">
            <a:spAutoFit/>
          </a:bodyPr>
          <a:lstStyle/>
          <a:p>
            <a:pPr algn="l"/>
            <a:r>
              <a:rPr sz="3000" b="1" i="0">
                <a:solidFill>
                  <a:srgbClr val="0000DC"/>
                </a:solidFill>
                <a:latin typeface="Calibri"/>
              </a:rPr>
              <a:t>Stage 5: DNS answers, bytes on the wire, cache</a:t>
            </a:r>
          </a:p>
        </p:txBody>
      </p:sp>
      <p:sp>
        <p:nvSpPr>
          <p:cNvPr id="5" name="TextBox 4"/>
          <p:cNvSpPr txBox="1"/>
          <p:nvPr/>
        </p:nvSpPr>
        <p:spPr>
          <a:xfrm>
            <a:off x="539496" y="978408"/>
            <a:ext cx="11109960" cy="411480"/>
          </a:xfrm>
          <a:prstGeom prst="rect">
            <a:avLst/>
          </a:prstGeom>
          <a:noFill/>
        </p:spPr>
        <p:txBody>
          <a:bodyPr wrap="square" anchor="t" lIns="0" rIns="0" tIns="0" bIns="0">
            <a:spAutoFit/>
          </a:bodyPr>
          <a:lstStyle/>
          <a:p>
            <a:pPr algn="l"/>
            <a:r>
              <a:rPr sz="1700" b="1" i="0">
                <a:solidFill>
                  <a:srgbClr val="000000"/>
                </a:solidFill>
                <a:latin typeface="Calibri"/>
              </a:rPr>
              <a:t>Real DNS messages (dnspython) with the real signatures inside. No verification here: sizes and traffic.</a:t>
            </a:r>
          </a:p>
        </p:txBody>
      </p:sp>
      <p:graphicFrame>
        <p:nvGraphicFramePr>
          <p:cNvPr id="6" name="Table 5"/>
          <p:cNvGraphicFramePr>
            <a:graphicFrameLocks noGrp="1"/>
          </p:cNvGraphicFramePr>
          <p:nvPr/>
        </p:nvGraphicFramePr>
        <p:xfrm>
          <a:off x="539496" y="1600200"/>
          <a:ext cx="9326880" cy="2148840"/>
        </p:xfrm>
        <a:graphic>
          <a:graphicData uri="http://schemas.openxmlformats.org/drawingml/2006/table">
            <a:tbl>
              <a:tblPr firstRow="1" bandRow="1">
                <a:tableStyleId>{5C22544A-7EE6-4342-B048-85BDC9FD1C3A}</a:tableStyleId>
              </a:tblPr>
              <a:tblGrid>
                <a:gridCol w="3383280"/>
                <a:gridCol w="1143000"/>
                <a:gridCol w="1234440"/>
                <a:gridCol w="1965960"/>
                <a:gridCol w="1600200"/>
              </a:tblGrid>
              <a:tr h="429768">
                <a:tc>
                  <a:txBody>
                    <a:bodyPr wrap="square"/>
                    <a:lstStyle/>
                    <a:p>
                      <a:r>
                        <a:rPr sz="1300" b="1" i="0">
                          <a:solidFill>
                            <a:srgbClr val="FFFFFF"/>
                          </a:solidFill>
                          <a:latin typeface="Calibri"/>
                        </a:rPr>
                        <a:t>host000000 A, buffer 1,232 B</a:t>
                      </a:r>
                    </a:p>
                  </a:txBody>
                  <a:tcPr marL="64008" marR="64008" marT="27432" marB="27432" anchor="ctr">
                    <a:solidFill>
                      <a:srgbClr val="0000DC"/>
                    </a:solidFill>
                  </a:tcPr>
                </a:tc>
                <a:tc>
                  <a:txBody>
                    <a:bodyPr wrap="square"/>
                    <a:lstStyle/>
                    <a:p>
                      <a:r>
                        <a:rPr sz="1300" b="1" i="0">
                          <a:solidFill>
                            <a:srgbClr val="FFFFFF"/>
                          </a:solidFill>
                          <a:latin typeface="Calibri"/>
                        </a:rPr>
                        <a:t>Answer</a:t>
                      </a:r>
                    </a:p>
                  </a:txBody>
                  <a:tcPr marL="64008" marR="64008" marT="27432" marB="27432" anchor="ctr">
                    <a:solidFill>
                      <a:srgbClr val="0000DC"/>
                    </a:solidFill>
                  </a:tcPr>
                </a:tc>
                <a:tc>
                  <a:txBody>
                    <a:bodyPr wrap="square"/>
                    <a:lstStyle/>
                    <a:p>
                      <a:r>
                        <a:rPr sz="1300" b="1" i="0">
                          <a:solidFill>
                            <a:srgbClr val="FFFFFF"/>
                          </a:solidFill>
                          <a:latin typeface="Calibri"/>
                        </a:rPr>
                        <a:t>Signature</a:t>
                      </a:r>
                    </a:p>
                  </a:txBody>
                  <a:tcPr marL="64008" marR="64008" marT="27432" marB="27432" anchor="ctr">
                    <a:solidFill>
                      <a:srgbClr val="0000DC"/>
                    </a:solidFill>
                  </a:tcPr>
                </a:tc>
                <a:tc>
                  <a:txBody>
                    <a:bodyPr wrap="square"/>
                    <a:lstStyle/>
                    <a:p>
                      <a:r>
                        <a:rPr sz="1300" b="1" i="0">
                          <a:solidFill>
                            <a:srgbClr val="FFFFFF"/>
                          </a:solidFill>
                          <a:latin typeface="Calibri"/>
                        </a:rPr>
                        <a:t>Transport</a:t>
                      </a:r>
                    </a:p>
                  </a:txBody>
                  <a:tcPr marL="64008" marR="64008" marT="27432" marB="27432" anchor="ctr">
                    <a:solidFill>
                      <a:srgbClr val="0000DC"/>
                    </a:solidFill>
                  </a:tcPr>
                </a:tc>
                <a:tc>
                  <a:txBody>
                    <a:bodyPr wrap="square"/>
                    <a:lstStyle/>
                    <a:p>
                      <a:r>
                        <a:rPr sz="1300" b="1" i="0">
                          <a:solidFill>
                            <a:srgbClr val="FFFFFF"/>
                          </a:solidFill>
                          <a:latin typeface="Calibri"/>
                        </a:rPr>
                        <a:t>Bytes both ways</a:t>
                      </a:r>
                    </a:p>
                  </a:txBody>
                  <a:tcPr marL="64008" marR="64008" marT="27432" marB="27432" anchor="ctr">
                    <a:solidFill>
                      <a:srgbClr val="0000DC"/>
                    </a:solidFill>
                  </a:tcPr>
                </a:tc>
              </a:tr>
              <a:tr h="429768">
                <a:tc>
                  <a:txBody>
                    <a:bodyPr wrap="square"/>
                    <a:lstStyle/>
                    <a:p>
                      <a:r>
                        <a:rPr sz="1300" b="0" i="0">
                          <a:solidFill>
                            <a:srgbClr val="000000"/>
                          </a:solidFill>
                          <a:latin typeface="Calibri"/>
                        </a:rPr>
                        <a:t>Ed25519</a:t>
                      </a:r>
                    </a:p>
                  </a:txBody>
                  <a:tcPr marL="64008" marR="64008" marT="27432" marB="27432" anchor="ctr">
                    <a:solidFill>
                      <a:srgbClr val="F2F2FD"/>
                    </a:solidFill>
                  </a:tcPr>
                </a:tc>
                <a:tc>
                  <a:txBody>
                    <a:bodyPr wrap="square"/>
                    <a:lstStyle/>
                    <a:p>
                      <a:r>
                        <a:rPr sz="1300" b="0" i="0">
                          <a:solidFill>
                            <a:srgbClr val="000000"/>
                          </a:solidFill>
                          <a:latin typeface="Calibri"/>
                        </a:rPr>
                        <a:t>178 B</a:t>
                      </a:r>
                    </a:p>
                  </a:txBody>
                  <a:tcPr marL="64008" marR="64008" marT="27432" marB="27432" anchor="ctr">
                    <a:solidFill>
                      <a:srgbClr val="F2F2FD"/>
                    </a:solidFill>
                  </a:tcPr>
                </a:tc>
                <a:tc>
                  <a:txBody>
                    <a:bodyPr wrap="square"/>
                    <a:lstStyle/>
                    <a:p>
                      <a:r>
                        <a:rPr sz="1300" b="0" i="0">
                          <a:solidFill>
                            <a:srgbClr val="000000"/>
                          </a:solidFill>
                          <a:latin typeface="Calibri"/>
                        </a:rPr>
                        <a:t>64 B</a:t>
                      </a:r>
                    </a:p>
                  </a:txBody>
                  <a:tcPr marL="64008" marR="64008" marT="27432" marB="27432" anchor="ctr">
                    <a:solidFill>
                      <a:srgbClr val="F2F2FD"/>
                    </a:solidFill>
                  </a:tcPr>
                </a:tc>
                <a:tc>
                  <a:txBody>
                    <a:bodyPr wrap="square"/>
                    <a:lstStyle/>
                    <a:p>
                      <a:r>
                        <a:rPr sz="1300" b="0" i="0">
                          <a:solidFill>
                            <a:srgbClr val="000000"/>
                          </a:solidFill>
                          <a:latin typeface="Calibri"/>
                        </a:rPr>
                        <a:t>UDP</a:t>
                      </a:r>
                    </a:p>
                  </a:txBody>
                  <a:tcPr marL="64008" marR="64008" marT="27432" marB="27432" anchor="ctr">
                    <a:solidFill>
                      <a:srgbClr val="F2F2FD"/>
                    </a:solidFill>
                  </a:tcPr>
                </a:tc>
                <a:tc>
                  <a:txBody>
                    <a:bodyPr wrap="square"/>
                    <a:lstStyle/>
                    <a:p>
                      <a:r>
                        <a:rPr sz="1300" b="0" i="0">
                          <a:solidFill>
                            <a:srgbClr val="000000"/>
                          </a:solidFill>
                          <a:latin typeface="Calibri"/>
                        </a:rPr>
                        <a:t>231</a:t>
                      </a:r>
                    </a:p>
                  </a:txBody>
                  <a:tcPr marL="64008" marR="64008" marT="27432" marB="27432" anchor="ctr">
                    <a:solidFill>
                      <a:srgbClr val="F2F2FD"/>
                    </a:solidFill>
                  </a:tcPr>
                </a:tc>
              </a:tr>
              <a:tr h="429768">
                <a:tc>
                  <a:txBody>
                    <a:bodyPr wrap="square"/>
                    <a:lstStyle/>
                    <a:p>
                      <a:r>
                        <a:rPr sz="1300" b="0" i="0">
                          <a:solidFill>
                            <a:srgbClr val="000000"/>
                          </a:solidFill>
                          <a:latin typeface="Calibri"/>
                        </a:rPr>
                        <a:t>SLH-DSA + MTL (ladder cached)</a:t>
                      </a:r>
                    </a:p>
                  </a:txBody>
                  <a:tcPr marL="64008" marR="64008" marT="27432" marB="27432" anchor="ctr">
                    <a:solidFill>
                      <a:srgbClr val="FFFFFF"/>
                    </a:solidFill>
                  </a:tcPr>
                </a:tc>
                <a:tc>
                  <a:txBody>
                    <a:bodyPr wrap="square"/>
                    <a:lstStyle/>
                    <a:p>
                      <a:r>
                        <a:rPr sz="1300" b="0" i="0">
                          <a:solidFill>
                            <a:srgbClr val="000000"/>
                          </a:solidFill>
                          <a:latin typeface="Calibri"/>
                        </a:rPr>
                        <a:t>271 B</a:t>
                      </a:r>
                    </a:p>
                  </a:txBody>
                  <a:tcPr marL="64008" marR="64008" marT="27432" marB="27432" anchor="ctr">
                    <a:solidFill>
                      <a:srgbClr val="FFFFFF"/>
                    </a:solidFill>
                  </a:tcPr>
                </a:tc>
                <a:tc>
                  <a:txBody>
                    <a:bodyPr wrap="square"/>
                    <a:lstStyle/>
                    <a:p>
                      <a:r>
                        <a:rPr sz="1300" b="0" i="0">
                          <a:solidFill>
                            <a:srgbClr val="000000"/>
                          </a:solidFill>
                          <a:latin typeface="Calibri"/>
                        </a:rPr>
                        <a:t>157 B</a:t>
                      </a:r>
                    </a:p>
                  </a:txBody>
                  <a:tcPr marL="64008" marR="64008" marT="27432" marB="27432" anchor="ctr">
                    <a:solidFill>
                      <a:srgbClr val="FFFFFF"/>
                    </a:solidFill>
                  </a:tcPr>
                </a:tc>
                <a:tc>
                  <a:txBody>
                    <a:bodyPr wrap="square"/>
                    <a:lstStyle/>
                    <a:p>
                      <a:r>
                        <a:rPr sz="1300" b="0" i="0">
                          <a:solidFill>
                            <a:srgbClr val="000000"/>
                          </a:solidFill>
                          <a:latin typeface="Calibri"/>
                        </a:rPr>
                        <a:t>UDP</a:t>
                      </a:r>
                    </a:p>
                  </a:txBody>
                  <a:tcPr marL="64008" marR="64008" marT="27432" marB="27432" anchor="ctr">
                    <a:solidFill>
                      <a:srgbClr val="FFFFFF"/>
                    </a:solidFill>
                  </a:tcPr>
                </a:tc>
                <a:tc>
                  <a:txBody>
                    <a:bodyPr wrap="square"/>
                    <a:lstStyle/>
                    <a:p>
                      <a:r>
                        <a:rPr sz="1300" b="0" i="0">
                          <a:solidFill>
                            <a:srgbClr val="000000"/>
                          </a:solidFill>
                          <a:latin typeface="Calibri"/>
                        </a:rPr>
                        <a:t>324</a:t>
                      </a:r>
                    </a:p>
                  </a:txBody>
                  <a:tcPr marL="64008" marR="64008" marT="27432" marB="27432" anchor="ctr">
                    <a:solidFill>
                      <a:srgbClr val="FFFFFF"/>
                    </a:solidFill>
                  </a:tcPr>
                </a:tc>
              </a:tr>
              <a:tr h="429768">
                <a:tc>
                  <a:txBody>
                    <a:bodyPr wrap="square"/>
                    <a:lstStyle/>
                    <a:p>
                      <a:r>
                        <a:rPr sz="1300" b="0" i="0">
                          <a:solidFill>
                            <a:srgbClr val="000000"/>
                          </a:solidFill>
                          <a:latin typeface="Calibri"/>
                        </a:rPr>
                        <a:t>SLH-DSA + MTL, first contact (full)</a:t>
                      </a:r>
                    </a:p>
                  </a:txBody>
                  <a:tcPr marL="64008" marR="64008" marT="27432" marB="27432" anchor="ctr">
                    <a:solidFill>
                      <a:srgbClr val="F2F2FD"/>
                    </a:solidFill>
                  </a:tcPr>
                </a:tc>
                <a:tc>
                  <a:txBody>
                    <a:bodyPr wrap="square"/>
                    <a:lstStyle/>
                    <a:p>
                      <a:r>
                        <a:rPr sz="1300" b="0" i="0">
                          <a:solidFill>
                            <a:srgbClr val="000000"/>
                          </a:solidFill>
                          <a:latin typeface="Calibri"/>
                        </a:rPr>
                        <a:t>8,295 B</a:t>
                      </a:r>
                    </a:p>
                  </a:txBody>
                  <a:tcPr marL="64008" marR="64008" marT="27432" marB="27432" anchor="ctr">
                    <a:solidFill>
                      <a:srgbClr val="F2F2FD"/>
                    </a:solidFill>
                  </a:tcPr>
                </a:tc>
                <a:tc>
                  <a:txBody>
                    <a:bodyPr wrap="square"/>
                    <a:lstStyle/>
                    <a:p>
                      <a:r>
                        <a:rPr sz="1300" b="0" i="0">
                          <a:solidFill>
                            <a:srgbClr val="000000"/>
                          </a:solidFill>
                          <a:latin typeface="Calibri"/>
                        </a:rPr>
                        <a:t>8,181 B</a:t>
                      </a:r>
                    </a:p>
                  </a:txBody>
                  <a:tcPr marL="64008" marR="64008" marT="27432" marB="27432" anchor="ctr">
                    <a:solidFill>
                      <a:srgbClr val="F2F2FD"/>
                    </a:solidFill>
                  </a:tcPr>
                </a:tc>
                <a:tc>
                  <a:txBody>
                    <a:bodyPr wrap="square"/>
                    <a:lstStyle/>
                    <a:p>
                      <a:r>
                        <a:rPr sz="1300" b="0" i="0">
                          <a:solidFill>
                            <a:srgbClr val="000000"/>
                          </a:solidFill>
                          <a:latin typeface="Calibri"/>
                        </a:rPr>
                        <a:t>TCP</a:t>
                      </a:r>
                    </a:p>
                  </a:txBody>
                  <a:tcPr marL="64008" marR="64008" marT="27432" marB="27432" anchor="ctr">
                    <a:solidFill>
                      <a:srgbClr val="F2F2FD"/>
                    </a:solidFill>
                  </a:tcPr>
                </a:tc>
                <a:tc>
                  <a:txBody>
                    <a:bodyPr wrap="square"/>
                    <a:lstStyle/>
                    <a:p>
                      <a:r>
                        <a:rPr sz="1300" b="0" i="0">
                          <a:solidFill>
                            <a:srgbClr val="000000"/>
                          </a:solidFill>
                          <a:latin typeface="Calibri"/>
                        </a:rPr>
                        <a:t>8,356</a:t>
                      </a:r>
                    </a:p>
                  </a:txBody>
                  <a:tcPr marL="64008" marR="64008" marT="27432" marB="27432" anchor="ctr">
                    <a:solidFill>
                      <a:srgbClr val="F2F2FD"/>
                    </a:solidFill>
                  </a:tcPr>
                </a:tc>
              </a:tr>
              <a:tr h="429768">
                <a:tc>
                  <a:txBody>
                    <a:bodyPr wrap="square"/>
                    <a:lstStyle/>
                    <a:p>
                      <a:r>
                        <a:rPr sz="1300" b="0" i="0">
                          <a:solidFill>
                            <a:srgbClr val="000000"/>
                          </a:solidFill>
                          <a:latin typeface="Calibri"/>
                        </a:rPr>
                        <a:t>SLH-DSA direct</a:t>
                      </a:r>
                    </a:p>
                  </a:txBody>
                  <a:tcPr marL="64008" marR="64008" marT="27432" marB="27432" anchor="ctr">
                    <a:solidFill>
                      <a:srgbClr val="FFFFFF"/>
                    </a:solidFill>
                  </a:tcPr>
                </a:tc>
                <a:tc>
                  <a:txBody>
                    <a:bodyPr wrap="square"/>
                    <a:lstStyle/>
                    <a:p>
                      <a:r>
                        <a:rPr sz="1300" b="0" i="0">
                          <a:solidFill>
                            <a:srgbClr val="000000"/>
                          </a:solidFill>
                          <a:latin typeface="Calibri"/>
                        </a:rPr>
                        <a:t>7,970 B</a:t>
                      </a:r>
                    </a:p>
                  </a:txBody>
                  <a:tcPr marL="64008" marR="64008" marT="27432" marB="27432" anchor="ctr">
                    <a:solidFill>
                      <a:srgbClr val="FFFFFF"/>
                    </a:solidFill>
                  </a:tcPr>
                </a:tc>
                <a:tc>
                  <a:txBody>
                    <a:bodyPr wrap="square"/>
                    <a:lstStyle/>
                    <a:p>
                      <a:r>
                        <a:rPr sz="1300" b="0" i="0">
                          <a:solidFill>
                            <a:srgbClr val="000000"/>
                          </a:solidFill>
                          <a:latin typeface="Calibri"/>
                        </a:rPr>
                        <a:t>7,856 B</a:t>
                      </a:r>
                    </a:p>
                  </a:txBody>
                  <a:tcPr marL="64008" marR="64008" marT="27432" marB="27432" anchor="ctr">
                    <a:solidFill>
                      <a:srgbClr val="FFFFFF"/>
                    </a:solidFill>
                  </a:tcPr>
                </a:tc>
                <a:tc>
                  <a:txBody>
                    <a:bodyPr wrap="square"/>
                    <a:lstStyle/>
                    <a:p>
                      <a:r>
                        <a:rPr sz="1300" b="0" i="0">
                          <a:solidFill>
                            <a:srgbClr val="000000"/>
                          </a:solidFill>
                          <a:latin typeface="Calibri"/>
                        </a:rPr>
                        <a:t>UDP → TC=1 → TCP</a:t>
                      </a:r>
                    </a:p>
                  </a:txBody>
                  <a:tcPr marL="64008" marR="64008" marT="27432" marB="27432" anchor="ctr">
                    <a:solidFill>
                      <a:srgbClr val="FFFFFF"/>
                    </a:solidFill>
                  </a:tcPr>
                </a:tc>
                <a:tc>
                  <a:txBody>
                    <a:bodyPr wrap="square"/>
                    <a:lstStyle/>
                    <a:p>
                      <a:r>
                        <a:rPr sz="1300" b="0" i="0">
                          <a:solidFill>
                            <a:srgbClr val="000000"/>
                          </a:solidFill>
                          <a:latin typeface="Calibri"/>
                        </a:rPr>
                        <a:t>8,133</a:t>
                      </a:r>
                    </a:p>
                  </a:txBody>
                  <a:tcPr marL="64008" marR="64008" marT="27432" marB="27432" anchor="ctr">
                    <a:solidFill>
                      <a:srgbClr val="FFFFFF"/>
                    </a:solidFill>
                  </a:tcPr>
                </a:tc>
              </a:tr>
            </a:tbl>
          </a:graphicData>
        </a:graphic>
      </p:graphicFrame>
      <p:sp>
        <p:nvSpPr>
          <p:cNvPr id="7" name="Rectangle 6"/>
          <p:cNvSpPr/>
          <p:nvPr/>
        </p:nvSpPr>
        <p:spPr>
          <a:xfrm>
            <a:off x="539496" y="3886200"/>
            <a:ext cx="5486400" cy="1188720"/>
          </a:xfrm>
          <a:prstGeom prst="rect">
            <a:avLst/>
          </a:prstGeom>
          <a:solidFill>
            <a:srgbClr val="F2F2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1350" b="1" i="0">
                <a:solidFill>
                  <a:srgbClr val="0000DC"/>
                </a:solidFill>
                <a:latin typeface="Calibri"/>
              </a:rPr>
              <a:t>Transport model</a:t>
            </a:r>
            <a:r>
              <a:rPr sz="1350" b="0" i="0">
                <a:solidFill>
                  <a:srgbClr val="0000DC"/>
                </a:solidFill>
                <a:latin typeface="Calibri"/>
              </a:rPr>
              <a:t> (dnswire.exchange)</a:t>
            </a:r>
          </a:p>
          <a:p>
            <a:pPr algn="l"/>
            <a:r>
              <a:rPr sz="1300" b="0" i="0">
                <a:solidFill>
                  <a:srgbClr val="000000"/>
                </a:solidFill>
                <a:latin typeface="Calibri"/>
              </a:rPr>
              <a:t>fits:  query + answer</a:t>
            </a:r>
          </a:p>
          <a:p>
            <a:pPr algn="l"/>
            <a:r>
              <a:rPr sz="1300" b="0" i="0">
                <a:solidFill>
                  <a:srgbClr val="000000"/>
                </a:solidFill>
                <a:latin typeface="Calibri"/>
              </a:rPr>
              <a:t>too big:  query + TC reply + (2 + query) + (2 + answer)</a:t>
            </a:r>
          </a:p>
          <a:p>
            <a:pPr algn="l"/>
            <a:r>
              <a:rPr sz="1300" b="0" i="0">
                <a:solidFill>
                  <a:srgbClr val="000000"/>
                </a:solidFill>
                <a:latin typeface="Calibri"/>
              </a:rPr>
              <a:t>MTL full:  (2 + query) + (2 + answer) over TCP</a:t>
            </a:r>
          </a:p>
        </p:txBody>
      </p:sp>
      <p:sp>
        <p:nvSpPr>
          <p:cNvPr id="8" name="TextBox 7"/>
          <p:cNvSpPr txBox="1"/>
          <p:nvPr/>
        </p:nvSpPr>
        <p:spPr>
          <a:xfrm>
            <a:off x="539496" y="5212080"/>
            <a:ext cx="5486400" cy="1188720"/>
          </a:xfrm>
          <a:prstGeom prst="rect">
            <a:avLst/>
          </a:prstGeom>
          <a:noFill/>
        </p:spPr>
        <p:txBody>
          <a:bodyPr wrap="square" anchor="t" lIns="0" rIns="0" tIns="0" bIns="0">
            <a:spAutoFit/>
          </a:bodyPr>
          <a:lstStyle/>
          <a:p>
            <a:pPr algn="l" marL="274320" indent="-274320">
              <a:buClr>
                <a:srgbClr val="0000DC"/>
              </a:buClr>
              <a:buFont typeface="Arial"/>
              <a:buChar char="•"/>
            </a:pPr>
            <a:r>
              <a:rPr sz="1250" b="1" i="0">
                <a:solidFill>
                  <a:srgbClr val="000000"/>
                </a:solidFill>
                <a:latin typeface="Calibri"/>
              </a:rPr>
              <a:t>responses.csv</a:t>
            </a:r>
            <a:r>
              <a:rPr sz="1250" b="0" i="0">
                <a:solidFill>
                  <a:srgbClr val="000000"/>
                </a:solidFill>
                <a:latin typeface="Calibri"/>
              </a:rPr>
              <a:t>: every answer measured once (DNSKEY, each name, 50 NXDOMAIN) at 1,232 and 4,096 B.</a:t>
            </a:r>
          </a:p>
          <a:p>
            <a:pPr algn="l" marL="274320" indent="-274320">
              <a:spcBef>
                <a:spcPts val="400"/>
              </a:spcBef>
              <a:buClr>
                <a:srgbClr val="0000DC"/>
              </a:buClr>
              <a:buFont typeface="Arial"/>
              <a:buChar char="•"/>
            </a:pPr>
            <a:r>
              <a:rPr sz="1250" b="1" i="0">
                <a:solidFill>
                  <a:srgbClr val="000000"/>
                </a:solidFill>
                <a:latin typeface="Calibri"/>
              </a:rPr>
              <a:t>cache.csv</a:t>
            </a:r>
            <a:r>
              <a:rPr sz="1250" b="0" i="0">
                <a:solidFill>
                  <a:srgbClr val="000000"/>
                </a:solidFill>
                <a:latin typeface="Calibri"/>
              </a:rPr>
              <a:t>: answers loaded into dnspython's cache and measured.</a:t>
            </a:r>
          </a:p>
        </p:txBody>
      </p:sp>
      <p:sp>
        <p:nvSpPr>
          <p:cNvPr id="9" name="Rectangle 8"/>
          <p:cNvSpPr/>
          <p:nvPr/>
        </p:nvSpPr>
        <p:spPr>
          <a:xfrm>
            <a:off x="6263640" y="3886200"/>
            <a:ext cx="5394960" cy="2468880"/>
          </a:xfrm>
          <a:prstGeom prst="rect">
            <a:avLst/>
          </a:prstGeom>
          <a:solidFill>
            <a:srgbClr val="F2F2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p>
        </p:txBody>
      </p:sp>
      <p:sp>
        <p:nvSpPr>
          <p:cNvPr id="10" name="TextBox 9"/>
          <p:cNvSpPr txBox="1"/>
          <p:nvPr/>
        </p:nvSpPr>
        <p:spPr>
          <a:xfrm>
            <a:off x="6428231" y="4023360"/>
            <a:ext cx="5065776" cy="365760"/>
          </a:xfrm>
          <a:prstGeom prst="rect">
            <a:avLst/>
          </a:prstGeom>
          <a:noFill/>
        </p:spPr>
        <p:txBody>
          <a:bodyPr wrap="square" anchor="t" lIns="0" rIns="0" tIns="0" bIns="0">
            <a:spAutoFit/>
          </a:bodyPr>
          <a:lstStyle/>
          <a:p>
            <a:pPr algn="l"/>
            <a:r>
              <a:rPr sz="1500" b="1" i="0">
                <a:solidFill>
                  <a:srgbClr val="0000DC"/>
                </a:solidFill>
                <a:latin typeface="Calibri"/>
              </a:rPr>
              <a:t>The lookup stream (workload.csv)</a:t>
            </a:r>
          </a:p>
        </p:txBody>
      </p:sp>
      <p:sp>
        <p:nvSpPr>
          <p:cNvPr id="11" name="TextBox 10"/>
          <p:cNvSpPr txBox="1"/>
          <p:nvPr/>
        </p:nvSpPr>
        <p:spPr>
          <a:xfrm>
            <a:off x="6428231" y="4434840"/>
            <a:ext cx="5065776" cy="1828800"/>
          </a:xfrm>
          <a:prstGeom prst="rect">
            <a:avLst/>
          </a:prstGeom>
          <a:noFill/>
        </p:spPr>
        <p:txBody>
          <a:bodyPr wrap="square" anchor="t" lIns="0" rIns="0" tIns="0" bIns="0">
            <a:spAutoFit/>
          </a:bodyPr>
          <a:lstStyle/>
          <a:p>
            <a:pPr algn="l" marL="274320" indent="-274320">
              <a:buClr>
                <a:srgbClr val="0000DC"/>
              </a:buClr>
              <a:buFont typeface="Arial"/>
              <a:buChar char="•"/>
            </a:pPr>
            <a:r>
              <a:rPr sz="1250" b="1" i="0">
                <a:solidFill>
                  <a:srgbClr val="000000"/>
                </a:solidFill>
                <a:latin typeface="Calibri"/>
              </a:rPr>
              <a:t>301 lookups</a:t>
            </a:r>
            <a:r>
              <a:rPr sz="1250" b="0" i="0">
                <a:solidFill>
                  <a:srgbClr val="000000"/>
                </a:solidFill>
                <a:latin typeface="Calibri"/>
              </a:rPr>
              <a:t>: DNSKEY first, then 300; 10% for names that do not exist.</a:t>
            </a:r>
          </a:p>
          <a:p>
            <a:pPr algn="l" marL="274320" indent="-274320">
              <a:spcBef>
                <a:spcPts val="600"/>
              </a:spcBef>
              <a:buClr>
                <a:srgbClr val="0000DC"/>
              </a:buClr>
              <a:buFont typeface="Arial"/>
              <a:buChar char="•"/>
            </a:pPr>
            <a:r>
              <a:rPr sz="1250" b="0" i="0">
                <a:solidFill>
                  <a:srgbClr val="000000"/>
                </a:solidFill>
                <a:latin typeface="Calibri"/>
              </a:rPr>
              <a:t>Popularity follows </a:t>
            </a:r>
            <a:r>
              <a:rPr sz="1250" b="1" i="0">
                <a:solidFill>
                  <a:srgbClr val="000000"/>
                </a:solidFill>
                <a:latin typeface="Calibri"/>
              </a:rPr>
              <a:t>Zipf (s = 1.1)</a:t>
            </a:r>
            <a:r>
              <a:rPr sz="1250" b="0" i="0">
                <a:solidFill>
                  <a:srgbClr val="000000"/>
                </a:solidFill>
                <a:latin typeface="Calibri"/>
              </a:rPr>
              <a:t>: rank r gets weight 1/(r+1)^1.1, like real DNS traffic.</a:t>
            </a:r>
          </a:p>
          <a:p>
            <a:pPr algn="l" marL="274320" indent="-274320">
              <a:spcBef>
                <a:spcPts val="600"/>
              </a:spcBef>
              <a:buClr>
                <a:srgbClr val="0000DC"/>
              </a:buClr>
              <a:buFont typeface="Arial"/>
              <a:buChar char="•"/>
            </a:pPr>
            <a:r>
              <a:rPr sz="1250" b="0" i="0">
                <a:solidFill>
                  <a:srgbClr val="000000"/>
                </a:solidFill>
                <a:latin typeface="Calibri"/>
              </a:rPr>
              <a:t>A repeat lookup is served from the </a:t>
            </a:r>
            <a:r>
              <a:rPr sz="1250" b="1" i="0">
                <a:solidFill>
                  <a:srgbClr val="000000"/>
                </a:solidFill>
                <a:latin typeface="Calibri"/>
              </a:rPr>
              <a:t>resolver cache</a:t>
            </a:r>
            <a:r>
              <a:rPr sz="1250" b="0" i="0">
                <a:solidFill>
                  <a:srgbClr val="000000"/>
                </a:solidFill>
                <a:latin typeface="Calibri"/>
              </a:rPr>
              <a:t>: only </a:t>
            </a:r>
            <a:r>
              <a:rPr sz="1250" b="1" i="0">
                <a:solidFill>
                  <a:srgbClr val="000000"/>
                </a:solidFill>
                <a:latin typeface="Calibri"/>
              </a:rPr>
              <a:t>48 / 74 / 106</a:t>
            </a:r>
            <a:r>
              <a:rPr sz="1250" b="0" i="0">
                <a:solidFill>
                  <a:srgbClr val="000000"/>
                </a:solidFill>
                <a:latin typeface="Calibri"/>
              </a:rPr>
              <a:t> answers are sent.</a:t>
            </a:r>
          </a:p>
          <a:p>
            <a:pPr algn="l" marL="274320" indent="-274320">
              <a:spcBef>
                <a:spcPts val="600"/>
              </a:spcBef>
              <a:buClr>
                <a:srgbClr val="0000DC"/>
              </a:buClr>
              <a:buFont typeface="Arial"/>
              <a:buChar char="•"/>
            </a:pPr>
            <a:r>
              <a:rPr sz="1250" b="0" i="0">
                <a:solidFill>
                  <a:srgbClr val="000000"/>
                </a:solidFill>
                <a:latin typeface="Calibri"/>
              </a:rPr>
              <a:t>MTL: after the first answer, </a:t>
            </a:r>
            <a:r>
              <a:rPr sz="1250" b="1" i="0">
                <a:solidFill>
                  <a:srgbClr val="000000"/>
                </a:solidFill>
                <a:latin typeface="Calibri"/>
              </a:rPr>
              <a:t>one</a:t>
            </a:r>
            <a:r>
              <a:rPr sz="1250" b="0" i="0">
                <a:solidFill>
                  <a:srgbClr val="000000"/>
                </a:solidFill>
                <a:latin typeface="Calibri"/>
              </a:rPr>
              <a:t> mtl-mode-full fetch of the ladder over TCP.</a:t>
            </a:r>
          </a:p>
        </p:txBody>
      </p:sp>
      <p:sp>
        <p:nvSpPr>
          <p:cNvPr id="12" name="TextBox 11"/>
          <p:cNvSpPr txBox="1"/>
          <p:nvPr/>
        </p:nvSpPr>
        <p:spPr>
          <a:xfrm>
            <a:off x="539496" y="6510528"/>
            <a:ext cx="7315200" cy="274320"/>
          </a:xfrm>
          <a:prstGeom prst="rect">
            <a:avLst/>
          </a:prstGeom>
          <a:noFill/>
        </p:spPr>
        <p:txBody>
          <a:bodyPr wrap="square" anchor="t" lIns="0" rIns="0" tIns="0" bIns="0">
            <a:spAutoFit/>
          </a:bodyPr>
          <a:lstStyle/>
          <a:p>
            <a:pPr algn="l"/>
            <a:r>
              <a:rPr sz="1200" b="0" i="0">
                <a:solidFill>
                  <a:srgbClr val="0000DC"/>
                </a:solidFill>
                <a:latin typeface="Calibri"/>
              </a:rPr>
              <a:t>A. Joshi  •  </a:t>
            </a:r>
            <a:r>
              <a:rPr sz="1200" b="1" i="0">
                <a:solidFill>
                  <a:srgbClr val="0000DC"/>
                </a:solidFill>
                <a:latin typeface="Calibri"/>
              </a:rPr>
              <a:t>A3-PS036-TC161</a:t>
            </a:r>
            <a:r>
              <a:rPr sz="1200" b="0" i="0">
                <a:solidFill>
                  <a:srgbClr val="0000DC"/>
                </a:solidFill>
                <a:latin typeface="Calibri"/>
              </a:rPr>
              <a:t>  •  October 8, 2026</a:t>
            </a:r>
          </a:p>
        </p:txBody>
      </p:sp>
      <p:sp>
        <p:nvSpPr>
          <p:cNvPr id="13" name="TextBox 12"/>
          <p:cNvSpPr txBox="1"/>
          <p:nvPr/>
        </p:nvSpPr>
        <p:spPr>
          <a:xfrm>
            <a:off x="9601200" y="6510528"/>
            <a:ext cx="2057400" cy="274320"/>
          </a:xfrm>
          <a:prstGeom prst="rect">
            <a:avLst/>
          </a:prstGeom>
          <a:noFill/>
        </p:spPr>
        <p:txBody>
          <a:bodyPr wrap="square" anchor="t" lIns="0" rIns="0" tIns="0" bIns="0">
            <a:spAutoFit/>
          </a:bodyPr>
          <a:lstStyle/>
          <a:p>
            <a:pPr algn="r"/>
            <a:r>
              <a:rPr sz="1200" b="0" i="0">
                <a:solidFill>
                  <a:srgbClr val="0000DC"/>
                </a:solidFill>
                <a:latin typeface="Calibri"/>
              </a:rPr>
              <a:t>13 /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6080" y="73152"/>
            <a:ext cx="3200400" cy="274320"/>
          </a:xfrm>
          <a:prstGeom prst="rect">
            <a:avLst/>
          </a:prstGeom>
          <a:noFill/>
        </p:spPr>
        <p:txBody>
          <a:bodyPr wrap="square" anchor="t" lIns="0" rIns="0" tIns="0" bIns="0">
            <a:spAutoFit/>
          </a:bodyPr>
          <a:lstStyle/>
          <a:p>
            <a:pPr algn="r"/>
            <a:r>
              <a:rPr sz="1200" b="1" i="0">
                <a:solidFill>
                  <a:srgbClr val="0000DC"/>
                </a:solidFill>
                <a:latin typeface="Calibri"/>
              </a:rPr>
              <a:t>AIORI 3</a:t>
            </a:r>
          </a:p>
        </p:txBody>
      </p:sp>
      <p:sp>
        <p:nvSpPr>
          <p:cNvPr id="3" name="TextBox 2"/>
          <p:cNvSpPr txBox="1"/>
          <p:nvPr/>
        </p:nvSpPr>
        <p:spPr>
          <a:xfrm>
            <a:off x="6263640" y="73152"/>
            <a:ext cx="5486400" cy="274320"/>
          </a:xfrm>
          <a:prstGeom prst="rect">
            <a:avLst/>
          </a:prstGeom>
          <a:noFill/>
        </p:spPr>
        <p:txBody>
          <a:bodyPr wrap="square" anchor="t" lIns="0" rIns="0" tIns="0" bIns="0">
            <a:spAutoFit/>
          </a:bodyPr>
          <a:lstStyle/>
          <a:p>
            <a:pPr algn="l"/>
            <a:r>
              <a:rPr sz="1200" b="1" i="0">
                <a:solidFill>
                  <a:srgbClr val="0000DC"/>
                </a:solidFill>
                <a:latin typeface="Calibri"/>
              </a:rPr>
              <a:t>Stages 6 and 7</a:t>
            </a:r>
          </a:p>
        </p:txBody>
      </p:sp>
      <p:sp>
        <p:nvSpPr>
          <p:cNvPr id="4" name="TextBox 3"/>
          <p:cNvSpPr txBox="1"/>
          <p:nvPr/>
        </p:nvSpPr>
        <p:spPr>
          <a:xfrm>
            <a:off x="539496" y="384048"/>
            <a:ext cx="11109960" cy="548640"/>
          </a:xfrm>
          <a:prstGeom prst="rect">
            <a:avLst/>
          </a:prstGeom>
          <a:noFill/>
        </p:spPr>
        <p:txBody>
          <a:bodyPr wrap="square" anchor="t" lIns="0" rIns="0" tIns="0" bIns="0">
            <a:spAutoFit/>
          </a:bodyPr>
          <a:lstStyle/>
          <a:p>
            <a:pPr algn="l"/>
            <a:r>
              <a:rPr sz="3000" b="1" i="0">
                <a:solidFill>
                  <a:srgbClr val="0000DC"/>
                </a:solidFill>
                <a:latin typeface="Calibri"/>
              </a:rPr>
              <a:t>Stages 6–7: statistics and report</a:t>
            </a:r>
          </a:p>
        </p:txBody>
      </p:sp>
      <p:sp>
        <p:nvSpPr>
          <p:cNvPr id="5" name="TextBox 4"/>
          <p:cNvSpPr txBox="1"/>
          <p:nvPr/>
        </p:nvSpPr>
        <p:spPr>
          <a:xfrm>
            <a:off x="539496" y="978408"/>
            <a:ext cx="11109960" cy="411480"/>
          </a:xfrm>
          <a:prstGeom prst="rect">
            <a:avLst/>
          </a:prstGeom>
          <a:noFill/>
        </p:spPr>
        <p:txBody>
          <a:bodyPr wrap="square" anchor="t" lIns="0" rIns="0" tIns="0" bIns="0">
            <a:spAutoFit/>
          </a:bodyPr>
          <a:lstStyle/>
          <a:p>
            <a:pPr algn="l"/>
            <a:r>
              <a:rPr sz="1700" b="1" i="0">
                <a:solidFill>
                  <a:srgbClr val="000000"/>
                </a:solidFill>
                <a:latin typeface="Calibri"/>
              </a:rPr>
              <a:t>Medians over trials with a 95% bootstrap confidence interval; one report per run.</a:t>
            </a:r>
          </a:p>
        </p:txBody>
      </p:sp>
      <p:sp>
        <p:nvSpPr>
          <p:cNvPr id="6" name="TextBox 5"/>
          <p:cNvSpPr txBox="1"/>
          <p:nvPr/>
        </p:nvSpPr>
        <p:spPr>
          <a:xfrm>
            <a:off x="539496" y="1691640"/>
            <a:ext cx="5486400" cy="4480560"/>
          </a:xfrm>
          <a:prstGeom prst="rect">
            <a:avLst/>
          </a:prstGeom>
          <a:noFill/>
        </p:spPr>
        <p:txBody>
          <a:bodyPr wrap="square" anchor="t" lIns="0" rIns="0" tIns="0" bIns="0">
            <a:spAutoFit/>
          </a:bodyPr>
          <a:lstStyle/>
          <a:p>
            <a:pPr algn="l" marL="274320" indent="-274320">
              <a:buClr>
                <a:srgbClr val="0000DC"/>
              </a:buClr>
              <a:buFont typeface="Arial"/>
              <a:buChar char="•"/>
            </a:pPr>
            <a:r>
              <a:rPr sz="1450" b="1" i="0">
                <a:solidFill>
                  <a:srgbClr val="000000"/>
                </a:solidFill>
                <a:latin typeface="Calibri"/>
              </a:rPr>
              <a:t>Input</a:t>
            </a:r>
            <a:r>
              <a:rPr sz="1450" b="0" i="0">
                <a:solidFill>
                  <a:srgbClr val="000000"/>
                </a:solidFill>
                <a:latin typeface="Calibri"/>
              </a:rPr>
              <a:t>: 45 trial rows (3 values per zone × mode) and the stage 5 tables.</a:t>
            </a:r>
          </a:p>
          <a:p>
            <a:pPr algn="l" marL="274320" indent="-274320">
              <a:spcBef>
                <a:spcPts val="700"/>
              </a:spcBef>
              <a:buClr>
                <a:srgbClr val="0000DC"/>
              </a:buClr>
              <a:buFont typeface="Arial"/>
              <a:buChar char="•"/>
            </a:pPr>
            <a:r>
              <a:rPr sz="1450" b="1" i="0">
                <a:solidFill>
                  <a:srgbClr val="000000"/>
                </a:solidFill>
                <a:latin typeface="Calibri"/>
              </a:rPr>
              <a:t>stats.summarize</a:t>
            </a:r>
            <a:r>
              <a:rPr sz="1450" b="0" i="0">
                <a:solidFill>
                  <a:srgbClr val="000000"/>
                </a:solidFill>
                <a:latin typeface="Calibri"/>
              </a:rPr>
              <a:t>: n, mean, </a:t>
            </a:r>
            <a:r>
              <a:rPr sz="1450" b="1" i="0">
                <a:solidFill>
                  <a:srgbClr val="000000"/>
                </a:solidFill>
                <a:latin typeface="Calibri"/>
              </a:rPr>
              <a:t>median</a:t>
            </a:r>
            <a:r>
              <a:rPr sz="1450" b="0" i="0">
                <a:solidFill>
                  <a:srgbClr val="000000"/>
                </a:solidFill>
                <a:latin typeface="Calibri"/>
              </a:rPr>
              <a:t>, std, p05, p95, min, max.</a:t>
            </a:r>
          </a:p>
          <a:p>
            <a:pPr algn="l" marL="274320" indent="-274320">
              <a:spcBef>
                <a:spcPts val="700"/>
              </a:spcBef>
              <a:buClr>
                <a:srgbClr val="0000DC"/>
              </a:buClr>
              <a:buFont typeface="Arial"/>
              <a:buChar char="•"/>
            </a:pPr>
            <a:r>
              <a:rPr sz="1450" b="1" i="0">
                <a:solidFill>
                  <a:srgbClr val="000000"/>
                </a:solidFill>
                <a:latin typeface="Calibri"/>
              </a:rPr>
              <a:t>stats.bootstrap_ci</a:t>
            </a:r>
            <a:r>
              <a:rPr sz="1450" b="0" i="0">
                <a:solidFill>
                  <a:srgbClr val="000000"/>
                </a:solidFill>
                <a:latin typeface="Calibri"/>
              </a:rPr>
              <a:t>: resample the 3 trial values 2,000 times, take each median, keep the 2.5th–97.5th percentile.</a:t>
            </a:r>
          </a:p>
          <a:p>
            <a:pPr algn="l" marL="274320" indent="-274320">
              <a:spcBef>
                <a:spcPts val="700"/>
              </a:spcBef>
              <a:buClr>
                <a:srgbClr val="0000DC"/>
              </a:buClr>
              <a:buFont typeface="Arial"/>
              <a:buChar char="•"/>
            </a:pPr>
            <a:r>
              <a:rPr sz="1450" b="1" i="0">
                <a:solidFill>
                  <a:srgbClr val="000000"/>
                </a:solidFill>
                <a:latin typeface="Calibri"/>
              </a:rPr>
              <a:t>summary.json</a:t>
            </a:r>
            <a:r>
              <a:rPr sz="1450" b="0" i="0">
                <a:solidFill>
                  <a:srgbClr val="000000"/>
                </a:solidFill>
                <a:latin typeface="Calibri"/>
              </a:rPr>
              <a:t>: trials, transmitted bytes, UDP fit per record class. Example: large MTL signing median </a:t>
            </a:r>
            <a:r>
              <a:rPr sz="1450" b="1" i="0">
                <a:solidFill>
                  <a:srgbClr val="000000"/>
                </a:solidFill>
                <a:latin typeface="Calibri"/>
              </a:rPr>
              <a:t>0.516 s</a:t>
            </a:r>
            <a:r>
              <a:rPr sz="1450" b="0" i="0">
                <a:solidFill>
                  <a:srgbClr val="000000"/>
                </a:solidFill>
                <a:latin typeface="Calibri"/>
              </a:rPr>
              <a:t>, CI [0.472 s, 0.575 s].</a:t>
            </a:r>
          </a:p>
          <a:p>
            <a:pPr algn="l" marL="274320" indent="-274320">
              <a:spcBef>
                <a:spcPts val="700"/>
              </a:spcBef>
              <a:buClr>
                <a:srgbClr val="0000DC"/>
              </a:buClr>
              <a:buFont typeface="Arial"/>
              <a:buChar char="•"/>
            </a:pPr>
            <a:r>
              <a:rPr sz="1450" b="1" i="0">
                <a:solidFill>
                  <a:srgbClr val="000000"/>
                </a:solidFill>
                <a:latin typeface="Calibri"/>
              </a:rPr>
              <a:t>all_checks_passed</a:t>
            </a:r>
            <a:r>
              <a:rPr sz="1450" b="0" i="0">
                <a:solidFill>
                  <a:srgbClr val="000000"/>
                </a:solidFill>
                <a:latin typeface="Calibri"/>
              </a:rPr>
              <a:t> combines exit codes, failures and tamper tests per zone × mode.</a:t>
            </a:r>
          </a:p>
        </p:txBody>
      </p:sp>
      <p:sp>
        <p:nvSpPr>
          <p:cNvPr id="7" name="Rectangle 6"/>
          <p:cNvSpPr/>
          <p:nvPr/>
        </p:nvSpPr>
        <p:spPr>
          <a:xfrm>
            <a:off x="6400800" y="1691640"/>
            <a:ext cx="5257800" cy="3017520"/>
          </a:xfrm>
          <a:prstGeom prst="rect">
            <a:avLst/>
          </a:prstGeom>
          <a:solidFill>
            <a:srgbClr val="F2F2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p>
        </p:txBody>
      </p:sp>
      <p:sp>
        <p:nvSpPr>
          <p:cNvPr id="8" name="TextBox 7"/>
          <p:cNvSpPr txBox="1"/>
          <p:nvPr/>
        </p:nvSpPr>
        <p:spPr>
          <a:xfrm>
            <a:off x="6565392" y="1828800"/>
            <a:ext cx="4928616" cy="365760"/>
          </a:xfrm>
          <a:prstGeom prst="rect">
            <a:avLst/>
          </a:prstGeom>
          <a:noFill/>
        </p:spPr>
        <p:txBody>
          <a:bodyPr wrap="square" anchor="t" lIns="0" rIns="0" tIns="0" bIns="0">
            <a:spAutoFit/>
          </a:bodyPr>
          <a:lstStyle/>
          <a:p>
            <a:pPr algn="l"/>
            <a:r>
              <a:rPr sz="1500" b="1" i="0">
                <a:solidFill>
                  <a:srgbClr val="0000DC"/>
                </a:solidFill>
                <a:latin typeface="Calibri"/>
              </a:rPr>
              <a:t>Stage 7 – report.write(run)</a:t>
            </a:r>
          </a:p>
        </p:txBody>
      </p:sp>
      <p:sp>
        <p:nvSpPr>
          <p:cNvPr id="9" name="TextBox 8"/>
          <p:cNvSpPr txBox="1"/>
          <p:nvPr/>
        </p:nvSpPr>
        <p:spPr>
          <a:xfrm>
            <a:off x="6565392" y="2240280"/>
            <a:ext cx="4928616" cy="2377439"/>
          </a:xfrm>
          <a:prstGeom prst="rect">
            <a:avLst/>
          </a:prstGeom>
          <a:noFill/>
        </p:spPr>
        <p:txBody>
          <a:bodyPr wrap="square" anchor="t" lIns="0" rIns="0" tIns="0" bIns="0">
            <a:spAutoFit/>
          </a:bodyPr>
          <a:lstStyle/>
          <a:p>
            <a:pPr algn="l" marL="274320" indent="-274320">
              <a:buClr>
                <a:srgbClr val="0000DC"/>
              </a:buClr>
              <a:buFont typeface="Arial"/>
              <a:buChar char="•"/>
            </a:pPr>
            <a:r>
              <a:rPr sz="1350" b="1" i="0">
                <a:solidFill>
                  <a:srgbClr val="000000"/>
                </a:solidFill>
                <a:latin typeface="Calibri"/>
              </a:rPr>
              <a:t>report.md / report.html</a:t>
            </a:r>
            <a:r>
              <a:rPr sz="1350" b="0" i="0">
                <a:solidFill>
                  <a:srgbClr val="000000"/>
                </a:solidFill>
                <a:latin typeface="Calibri"/>
              </a:rPr>
              <a:t>: problem, method, all tables, discussion, limitations, appendices with config, environment and gate.</a:t>
            </a:r>
          </a:p>
          <a:p>
            <a:pPr algn="l" marL="274320" indent="-274320">
              <a:spcBef>
                <a:spcPts val="600"/>
              </a:spcBef>
              <a:buClr>
                <a:srgbClr val="0000DC"/>
              </a:buClr>
              <a:buFont typeface="Arial"/>
              <a:buChar char="•"/>
            </a:pPr>
            <a:r>
              <a:rPr sz="1350" b="1" i="0">
                <a:solidFill>
                  <a:srgbClr val="000000"/>
                </a:solidFill>
                <a:latin typeface="Calibri"/>
              </a:rPr>
              <a:t>figures/</a:t>
            </a:r>
            <a:r>
              <a:rPr sz="1350" b="0" i="0">
                <a:solidFill>
                  <a:srgbClr val="000000"/>
                </a:solidFill>
                <a:latin typeface="Calibri"/>
              </a:rPr>
              <a:t>: sign, verify, responses, workload, cache (next slides).</a:t>
            </a:r>
          </a:p>
          <a:p>
            <a:pPr algn="l" marL="274320" indent="-274320">
              <a:spcBef>
                <a:spcPts val="600"/>
              </a:spcBef>
              <a:buClr>
                <a:srgbClr val="0000DC"/>
              </a:buClr>
              <a:buFont typeface="Arial"/>
              <a:buChar char="•"/>
            </a:pPr>
            <a:r>
              <a:rPr sz="1350" b="1" i="0">
                <a:solidFill>
                  <a:srgbClr val="000000"/>
                </a:solidFill>
                <a:latin typeface="Calibri"/>
              </a:rPr>
              <a:t>Streamlit dashboard</a:t>
            </a:r>
            <a:r>
              <a:rPr sz="1350" b="0" i="0">
                <a:solidFill>
                  <a:srgbClr val="000000"/>
                </a:solidFill>
                <a:latin typeface="Calibri"/>
              </a:rPr>
              <a:t> reads the same run folder.</a:t>
            </a:r>
          </a:p>
          <a:p>
            <a:pPr algn="l" marL="274320" indent="-274320">
              <a:spcBef>
                <a:spcPts val="600"/>
              </a:spcBef>
              <a:buClr>
                <a:srgbClr val="0000DC"/>
              </a:buClr>
              <a:buFont typeface="Arial"/>
              <a:buChar char="•"/>
            </a:pPr>
            <a:r>
              <a:rPr sz="1350" b="0" i="0">
                <a:solidFill>
                  <a:srgbClr val="000000"/>
                </a:solidFill>
                <a:latin typeface="Calibri"/>
              </a:rPr>
              <a:t>Exit code: 0 all checks passed · 1 a trial failed · 3 NO-GO.</a:t>
            </a:r>
          </a:p>
        </p:txBody>
      </p:sp>
      <p:sp>
        <p:nvSpPr>
          <p:cNvPr id="10" name="TextBox 9"/>
          <p:cNvSpPr txBox="1"/>
          <p:nvPr/>
        </p:nvSpPr>
        <p:spPr>
          <a:xfrm>
            <a:off x="539496" y="6510528"/>
            <a:ext cx="7315200" cy="274320"/>
          </a:xfrm>
          <a:prstGeom prst="rect">
            <a:avLst/>
          </a:prstGeom>
          <a:noFill/>
        </p:spPr>
        <p:txBody>
          <a:bodyPr wrap="square" anchor="t" lIns="0" rIns="0" tIns="0" bIns="0">
            <a:spAutoFit/>
          </a:bodyPr>
          <a:lstStyle/>
          <a:p>
            <a:pPr algn="l"/>
            <a:r>
              <a:rPr sz="1200" b="0" i="0">
                <a:solidFill>
                  <a:srgbClr val="0000DC"/>
                </a:solidFill>
                <a:latin typeface="Calibri"/>
              </a:rPr>
              <a:t>A. Joshi  •  </a:t>
            </a:r>
            <a:r>
              <a:rPr sz="1200" b="1" i="0">
                <a:solidFill>
                  <a:srgbClr val="0000DC"/>
                </a:solidFill>
                <a:latin typeface="Calibri"/>
              </a:rPr>
              <a:t>A3-PS036-TC161</a:t>
            </a:r>
            <a:r>
              <a:rPr sz="1200" b="0" i="0">
                <a:solidFill>
                  <a:srgbClr val="0000DC"/>
                </a:solidFill>
                <a:latin typeface="Calibri"/>
              </a:rPr>
              <a:t>  •  October 8, 2026</a:t>
            </a:r>
          </a:p>
        </p:txBody>
      </p:sp>
      <p:sp>
        <p:nvSpPr>
          <p:cNvPr id="11" name="TextBox 10"/>
          <p:cNvSpPr txBox="1"/>
          <p:nvPr/>
        </p:nvSpPr>
        <p:spPr>
          <a:xfrm>
            <a:off x="9601200" y="6510528"/>
            <a:ext cx="2057400" cy="274320"/>
          </a:xfrm>
          <a:prstGeom prst="rect">
            <a:avLst/>
          </a:prstGeom>
          <a:noFill/>
        </p:spPr>
        <p:txBody>
          <a:bodyPr wrap="square" anchor="t" lIns="0" rIns="0" tIns="0" bIns="0">
            <a:spAutoFit/>
          </a:bodyPr>
          <a:lstStyle/>
          <a:p>
            <a:pPr algn="r"/>
            <a:r>
              <a:rPr sz="1200" b="0" i="0">
                <a:solidFill>
                  <a:srgbClr val="0000DC"/>
                </a:solidFill>
                <a:latin typeface="Calibri"/>
              </a:rPr>
              <a:t>14 / 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6080" y="73152"/>
            <a:ext cx="3200400" cy="274320"/>
          </a:xfrm>
          <a:prstGeom prst="rect">
            <a:avLst/>
          </a:prstGeom>
          <a:noFill/>
        </p:spPr>
        <p:txBody>
          <a:bodyPr wrap="square" anchor="t" lIns="0" rIns="0" tIns="0" bIns="0">
            <a:spAutoFit/>
          </a:bodyPr>
          <a:lstStyle/>
          <a:p>
            <a:pPr algn="r"/>
            <a:r>
              <a:rPr sz="1200" b="1" i="0">
                <a:solidFill>
                  <a:srgbClr val="0000DC"/>
                </a:solidFill>
                <a:latin typeface="Calibri"/>
              </a:rPr>
              <a:t>AIORI 3</a:t>
            </a:r>
          </a:p>
        </p:txBody>
      </p:sp>
      <p:sp>
        <p:nvSpPr>
          <p:cNvPr id="3" name="TextBox 2"/>
          <p:cNvSpPr txBox="1"/>
          <p:nvPr/>
        </p:nvSpPr>
        <p:spPr>
          <a:xfrm>
            <a:off x="6263640" y="73152"/>
            <a:ext cx="5486400" cy="274320"/>
          </a:xfrm>
          <a:prstGeom prst="rect">
            <a:avLst/>
          </a:prstGeom>
          <a:noFill/>
        </p:spPr>
        <p:txBody>
          <a:bodyPr wrap="square" anchor="t" lIns="0" rIns="0" tIns="0" bIns="0">
            <a:spAutoFit/>
          </a:bodyPr>
          <a:lstStyle/>
          <a:p>
            <a:pPr algn="l"/>
            <a:r>
              <a:rPr sz="1200" b="1" i="0">
                <a:solidFill>
                  <a:srgbClr val="0000DC"/>
                </a:solidFill>
                <a:latin typeface="Calibri"/>
              </a:rPr>
              <a:t>Results</a:t>
            </a:r>
          </a:p>
        </p:txBody>
      </p:sp>
      <p:sp>
        <p:nvSpPr>
          <p:cNvPr id="4" name="TextBox 3"/>
          <p:cNvSpPr txBox="1"/>
          <p:nvPr/>
        </p:nvSpPr>
        <p:spPr>
          <a:xfrm>
            <a:off x="539496" y="384048"/>
            <a:ext cx="11109960" cy="548640"/>
          </a:xfrm>
          <a:prstGeom prst="rect">
            <a:avLst/>
          </a:prstGeom>
          <a:noFill/>
        </p:spPr>
        <p:txBody>
          <a:bodyPr wrap="square" anchor="t" lIns="0" rIns="0" tIns="0" bIns="0">
            <a:spAutoFit/>
          </a:bodyPr>
          <a:lstStyle/>
          <a:p>
            <a:pPr algn="l"/>
            <a:r>
              <a:rPr sz="3000" b="1" i="0">
                <a:solidFill>
                  <a:srgbClr val="0000DC"/>
                </a:solidFill>
                <a:latin typeface="Calibri"/>
              </a:rPr>
              <a:t>Signing time: MTL signs the zone once</a:t>
            </a:r>
          </a:p>
        </p:txBody>
      </p:sp>
      <p:sp>
        <p:nvSpPr>
          <p:cNvPr id="5" name="TextBox 4"/>
          <p:cNvSpPr txBox="1"/>
          <p:nvPr/>
        </p:nvSpPr>
        <p:spPr>
          <a:xfrm>
            <a:off x="539496" y="978408"/>
            <a:ext cx="11109960" cy="411480"/>
          </a:xfrm>
          <a:prstGeom prst="rect">
            <a:avLst/>
          </a:prstGeom>
          <a:noFill/>
        </p:spPr>
        <p:txBody>
          <a:bodyPr wrap="square" anchor="t" lIns="0" rIns="0" tIns="0" bIns="0">
            <a:spAutoFit/>
          </a:bodyPr>
          <a:lstStyle/>
          <a:p>
            <a:pPr algn="l"/>
            <a:r>
              <a:rPr sz="1700" b="1" i="0">
                <a:solidFill>
                  <a:srgbClr val="000000"/>
                </a:solidFill>
                <a:latin typeface="Calibri"/>
              </a:rPr>
              <a:t>Whole-zone signing time per mode and zone size.</a:t>
            </a:r>
          </a:p>
        </p:txBody>
      </p:sp>
      <p:pic>
        <p:nvPicPr>
          <p:cNvPr id="6" name="Picture 5" descr="sign.png"/>
          <p:cNvPicPr>
            <a:picLocks noChangeAspect="1"/>
          </p:cNvPicPr>
          <p:nvPr/>
        </p:nvPicPr>
        <p:blipFill>
          <a:blip r:embed="rId2"/>
          <a:stretch>
            <a:fillRect/>
          </a:stretch>
        </p:blipFill>
        <p:spPr>
          <a:xfrm>
            <a:off x="448056" y="1645920"/>
            <a:ext cx="7635240" cy="4072128"/>
          </a:xfrm>
          <a:prstGeom prst="rect">
            <a:avLst/>
          </a:prstGeom>
        </p:spPr>
      </p:pic>
      <p:sp>
        <p:nvSpPr>
          <p:cNvPr id="7" name="Rectangle 6"/>
          <p:cNvSpPr/>
          <p:nvPr/>
        </p:nvSpPr>
        <p:spPr>
          <a:xfrm>
            <a:off x="8366760" y="1600200"/>
            <a:ext cx="3291840" cy="4072128"/>
          </a:xfrm>
          <a:prstGeom prst="rect">
            <a:avLst/>
          </a:prstGeom>
          <a:solidFill>
            <a:srgbClr val="F2F2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p>
        </p:txBody>
      </p:sp>
      <p:sp>
        <p:nvSpPr>
          <p:cNvPr id="8" name="TextBox 7"/>
          <p:cNvSpPr txBox="1"/>
          <p:nvPr/>
        </p:nvSpPr>
        <p:spPr>
          <a:xfrm>
            <a:off x="8531352" y="1737360"/>
            <a:ext cx="2962656" cy="365760"/>
          </a:xfrm>
          <a:prstGeom prst="rect">
            <a:avLst/>
          </a:prstGeom>
          <a:noFill/>
        </p:spPr>
        <p:txBody>
          <a:bodyPr wrap="square" anchor="t" lIns="0" rIns="0" tIns="0" bIns="0">
            <a:spAutoFit/>
          </a:bodyPr>
          <a:lstStyle/>
          <a:p>
            <a:pPr algn="l"/>
            <a:r>
              <a:rPr sz="1500" b="1" i="0">
                <a:solidFill>
                  <a:srgbClr val="0000DC"/>
                </a:solidFill>
                <a:latin typeface="Calibri"/>
              </a:rPr>
              <a:t>Large zone (405 RRsets)</a:t>
            </a:r>
          </a:p>
        </p:txBody>
      </p:sp>
      <p:sp>
        <p:nvSpPr>
          <p:cNvPr id="9" name="TextBox 8"/>
          <p:cNvSpPr txBox="1"/>
          <p:nvPr/>
        </p:nvSpPr>
        <p:spPr>
          <a:xfrm>
            <a:off x="8531352" y="2148840"/>
            <a:ext cx="2962656" cy="3432047"/>
          </a:xfrm>
          <a:prstGeom prst="rect">
            <a:avLst/>
          </a:prstGeom>
          <a:noFill/>
        </p:spPr>
        <p:txBody>
          <a:bodyPr wrap="square" anchor="t" lIns="0" rIns="0" tIns="0" bIns="0">
            <a:spAutoFit/>
          </a:bodyPr>
          <a:lstStyle/>
          <a:p>
            <a:pPr algn="l" marL="274320" indent="-274320">
              <a:buClr>
                <a:srgbClr val="0000DC"/>
              </a:buClr>
              <a:buFont typeface="Arial"/>
              <a:buChar char="•"/>
            </a:pPr>
            <a:r>
              <a:rPr sz="1350" b="0" i="0">
                <a:solidFill>
                  <a:srgbClr val="000000"/>
                </a:solidFill>
                <a:latin typeface="Calibri"/>
              </a:rPr>
              <a:t>SLH-DSA direct: </a:t>
            </a:r>
            <a:r>
              <a:rPr sz="1350" b="1" i="0">
                <a:solidFill>
                  <a:srgbClr val="000000"/>
                </a:solidFill>
                <a:latin typeface="Calibri"/>
              </a:rPr>
              <a:t>≈ 209 s</a:t>
            </a:r>
            <a:r>
              <a:rPr sz="1350" b="0" i="0">
                <a:solidFill>
                  <a:srgbClr val="000000"/>
                </a:solidFill>
                <a:latin typeface="Calibri"/>
              </a:rPr>
              <a:t> (100 signed at 0.52 s, × 405)</a:t>
            </a:r>
          </a:p>
          <a:p>
            <a:pPr algn="l" marL="274320" indent="-274320">
              <a:spcBef>
                <a:spcPts val="600"/>
              </a:spcBef>
              <a:buClr>
                <a:srgbClr val="0000DC"/>
              </a:buClr>
              <a:buFont typeface="Arial"/>
              <a:buChar char="•"/>
            </a:pPr>
            <a:r>
              <a:rPr sz="1350" b="0" i="0">
                <a:solidFill>
                  <a:srgbClr val="000000"/>
                </a:solidFill>
                <a:latin typeface="Calibri"/>
              </a:rPr>
              <a:t>SLH-DSA + MTL: </a:t>
            </a:r>
            <a:r>
              <a:rPr sz="1350" b="1" i="0">
                <a:solidFill>
                  <a:srgbClr val="000000"/>
                </a:solidFill>
                <a:latin typeface="Calibri"/>
              </a:rPr>
              <a:t>0.52 s</a:t>
            </a:r>
            <a:r>
              <a:rPr sz="1350" b="0" i="0">
                <a:solidFill>
                  <a:srgbClr val="000000"/>
                </a:solidFill>
                <a:latin typeface="Calibri"/>
              </a:rPr>
              <a:t> – one ladder signature + 405 hashes</a:t>
            </a:r>
          </a:p>
          <a:p>
            <a:pPr algn="l" marL="274320" indent="-274320">
              <a:spcBef>
                <a:spcPts val="600"/>
              </a:spcBef>
              <a:buClr>
                <a:srgbClr val="0000DC"/>
              </a:buClr>
              <a:buFont typeface="Arial"/>
              <a:buChar char="•"/>
            </a:pPr>
            <a:r>
              <a:rPr sz="1350" b="0" i="0">
                <a:solidFill>
                  <a:srgbClr val="000000"/>
                </a:solidFill>
                <a:latin typeface="Calibri"/>
              </a:rPr>
              <a:t>Ed25519 0.014 s · ECDSA 0.011 s · RSA 0.25 s</a:t>
            </a:r>
          </a:p>
          <a:p>
            <a:pPr algn="l" marL="274320" indent="-274320">
              <a:spcBef>
                <a:spcPts val="600"/>
              </a:spcBef>
              <a:buClr>
                <a:srgbClr val="0000DC"/>
              </a:buClr>
              <a:buFont typeface="Arial"/>
              <a:buChar char="•"/>
            </a:pPr>
            <a:r>
              <a:rPr sz="1350" b="0" i="0">
                <a:solidFill>
                  <a:srgbClr val="000000"/>
                </a:solidFill>
                <a:latin typeface="Calibri"/>
              </a:rPr>
              <a:t>MTL stays ≈ 0.5 s at every zone size: cost is per zone, not per record.</a:t>
            </a:r>
          </a:p>
        </p:txBody>
      </p:sp>
      <p:sp>
        <p:nvSpPr>
          <p:cNvPr id="10" name="TextBox 9"/>
          <p:cNvSpPr txBox="1"/>
          <p:nvPr/>
        </p:nvSpPr>
        <p:spPr>
          <a:xfrm>
            <a:off x="539496" y="5809487"/>
            <a:ext cx="7589520" cy="274320"/>
          </a:xfrm>
          <a:prstGeom prst="rect">
            <a:avLst/>
          </a:prstGeom>
          <a:noFill/>
        </p:spPr>
        <p:txBody>
          <a:bodyPr wrap="square" anchor="t" lIns="0" rIns="0" tIns="0" bIns="0">
            <a:spAutoFit/>
          </a:bodyPr>
          <a:lstStyle/>
          <a:p>
            <a:pPr algn="l"/>
            <a:r>
              <a:rPr sz="1100" b="0" i="0">
                <a:solidFill>
                  <a:srgbClr val="555555"/>
                </a:solidFill>
                <a:latin typeface="Calibri"/>
              </a:rPr>
              <a:t>Quick demo run, log scale. Source: trials.csv, median of 3 trials, whiskers = 95% CI, hatched = extrapolated.</a:t>
            </a:r>
          </a:p>
        </p:txBody>
      </p:sp>
      <p:sp>
        <p:nvSpPr>
          <p:cNvPr id="11" name="TextBox 10"/>
          <p:cNvSpPr txBox="1"/>
          <p:nvPr/>
        </p:nvSpPr>
        <p:spPr>
          <a:xfrm>
            <a:off x="539496" y="6510528"/>
            <a:ext cx="7315200" cy="274320"/>
          </a:xfrm>
          <a:prstGeom prst="rect">
            <a:avLst/>
          </a:prstGeom>
          <a:noFill/>
        </p:spPr>
        <p:txBody>
          <a:bodyPr wrap="square" anchor="t" lIns="0" rIns="0" tIns="0" bIns="0">
            <a:spAutoFit/>
          </a:bodyPr>
          <a:lstStyle/>
          <a:p>
            <a:pPr algn="l"/>
            <a:r>
              <a:rPr sz="1200" b="0" i="0">
                <a:solidFill>
                  <a:srgbClr val="0000DC"/>
                </a:solidFill>
                <a:latin typeface="Calibri"/>
              </a:rPr>
              <a:t>A. Joshi  •  </a:t>
            </a:r>
            <a:r>
              <a:rPr sz="1200" b="1" i="0">
                <a:solidFill>
                  <a:srgbClr val="0000DC"/>
                </a:solidFill>
                <a:latin typeface="Calibri"/>
              </a:rPr>
              <a:t>A3-PS036-TC161</a:t>
            </a:r>
            <a:r>
              <a:rPr sz="1200" b="0" i="0">
                <a:solidFill>
                  <a:srgbClr val="0000DC"/>
                </a:solidFill>
                <a:latin typeface="Calibri"/>
              </a:rPr>
              <a:t>  •  October 8, 2026</a:t>
            </a:r>
          </a:p>
        </p:txBody>
      </p:sp>
      <p:sp>
        <p:nvSpPr>
          <p:cNvPr id="12" name="TextBox 11"/>
          <p:cNvSpPr txBox="1"/>
          <p:nvPr/>
        </p:nvSpPr>
        <p:spPr>
          <a:xfrm>
            <a:off x="9601200" y="6510528"/>
            <a:ext cx="2057400" cy="274320"/>
          </a:xfrm>
          <a:prstGeom prst="rect">
            <a:avLst/>
          </a:prstGeom>
          <a:noFill/>
        </p:spPr>
        <p:txBody>
          <a:bodyPr wrap="square" anchor="t" lIns="0" rIns="0" tIns="0" bIns="0">
            <a:spAutoFit/>
          </a:bodyPr>
          <a:lstStyle/>
          <a:p>
            <a:pPr algn="r"/>
            <a:r>
              <a:rPr sz="1200" b="0" i="0">
                <a:solidFill>
                  <a:srgbClr val="0000DC"/>
                </a:solidFill>
                <a:latin typeface="Calibri"/>
              </a:rPr>
              <a:t>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6080" y="73152"/>
            <a:ext cx="3200400" cy="274320"/>
          </a:xfrm>
          <a:prstGeom prst="rect">
            <a:avLst/>
          </a:prstGeom>
          <a:noFill/>
        </p:spPr>
        <p:txBody>
          <a:bodyPr wrap="square" anchor="t" lIns="0" rIns="0" tIns="0" bIns="0">
            <a:spAutoFit/>
          </a:bodyPr>
          <a:lstStyle/>
          <a:p>
            <a:pPr algn="r"/>
            <a:r>
              <a:rPr sz="1200" b="1" i="0">
                <a:solidFill>
                  <a:srgbClr val="0000DC"/>
                </a:solidFill>
                <a:latin typeface="Calibri"/>
              </a:rPr>
              <a:t>AIORI 3</a:t>
            </a:r>
          </a:p>
        </p:txBody>
      </p:sp>
      <p:sp>
        <p:nvSpPr>
          <p:cNvPr id="3" name="TextBox 2"/>
          <p:cNvSpPr txBox="1"/>
          <p:nvPr/>
        </p:nvSpPr>
        <p:spPr>
          <a:xfrm>
            <a:off x="6263640" y="73152"/>
            <a:ext cx="5486400" cy="274320"/>
          </a:xfrm>
          <a:prstGeom prst="rect">
            <a:avLst/>
          </a:prstGeom>
          <a:noFill/>
        </p:spPr>
        <p:txBody>
          <a:bodyPr wrap="square" anchor="t" lIns="0" rIns="0" tIns="0" bIns="0">
            <a:spAutoFit/>
          </a:bodyPr>
          <a:lstStyle/>
          <a:p>
            <a:pPr algn="l"/>
            <a:r>
              <a:rPr sz="1200" b="1" i="0">
                <a:solidFill>
                  <a:srgbClr val="0000DC"/>
                </a:solidFill>
                <a:latin typeface="Calibri"/>
              </a:rPr>
              <a:t>Results</a:t>
            </a:r>
          </a:p>
        </p:txBody>
      </p:sp>
      <p:sp>
        <p:nvSpPr>
          <p:cNvPr id="4" name="TextBox 3"/>
          <p:cNvSpPr txBox="1"/>
          <p:nvPr/>
        </p:nvSpPr>
        <p:spPr>
          <a:xfrm>
            <a:off x="539496" y="384048"/>
            <a:ext cx="11109960" cy="548640"/>
          </a:xfrm>
          <a:prstGeom prst="rect">
            <a:avLst/>
          </a:prstGeom>
          <a:noFill/>
        </p:spPr>
        <p:txBody>
          <a:bodyPr wrap="square" anchor="t" lIns="0" rIns="0" tIns="0" bIns="0">
            <a:spAutoFit/>
          </a:bodyPr>
          <a:lstStyle/>
          <a:p>
            <a:pPr algn="l"/>
            <a:r>
              <a:rPr sz="3000" b="1" i="0">
                <a:solidFill>
                  <a:srgbClr val="0000DC"/>
                </a:solidFill>
                <a:latin typeface="Calibri"/>
              </a:rPr>
              <a:t>Verification time: hashes instead of SLH-DSA</a:t>
            </a:r>
          </a:p>
        </p:txBody>
      </p:sp>
      <p:sp>
        <p:nvSpPr>
          <p:cNvPr id="5" name="TextBox 4"/>
          <p:cNvSpPr txBox="1"/>
          <p:nvPr/>
        </p:nvSpPr>
        <p:spPr>
          <a:xfrm>
            <a:off x="539496" y="978408"/>
            <a:ext cx="11109960" cy="411480"/>
          </a:xfrm>
          <a:prstGeom prst="rect">
            <a:avLst/>
          </a:prstGeom>
          <a:noFill/>
        </p:spPr>
        <p:txBody>
          <a:bodyPr wrap="square" anchor="t" lIns="0" rIns="0" tIns="0" bIns="0">
            <a:spAutoFit/>
          </a:bodyPr>
          <a:lstStyle/>
          <a:p>
            <a:pPr algn="l"/>
            <a:r>
              <a:rPr sz="1700" b="1" i="0">
                <a:solidFill>
                  <a:srgbClr val="000000"/>
                </a:solidFill>
                <a:latin typeface="Calibri"/>
              </a:rPr>
              <a:t>Whole-zone verification with a cached ladder (warm).</a:t>
            </a:r>
          </a:p>
        </p:txBody>
      </p:sp>
      <p:pic>
        <p:nvPicPr>
          <p:cNvPr id="6" name="Picture 5" descr="verify.png"/>
          <p:cNvPicPr>
            <a:picLocks noChangeAspect="1"/>
          </p:cNvPicPr>
          <p:nvPr/>
        </p:nvPicPr>
        <p:blipFill>
          <a:blip r:embed="rId2"/>
          <a:stretch>
            <a:fillRect/>
          </a:stretch>
        </p:blipFill>
        <p:spPr>
          <a:xfrm>
            <a:off x="448056" y="1645920"/>
            <a:ext cx="7635240" cy="4072128"/>
          </a:xfrm>
          <a:prstGeom prst="rect">
            <a:avLst/>
          </a:prstGeom>
        </p:spPr>
      </p:pic>
      <p:sp>
        <p:nvSpPr>
          <p:cNvPr id="7" name="Rectangle 6"/>
          <p:cNvSpPr/>
          <p:nvPr/>
        </p:nvSpPr>
        <p:spPr>
          <a:xfrm>
            <a:off x="8366760" y="1600200"/>
            <a:ext cx="3291840" cy="4072128"/>
          </a:xfrm>
          <a:prstGeom prst="rect">
            <a:avLst/>
          </a:prstGeom>
          <a:solidFill>
            <a:srgbClr val="F2F2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p>
        </p:txBody>
      </p:sp>
      <p:sp>
        <p:nvSpPr>
          <p:cNvPr id="8" name="TextBox 7"/>
          <p:cNvSpPr txBox="1"/>
          <p:nvPr/>
        </p:nvSpPr>
        <p:spPr>
          <a:xfrm>
            <a:off x="8531352" y="1737360"/>
            <a:ext cx="2962656" cy="365760"/>
          </a:xfrm>
          <a:prstGeom prst="rect">
            <a:avLst/>
          </a:prstGeom>
          <a:noFill/>
        </p:spPr>
        <p:txBody>
          <a:bodyPr wrap="square" anchor="t" lIns="0" rIns="0" tIns="0" bIns="0">
            <a:spAutoFit/>
          </a:bodyPr>
          <a:lstStyle/>
          <a:p>
            <a:pPr algn="l"/>
            <a:r>
              <a:rPr sz="1500" b="1" i="0">
                <a:solidFill>
                  <a:srgbClr val="0000DC"/>
                </a:solidFill>
                <a:latin typeface="Calibri"/>
              </a:rPr>
              <a:t>Per answer, large zone</a:t>
            </a:r>
          </a:p>
        </p:txBody>
      </p:sp>
      <p:sp>
        <p:nvSpPr>
          <p:cNvPr id="9" name="TextBox 8"/>
          <p:cNvSpPr txBox="1"/>
          <p:nvPr/>
        </p:nvSpPr>
        <p:spPr>
          <a:xfrm>
            <a:off x="8531352" y="2148840"/>
            <a:ext cx="2962656" cy="3432047"/>
          </a:xfrm>
          <a:prstGeom prst="rect">
            <a:avLst/>
          </a:prstGeom>
          <a:noFill/>
        </p:spPr>
        <p:txBody>
          <a:bodyPr wrap="square" anchor="t" lIns="0" rIns="0" tIns="0" bIns="0">
            <a:spAutoFit/>
          </a:bodyPr>
          <a:lstStyle/>
          <a:p>
            <a:pPr algn="l" marL="274320" indent="-274320">
              <a:buClr>
                <a:srgbClr val="0000DC"/>
              </a:buClr>
              <a:buFont typeface="Arial"/>
              <a:buChar char="•"/>
            </a:pPr>
            <a:r>
              <a:rPr sz="1350" b="0" i="0">
                <a:solidFill>
                  <a:srgbClr val="000000"/>
                </a:solidFill>
                <a:latin typeface="Calibri"/>
              </a:rPr>
              <a:t>Warm: SLH-DSA direct </a:t>
            </a:r>
            <a:r>
              <a:rPr sz="1350" b="1" i="0">
                <a:solidFill>
                  <a:srgbClr val="000000"/>
                </a:solidFill>
                <a:latin typeface="Calibri"/>
              </a:rPr>
              <a:t>588 µs</a:t>
            </a:r>
            <a:r>
              <a:rPr sz="1350" b="0" i="0">
                <a:solidFill>
                  <a:srgbClr val="000000"/>
                </a:solidFill>
                <a:latin typeface="Calibri"/>
              </a:rPr>
              <a:t> · MTL </a:t>
            </a:r>
            <a:r>
              <a:rPr sz="1350" b="1" i="0">
                <a:solidFill>
                  <a:srgbClr val="000000"/>
                </a:solidFill>
                <a:latin typeface="Calibri"/>
              </a:rPr>
              <a:t>5.3 µs</a:t>
            </a:r>
            <a:r>
              <a:rPr sz="1350" b="0" i="0">
                <a:solidFill>
                  <a:srgbClr val="000000"/>
                </a:solidFill>
                <a:latin typeface="Calibri"/>
              </a:rPr>
              <a:t> · Ed25519 111 µs</a:t>
            </a:r>
          </a:p>
          <a:p>
            <a:pPr algn="l" marL="274320" indent="-274320">
              <a:spcBef>
                <a:spcPts val="600"/>
              </a:spcBef>
              <a:buClr>
                <a:srgbClr val="0000DC"/>
              </a:buClr>
              <a:buFont typeface="Arial"/>
              <a:buChar char="•"/>
            </a:pPr>
            <a:r>
              <a:rPr sz="1350" b="0" i="0">
                <a:solidFill>
                  <a:srgbClr val="000000"/>
                </a:solidFill>
                <a:latin typeface="Calibri"/>
              </a:rPr>
              <a:t>Cold (first answer, no ladder): direct 511 µs · MTL </a:t>
            </a:r>
            <a:r>
              <a:rPr sz="1350" b="1" i="0">
                <a:solidFill>
                  <a:srgbClr val="000000"/>
                </a:solidFill>
                <a:latin typeface="Calibri"/>
              </a:rPr>
              <a:t>513 µs</a:t>
            </a:r>
            <a:r>
              <a:rPr sz="1350" b="0" i="0">
                <a:solidFill>
                  <a:srgbClr val="000000"/>
                </a:solidFill>
                <a:latin typeface="Calibri"/>
              </a:rPr>
              <a:t> · Ed25519 103 µs</a:t>
            </a:r>
          </a:p>
          <a:p>
            <a:pPr algn="l" marL="274320" indent="-274320">
              <a:spcBef>
                <a:spcPts val="600"/>
              </a:spcBef>
              <a:buClr>
                <a:srgbClr val="0000DC"/>
              </a:buClr>
              <a:buFont typeface="Arial"/>
              <a:buChar char="•"/>
            </a:pPr>
            <a:r>
              <a:rPr sz="1350" b="0" i="0">
                <a:solidFill>
                  <a:srgbClr val="000000"/>
                </a:solidFill>
                <a:latin typeface="Calibri"/>
              </a:rPr>
              <a:t>MTL pays one SLH-DSA verification per zone (the ladder), then only hashes.</a:t>
            </a:r>
          </a:p>
        </p:txBody>
      </p:sp>
      <p:sp>
        <p:nvSpPr>
          <p:cNvPr id="10" name="TextBox 9"/>
          <p:cNvSpPr txBox="1"/>
          <p:nvPr/>
        </p:nvSpPr>
        <p:spPr>
          <a:xfrm>
            <a:off x="539496" y="5809487"/>
            <a:ext cx="7589520" cy="274320"/>
          </a:xfrm>
          <a:prstGeom prst="rect">
            <a:avLst/>
          </a:prstGeom>
          <a:noFill/>
        </p:spPr>
        <p:txBody>
          <a:bodyPr wrap="square" anchor="t" lIns="0" rIns="0" tIns="0" bIns="0">
            <a:spAutoFit/>
          </a:bodyPr>
          <a:lstStyle/>
          <a:p>
            <a:pPr algn="l"/>
            <a:r>
              <a:rPr sz="1100" b="0" i="0">
                <a:solidFill>
                  <a:srgbClr val="555555"/>
                </a:solidFill>
                <a:latin typeface="Calibri"/>
              </a:rPr>
              <a:t>Quick demo run, log scale. Source: trials.csv, median of 3 trials, whiskers = 95% CI.</a:t>
            </a:r>
          </a:p>
        </p:txBody>
      </p:sp>
      <p:sp>
        <p:nvSpPr>
          <p:cNvPr id="11" name="TextBox 10"/>
          <p:cNvSpPr txBox="1"/>
          <p:nvPr/>
        </p:nvSpPr>
        <p:spPr>
          <a:xfrm>
            <a:off x="539496" y="6510528"/>
            <a:ext cx="7315200" cy="274320"/>
          </a:xfrm>
          <a:prstGeom prst="rect">
            <a:avLst/>
          </a:prstGeom>
          <a:noFill/>
        </p:spPr>
        <p:txBody>
          <a:bodyPr wrap="square" anchor="t" lIns="0" rIns="0" tIns="0" bIns="0">
            <a:spAutoFit/>
          </a:bodyPr>
          <a:lstStyle/>
          <a:p>
            <a:pPr algn="l"/>
            <a:r>
              <a:rPr sz="1200" b="0" i="0">
                <a:solidFill>
                  <a:srgbClr val="0000DC"/>
                </a:solidFill>
                <a:latin typeface="Calibri"/>
              </a:rPr>
              <a:t>A. Joshi  •  </a:t>
            </a:r>
            <a:r>
              <a:rPr sz="1200" b="1" i="0">
                <a:solidFill>
                  <a:srgbClr val="0000DC"/>
                </a:solidFill>
                <a:latin typeface="Calibri"/>
              </a:rPr>
              <a:t>A3-PS036-TC161</a:t>
            </a:r>
            <a:r>
              <a:rPr sz="1200" b="0" i="0">
                <a:solidFill>
                  <a:srgbClr val="0000DC"/>
                </a:solidFill>
                <a:latin typeface="Calibri"/>
              </a:rPr>
              <a:t>  •  October 8, 2026</a:t>
            </a:r>
          </a:p>
        </p:txBody>
      </p:sp>
      <p:sp>
        <p:nvSpPr>
          <p:cNvPr id="12" name="TextBox 11"/>
          <p:cNvSpPr txBox="1"/>
          <p:nvPr/>
        </p:nvSpPr>
        <p:spPr>
          <a:xfrm>
            <a:off x="9601200" y="6510528"/>
            <a:ext cx="2057400" cy="274320"/>
          </a:xfrm>
          <a:prstGeom prst="rect">
            <a:avLst/>
          </a:prstGeom>
          <a:noFill/>
        </p:spPr>
        <p:txBody>
          <a:bodyPr wrap="square" anchor="t" lIns="0" rIns="0" tIns="0" bIns="0">
            <a:spAutoFit/>
          </a:bodyPr>
          <a:lstStyle/>
          <a:p>
            <a:pPr algn="r"/>
            <a:r>
              <a:rPr sz="1200" b="0" i="0">
                <a:solidFill>
                  <a:srgbClr val="0000DC"/>
                </a:solidFill>
                <a:latin typeface="Calibri"/>
              </a:rPr>
              <a:t>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6080" y="73152"/>
            <a:ext cx="3200400" cy="274320"/>
          </a:xfrm>
          <a:prstGeom prst="rect">
            <a:avLst/>
          </a:prstGeom>
          <a:noFill/>
        </p:spPr>
        <p:txBody>
          <a:bodyPr wrap="square" anchor="t" lIns="0" rIns="0" tIns="0" bIns="0">
            <a:spAutoFit/>
          </a:bodyPr>
          <a:lstStyle/>
          <a:p>
            <a:pPr algn="r"/>
            <a:r>
              <a:rPr sz="1200" b="1" i="0">
                <a:solidFill>
                  <a:srgbClr val="0000DC"/>
                </a:solidFill>
                <a:latin typeface="Calibri"/>
              </a:rPr>
              <a:t>AIORI 3</a:t>
            </a:r>
          </a:p>
        </p:txBody>
      </p:sp>
      <p:sp>
        <p:nvSpPr>
          <p:cNvPr id="3" name="TextBox 2"/>
          <p:cNvSpPr txBox="1"/>
          <p:nvPr/>
        </p:nvSpPr>
        <p:spPr>
          <a:xfrm>
            <a:off x="6263640" y="73152"/>
            <a:ext cx="5486400" cy="274320"/>
          </a:xfrm>
          <a:prstGeom prst="rect">
            <a:avLst/>
          </a:prstGeom>
          <a:noFill/>
        </p:spPr>
        <p:txBody>
          <a:bodyPr wrap="square" anchor="t" lIns="0" rIns="0" tIns="0" bIns="0">
            <a:spAutoFit/>
          </a:bodyPr>
          <a:lstStyle/>
          <a:p>
            <a:pPr algn="l"/>
            <a:r>
              <a:rPr sz="1200" b="1" i="0">
                <a:solidFill>
                  <a:srgbClr val="0000DC"/>
                </a:solidFill>
                <a:latin typeface="Calibri"/>
              </a:rPr>
              <a:t>Results</a:t>
            </a:r>
          </a:p>
        </p:txBody>
      </p:sp>
      <p:sp>
        <p:nvSpPr>
          <p:cNvPr id="4" name="TextBox 3"/>
          <p:cNvSpPr txBox="1"/>
          <p:nvPr/>
        </p:nvSpPr>
        <p:spPr>
          <a:xfrm>
            <a:off x="539496" y="384048"/>
            <a:ext cx="11109960" cy="548640"/>
          </a:xfrm>
          <a:prstGeom prst="rect">
            <a:avLst/>
          </a:prstGeom>
          <a:noFill/>
        </p:spPr>
        <p:txBody>
          <a:bodyPr wrap="square" anchor="t" lIns="0" rIns="0" tIns="0" bIns="0">
            <a:spAutoFit/>
          </a:bodyPr>
          <a:lstStyle/>
          <a:p>
            <a:pPr algn="l"/>
            <a:r>
              <a:rPr sz="3000" b="1" i="0">
                <a:solidFill>
                  <a:srgbClr val="0000DC"/>
                </a:solidFill>
                <a:latin typeface="Calibri"/>
              </a:rPr>
              <a:t>Answer sizes: MTL fits in UDP again</a:t>
            </a:r>
          </a:p>
        </p:txBody>
      </p:sp>
      <p:sp>
        <p:nvSpPr>
          <p:cNvPr id="5" name="TextBox 4"/>
          <p:cNvSpPr txBox="1"/>
          <p:nvPr/>
        </p:nvSpPr>
        <p:spPr>
          <a:xfrm>
            <a:off x="539496" y="978408"/>
            <a:ext cx="11109960" cy="411480"/>
          </a:xfrm>
          <a:prstGeom prst="rect">
            <a:avLst/>
          </a:prstGeom>
          <a:noFill/>
        </p:spPr>
        <p:txBody>
          <a:bodyPr wrap="square" anchor="t" lIns="0" rIns="0" tIns="0" bIns="0">
            <a:spAutoFit/>
          </a:bodyPr>
          <a:lstStyle/>
          <a:p>
            <a:pPr algn="l"/>
            <a:r>
              <a:rPr sz="1700" b="1" i="0">
                <a:solidFill>
                  <a:srgbClr val="000000"/>
                </a:solidFill>
                <a:latin typeface="Calibri"/>
              </a:rPr>
              <a:t>Every DNS answer measured, large zone, by record class.</a:t>
            </a:r>
          </a:p>
        </p:txBody>
      </p:sp>
      <p:pic>
        <p:nvPicPr>
          <p:cNvPr id="6" name="Picture 5" descr="responses.png"/>
          <p:cNvPicPr>
            <a:picLocks noChangeAspect="1"/>
          </p:cNvPicPr>
          <p:nvPr/>
        </p:nvPicPr>
        <p:blipFill>
          <a:blip r:embed="rId2"/>
          <a:stretch>
            <a:fillRect/>
          </a:stretch>
        </p:blipFill>
        <p:spPr>
          <a:xfrm>
            <a:off x="448056" y="1645920"/>
            <a:ext cx="7635240" cy="3902456"/>
          </a:xfrm>
          <a:prstGeom prst="rect">
            <a:avLst/>
          </a:prstGeom>
        </p:spPr>
      </p:pic>
      <p:sp>
        <p:nvSpPr>
          <p:cNvPr id="7" name="Rectangle 6"/>
          <p:cNvSpPr/>
          <p:nvPr/>
        </p:nvSpPr>
        <p:spPr>
          <a:xfrm>
            <a:off x="8366760" y="1600200"/>
            <a:ext cx="3291840" cy="3902456"/>
          </a:xfrm>
          <a:prstGeom prst="rect">
            <a:avLst/>
          </a:prstGeom>
          <a:solidFill>
            <a:srgbClr val="F2F2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p>
        </p:txBody>
      </p:sp>
      <p:sp>
        <p:nvSpPr>
          <p:cNvPr id="8" name="TextBox 7"/>
          <p:cNvSpPr txBox="1"/>
          <p:nvPr/>
        </p:nvSpPr>
        <p:spPr>
          <a:xfrm>
            <a:off x="8531352" y="1737360"/>
            <a:ext cx="2962656" cy="365760"/>
          </a:xfrm>
          <a:prstGeom prst="rect">
            <a:avLst/>
          </a:prstGeom>
          <a:noFill/>
        </p:spPr>
        <p:txBody>
          <a:bodyPr wrap="square" anchor="t" lIns="0" rIns="0" tIns="0" bIns="0">
            <a:spAutoFit/>
          </a:bodyPr>
          <a:lstStyle/>
          <a:p>
            <a:pPr algn="l"/>
            <a:r>
              <a:rPr sz="1500" b="1" i="0">
                <a:solidFill>
                  <a:srgbClr val="0000DC"/>
                </a:solidFill>
                <a:latin typeface="Calibri"/>
              </a:rPr>
              <a:t>Share of answers ≤ 1,232 B</a:t>
            </a:r>
          </a:p>
        </p:txBody>
      </p:sp>
      <p:sp>
        <p:nvSpPr>
          <p:cNvPr id="9" name="TextBox 8"/>
          <p:cNvSpPr txBox="1"/>
          <p:nvPr/>
        </p:nvSpPr>
        <p:spPr>
          <a:xfrm>
            <a:off x="8531352" y="2148840"/>
            <a:ext cx="2962656" cy="3262376"/>
          </a:xfrm>
          <a:prstGeom prst="rect">
            <a:avLst/>
          </a:prstGeom>
          <a:noFill/>
        </p:spPr>
        <p:txBody>
          <a:bodyPr wrap="square" anchor="t" lIns="0" rIns="0" tIns="0" bIns="0">
            <a:spAutoFit/>
          </a:bodyPr>
          <a:lstStyle/>
          <a:p>
            <a:pPr algn="l" marL="274320" indent="-274320">
              <a:buClr>
                <a:srgbClr val="0000DC"/>
              </a:buClr>
              <a:buFont typeface="Arial"/>
              <a:buChar char="•"/>
            </a:pPr>
            <a:r>
              <a:rPr sz="1350" b="0" i="0">
                <a:solidFill>
                  <a:srgbClr val="000000"/>
                </a:solidFill>
                <a:latin typeface="Calibri"/>
              </a:rPr>
              <a:t>Small answers: direct </a:t>
            </a:r>
            <a:r>
              <a:rPr sz="1350" b="1" i="0">
                <a:solidFill>
                  <a:srgbClr val="000000"/>
                </a:solidFill>
                <a:latin typeface="Calibri"/>
              </a:rPr>
              <a:t>0%</a:t>
            </a:r>
            <a:r>
              <a:rPr sz="1350" b="0" i="0">
                <a:solidFill>
                  <a:srgbClr val="000000"/>
                </a:solidFill>
                <a:latin typeface="Calibri"/>
              </a:rPr>
              <a:t> (7,970 B) · MTL </a:t>
            </a:r>
            <a:r>
              <a:rPr sz="1350" b="1" i="0">
                <a:solidFill>
                  <a:srgbClr val="000000"/>
                </a:solidFill>
                <a:latin typeface="Calibri"/>
              </a:rPr>
              <a:t>100%</a:t>
            </a:r>
            <a:r>
              <a:rPr sz="1350" b="0" i="0">
                <a:solidFill>
                  <a:srgbClr val="000000"/>
                </a:solidFill>
                <a:latin typeface="Calibri"/>
              </a:rPr>
              <a:t> (319 B) · Ed25519 100% (178 B)</a:t>
            </a:r>
          </a:p>
          <a:p>
            <a:pPr algn="l" marL="274320" indent="-274320">
              <a:spcBef>
                <a:spcPts val="600"/>
              </a:spcBef>
              <a:buClr>
                <a:srgbClr val="0000DC"/>
              </a:buClr>
              <a:buFont typeface="Arial"/>
              <a:buChar char="•"/>
            </a:pPr>
            <a:r>
              <a:rPr sz="1350" b="0" i="0">
                <a:solidFill>
                  <a:srgbClr val="000000"/>
                </a:solidFill>
                <a:latin typeface="Calibri"/>
              </a:rPr>
              <a:t>All answers, large zone: direct 0% · MTL 78% · Ed25519 95%</a:t>
            </a:r>
          </a:p>
          <a:p>
            <a:pPr algn="l" marL="274320" indent="-274320">
              <a:spcBef>
                <a:spcPts val="600"/>
              </a:spcBef>
              <a:buClr>
                <a:srgbClr val="0000DC"/>
              </a:buClr>
              <a:buFont typeface="Arial"/>
              <a:buChar char="•"/>
            </a:pPr>
            <a:r>
              <a:rPr sz="1350" b="0" i="0">
                <a:solidFill>
                  <a:srgbClr val="000000"/>
                </a:solidFill>
                <a:latin typeface="Calibri"/>
              </a:rPr>
              <a:t>Over the line for MTL: large TXT records and some NXDOMAIN (2–4 signatures each).</a:t>
            </a:r>
          </a:p>
        </p:txBody>
      </p:sp>
      <p:sp>
        <p:nvSpPr>
          <p:cNvPr id="10" name="TextBox 9"/>
          <p:cNvSpPr txBox="1"/>
          <p:nvPr/>
        </p:nvSpPr>
        <p:spPr>
          <a:xfrm>
            <a:off x="539496" y="5639816"/>
            <a:ext cx="7589520" cy="274320"/>
          </a:xfrm>
          <a:prstGeom prst="rect">
            <a:avLst/>
          </a:prstGeom>
          <a:noFill/>
        </p:spPr>
        <p:txBody>
          <a:bodyPr wrap="square" anchor="t" lIns="0" rIns="0" tIns="0" bIns="0">
            <a:spAutoFit/>
          </a:bodyPr>
          <a:lstStyle/>
          <a:p>
            <a:pPr algn="l"/>
            <a:r>
              <a:rPr sz="1100" b="0" i="0">
                <a:solidFill>
                  <a:srgbClr val="555555"/>
                </a:solidFill>
                <a:latin typeface="Calibri"/>
              </a:rPr>
              <a:t>Quick demo run, log scale. Source: responses.csv, every answer measured once (median, min–max).</a:t>
            </a:r>
          </a:p>
        </p:txBody>
      </p:sp>
      <p:sp>
        <p:nvSpPr>
          <p:cNvPr id="11" name="TextBox 10"/>
          <p:cNvSpPr txBox="1"/>
          <p:nvPr/>
        </p:nvSpPr>
        <p:spPr>
          <a:xfrm>
            <a:off x="539496" y="6510528"/>
            <a:ext cx="7315200" cy="274320"/>
          </a:xfrm>
          <a:prstGeom prst="rect">
            <a:avLst/>
          </a:prstGeom>
          <a:noFill/>
        </p:spPr>
        <p:txBody>
          <a:bodyPr wrap="square" anchor="t" lIns="0" rIns="0" tIns="0" bIns="0">
            <a:spAutoFit/>
          </a:bodyPr>
          <a:lstStyle/>
          <a:p>
            <a:pPr algn="l"/>
            <a:r>
              <a:rPr sz="1200" b="0" i="0">
                <a:solidFill>
                  <a:srgbClr val="0000DC"/>
                </a:solidFill>
                <a:latin typeface="Calibri"/>
              </a:rPr>
              <a:t>A. Joshi  •  </a:t>
            </a:r>
            <a:r>
              <a:rPr sz="1200" b="1" i="0">
                <a:solidFill>
                  <a:srgbClr val="0000DC"/>
                </a:solidFill>
                <a:latin typeface="Calibri"/>
              </a:rPr>
              <a:t>A3-PS036-TC161</a:t>
            </a:r>
            <a:r>
              <a:rPr sz="1200" b="0" i="0">
                <a:solidFill>
                  <a:srgbClr val="0000DC"/>
                </a:solidFill>
                <a:latin typeface="Calibri"/>
              </a:rPr>
              <a:t>  •  October 8, 2026</a:t>
            </a:r>
          </a:p>
        </p:txBody>
      </p:sp>
      <p:sp>
        <p:nvSpPr>
          <p:cNvPr id="12" name="TextBox 11"/>
          <p:cNvSpPr txBox="1"/>
          <p:nvPr/>
        </p:nvSpPr>
        <p:spPr>
          <a:xfrm>
            <a:off x="9601200" y="6510528"/>
            <a:ext cx="2057400" cy="274320"/>
          </a:xfrm>
          <a:prstGeom prst="rect">
            <a:avLst/>
          </a:prstGeom>
          <a:noFill/>
        </p:spPr>
        <p:txBody>
          <a:bodyPr wrap="square" anchor="t" lIns="0" rIns="0" tIns="0" bIns="0">
            <a:spAutoFit/>
          </a:bodyPr>
          <a:lstStyle/>
          <a:p>
            <a:pPr algn="r"/>
            <a:r>
              <a:rPr sz="1200" b="0" i="0">
                <a:solidFill>
                  <a:srgbClr val="0000DC"/>
                </a:solidFill>
                <a:latin typeface="Calibri"/>
              </a:rPr>
              <a:t>17 /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6080" y="73152"/>
            <a:ext cx="3200400" cy="274320"/>
          </a:xfrm>
          <a:prstGeom prst="rect">
            <a:avLst/>
          </a:prstGeom>
          <a:noFill/>
        </p:spPr>
        <p:txBody>
          <a:bodyPr wrap="square" anchor="t" lIns="0" rIns="0" tIns="0" bIns="0">
            <a:spAutoFit/>
          </a:bodyPr>
          <a:lstStyle/>
          <a:p>
            <a:pPr algn="r"/>
            <a:r>
              <a:rPr sz="1200" b="1" i="0">
                <a:solidFill>
                  <a:srgbClr val="0000DC"/>
                </a:solidFill>
                <a:latin typeface="Calibri"/>
              </a:rPr>
              <a:t>AIORI 3</a:t>
            </a:r>
          </a:p>
        </p:txBody>
      </p:sp>
      <p:sp>
        <p:nvSpPr>
          <p:cNvPr id="3" name="TextBox 2"/>
          <p:cNvSpPr txBox="1"/>
          <p:nvPr/>
        </p:nvSpPr>
        <p:spPr>
          <a:xfrm>
            <a:off x="6263640" y="73152"/>
            <a:ext cx="5486400" cy="274320"/>
          </a:xfrm>
          <a:prstGeom prst="rect">
            <a:avLst/>
          </a:prstGeom>
          <a:noFill/>
        </p:spPr>
        <p:txBody>
          <a:bodyPr wrap="square" anchor="t" lIns="0" rIns="0" tIns="0" bIns="0">
            <a:spAutoFit/>
          </a:bodyPr>
          <a:lstStyle/>
          <a:p>
            <a:pPr algn="l"/>
            <a:r>
              <a:rPr sz="1200" b="1" i="0">
                <a:solidFill>
                  <a:srgbClr val="0000DC"/>
                </a:solidFill>
                <a:latin typeface="Calibri"/>
              </a:rPr>
              <a:t>Results</a:t>
            </a:r>
          </a:p>
        </p:txBody>
      </p:sp>
      <p:sp>
        <p:nvSpPr>
          <p:cNvPr id="4" name="TextBox 3"/>
          <p:cNvSpPr txBox="1"/>
          <p:nvPr/>
        </p:nvSpPr>
        <p:spPr>
          <a:xfrm>
            <a:off x="539496" y="384048"/>
            <a:ext cx="11109960" cy="548640"/>
          </a:xfrm>
          <a:prstGeom prst="rect">
            <a:avLst/>
          </a:prstGeom>
          <a:noFill/>
        </p:spPr>
        <p:txBody>
          <a:bodyPr wrap="square" anchor="t" lIns="0" rIns="0" tIns="0" bIns="0">
            <a:spAutoFit/>
          </a:bodyPr>
          <a:lstStyle/>
          <a:p>
            <a:pPr algn="l"/>
            <a:r>
              <a:rPr sz="3000" b="1" i="0">
                <a:solidFill>
                  <a:srgbClr val="0000DC"/>
                </a:solidFill>
                <a:latin typeface="Calibri"/>
              </a:rPr>
              <a:t>Bytes on the wire: 17× less than direct SLH-DSA</a:t>
            </a:r>
          </a:p>
        </p:txBody>
      </p:sp>
      <p:sp>
        <p:nvSpPr>
          <p:cNvPr id="5" name="TextBox 4"/>
          <p:cNvSpPr txBox="1"/>
          <p:nvPr/>
        </p:nvSpPr>
        <p:spPr>
          <a:xfrm>
            <a:off x="539496" y="978408"/>
            <a:ext cx="11109960" cy="411480"/>
          </a:xfrm>
          <a:prstGeom prst="rect">
            <a:avLst/>
          </a:prstGeom>
          <a:noFill/>
        </p:spPr>
        <p:txBody>
          <a:bodyPr wrap="square" anchor="t" lIns="0" rIns="0" tIns="0" bIns="0">
            <a:spAutoFit/>
          </a:bodyPr>
          <a:lstStyle/>
          <a:p>
            <a:pPr algn="l"/>
            <a:r>
              <a:rPr sz="1700" b="1" i="0">
                <a:solidFill>
                  <a:srgbClr val="000000"/>
                </a:solidFill>
                <a:latin typeface="Calibri"/>
              </a:rPr>
              <a:t>Total DNS bytes for the 301-lookup stream at a 1,232-byte buffer.</a:t>
            </a:r>
          </a:p>
        </p:txBody>
      </p:sp>
      <p:pic>
        <p:nvPicPr>
          <p:cNvPr id="6" name="Picture 5" descr="workload.png"/>
          <p:cNvPicPr>
            <a:picLocks noChangeAspect="1"/>
          </p:cNvPicPr>
          <p:nvPr/>
        </p:nvPicPr>
        <p:blipFill>
          <a:blip r:embed="rId2"/>
          <a:stretch>
            <a:fillRect/>
          </a:stretch>
        </p:blipFill>
        <p:spPr>
          <a:xfrm>
            <a:off x="448056" y="1645920"/>
            <a:ext cx="7635240" cy="3902456"/>
          </a:xfrm>
          <a:prstGeom prst="rect">
            <a:avLst/>
          </a:prstGeom>
        </p:spPr>
      </p:pic>
      <p:sp>
        <p:nvSpPr>
          <p:cNvPr id="7" name="Rectangle 6"/>
          <p:cNvSpPr/>
          <p:nvPr/>
        </p:nvSpPr>
        <p:spPr>
          <a:xfrm>
            <a:off x="8366760" y="1600200"/>
            <a:ext cx="3291840" cy="3902456"/>
          </a:xfrm>
          <a:prstGeom prst="rect">
            <a:avLst/>
          </a:prstGeom>
          <a:solidFill>
            <a:srgbClr val="F2F2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p>
        </p:txBody>
      </p:sp>
      <p:sp>
        <p:nvSpPr>
          <p:cNvPr id="8" name="TextBox 7"/>
          <p:cNvSpPr txBox="1"/>
          <p:nvPr/>
        </p:nvSpPr>
        <p:spPr>
          <a:xfrm>
            <a:off x="8531352" y="1737360"/>
            <a:ext cx="2962656" cy="365760"/>
          </a:xfrm>
          <a:prstGeom prst="rect">
            <a:avLst/>
          </a:prstGeom>
          <a:noFill/>
        </p:spPr>
        <p:txBody>
          <a:bodyPr wrap="square" anchor="t" lIns="0" rIns="0" tIns="0" bIns="0">
            <a:spAutoFit/>
          </a:bodyPr>
          <a:lstStyle/>
          <a:p>
            <a:pPr algn="l"/>
            <a:r>
              <a:rPr sz="1500" b="1" i="0">
                <a:solidFill>
                  <a:srgbClr val="0000DC"/>
                </a:solidFill>
                <a:latin typeface="Calibri"/>
              </a:rPr>
              <a:t>Large zone, 106 answers sent</a:t>
            </a:r>
          </a:p>
        </p:txBody>
      </p:sp>
      <p:sp>
        <p:nvSpPr>
          <p:cNvPr id="9" name="TextBox 8"/>
          <p:cNvSpPr txBox="1"/>
          <p:nvPr/>
        </p:nvSpPr>
        <p:spPr>
          <a:xfrm>
            <a:off x="8531352" y="2148840"/>
            <a:ext cx="2962656" cy="3262376"/>
          </a:xfrm>
          <a:prstGeom prst="rect">
            <a:avLst/>
          </a:prstGeom>
          <a:noFill/>
        </p:spPr>
        <p:txBody>
          <a:bodyPr wrap="square" anchor="t" lIns="0" rIns="0" tIns="0" bIns="0">
            <a:spAutoFit/>
          </a:bodyPr>
          <a:lstStyle/>
          <a:p>
            <a:pPr algn="l" marL="274320" indent="-274320">
              <a:buClr>
                <a:srgbClr val="0000DC"/>
              </a:buClr>
              <a:buFont typeface="Arial"/>
              <a:buChar char="•"/>
            </a:pPr>
            <a:r>
              <a:rPr sz="1350" b="0" i="0">
                <a:solidFill>
                  <a:srgbClr val="000000"/>
                </a:solidFill>
                <a:latin typeface="Calibri"/>
              </a:rPr>
              <a:t>SLH-DSA direct </a:t>
            </a:r>
            <a:r>
              <a:rPr sz="1350" b="1" i="0">
                <a:solidFill>
                  <a:srgbClr val="000000"/>
                </a:solidFill>
                <a:latin typeface="Calibri"/>
              </a:rPr>
              <a:t>1,522,371 B</a:t>
            </a:r>
            <a:r>
              <a:rPr sz="1350" b="0" i="0">
                <a:solidFill>
                  <a:srgbClr val="000000"/>
                </a:solidFill>
                <a:latin typeface="Calibri"/>
              </a:rPr>
              <a:t>, 106 TCP retries</a:t>
            </a:r>
          </a:p>
          <a:p>
            <a:pPr algn="l" marL="274320" indent="-274320">
              <a:spcBef>
                <a:spcPts val="600"/>
              </a:spcBef>
              <a:buClr>
                <a:srgbClr val="0000DC"/>
              </a:buClr>
              <a:buFont typeface="Arial"/>
              <a:buChar char="•"/>
            </a:pPr>
            <a:r>
              <a:rPr sz="1350" b="0" i="0">
                <a:solidFill>
                  <a:srgbClr val="000000"/>
                </a:solidFill>
                <a:latin typeface="Calibri"/>
              </a:rPr>
              <a:t>SLH-DSA + MTL </a:t>
            </a:r>
            <a:r>
              <a:rPr sz="1350" b="1" i="0">
                <a:solidFill>
                  <a:srgbClr val="000000"/>
                </a:solidFill>
                <a:latin typeface="Calibri"/>
              </a:rPr>
              <a:t>88,895 B</a:t>
            </a:r>
            <a:r>
              <a:rPr sz="1350" b="0" i="0">
                <a:solidFill>
                  <a:srgbClr val="000000"/>
                </a:solidFill>
                <a:latin typeface="Calibri"/>
              </a:rPr>
              <a:t>, 33 TCP (32 truncated + 1 ladder fetch)</a:t>
            </a:r>
          </a:p>
          <a:p>
            <a:pPr algn="l" marL="274320" indent="-274320">
              <a:spcBef>
                <a:spcPts val="600"/>
              </a:spcBef>
              <a:buClr>
                <a:srgbClr val="0000DC"/>
              </a:buClr>
              <a:buFont typeface="Arial"/>
              <a:buChar char="•"/>
            </a:pPr>
            <a:r>
              <a:rPr sz="1350" b="0" i="0">
                <a:solidFill>
                  <a:srgbClr val="000000"/>
                </a:solidFill>
                <a:latin typeface="Calibri"/>
              </a:rPr>
              <a:t>Ed25519 53,292 B, 7 TCP · RSA 92,610 B, 34 TCP</a:t>
            </a:r>
          </a:p>
          <a:p>
            <a:pPr algn="l" marL="274320" indent="-274320">
              <a:spcBef>
                <a:spcPts val="600"/>
              </a:spcBef>
              <a:buClr>
                <a:srgbClr val="0000DC"/>
              </a:buClr>
              <a:buFont typeface="Arial"/>
              <a:buChar char="•"/>
            </a:pPr>
            <a:r>
              <a:rPr sz="1350" b="0" i="0">
                <a:solidFill>
                  <a:srgbClr val="000000"/>
                </a:solidFill>
                <a:latin typeface="Calibri"/>
              </a:rPr>
              <a:t>MTL ≈ 1.7× Ed25519 and below RSA-2048.</a:t>
            </a:r>
          </a:p>
        </p:txBody>
      </p:sp>
      <p:sp>
        <p:nvSpPr>
          <p:cNvPr id="10" name="TextBox 9"/>
          <p:cNvSpPr txBox="1"/>
          <p:nvPr/>
        </p:nvSpPr>
        <p:spPr>
          <a:xfrm>
            <a:off x="539496" y="5639816"/>
            <a:ext cx="7589520" cy="274320"/>
          </a:xfrm>
          <a:prstGeom prst="rect">
            <a:avLst/>
          </a:prstGeom>
          <a:noFill/>
        </p:spPr>
        <p:txBody>
          <a:bodyPr wrap="square" anchor="t" lIns="0" rIns="0" tIns="0" bIns="0">
            <a:spAutoFit/>
          </a:bodyPr>
          <a:lstStyle/>
          <a:p>
            <a:pPr algn="l"/>
            <a:r>
              <a:rPr sz="1100" b="0" i="0">
                <a:solidFill>
                  <a:srgbClr val="555555"/>
                </a:solidFill>
                <a:latin typeface="Calibri"/>
              </a:rPr>
              <a:t>Quick demo run, log scale. Source: workload.csv, one deterministic 301-lookup replay per zone and mode.</a:t>
            </a:r>
          </a:p>
        </p:txBody>
      </p:sp>
      <p:sp>
        <p:nvSpPr>
          <p:cNvPr id="11" name="TextBox 10"/>
          <p:cNvSpPr txBox="1"/>
          <p:nvPr/>
        </p:nvSpPr>
        <p:spPr>
          <a:xfrm>
            <a:off x="539496" y="6510528"/>
            <a:ext cx="7315200" cy="274320"/>
          </a:xfrm>
          <a:prstGeom prst="rect">
            <a:avLst/>
          </a:prstGeom>
          <a:noFill/>
        </p:spPr>
        <p:txBody>
          <a:bodyPr wrap="square" anchor="t" lIns="0" rIns="0" tIns="0" bIns="0">
            <a:spAutoFit/>
          </a:bodyPr>
          <a:lstStyle/>
          <a:p>
            <a:pPr algn="l"/>
            <a:r>
              <a:rPr sz="1200" b="0" i="0">
                <a:solidFill>
                  <a:srgbClr val="0000DC"/>
                </a:solidFill>
                <a:latin typeface="Calibri"/>
              </a:rPr>
              <a:t>A. Joshi  •  </a:t>
            </a:r>
            <a:r>
              <a:rPr sz="1200" b="1" i="0">
                <a:solidFill>
                  <a:srgbClr val="0000DC"/>
                </a:solidFill>
                <a:latin typeface="Calibri"/>
              </a:rPr>
              <a:t>A3-PS036-TC161</a:t>
            </a:r>
            <a:r>
              <a:rPr sz="1200" b="0" i="0">
                <a:solidFill>
                  <a:srgbClr val="0000DC"/>
                </a:solidFill>
                <a:latin typeface="Calibri"/>
              </a:rPr>
              <a:t>  •  October 8, 2026</a:t>
            </a:r>
          </a:p>
        </p:txBody>
      </p:sp>
      <p:sp>
        <p:nvSpPr>
          <p:cNvPr id="12" name="TextBox 11"/>
          <p:cNvSpPr txBox="1"/>
          <p:nvPr/>
        </p:nvSpPr>
        <p:spPr>
          <a:xfrm>
            <a:off x="9601200" y="6510528"/>
            <a:ext cx="2057400" cy="274320"/>
          </a:xfrm>
          <a:prstGeom prst="rect">
            <a:avLst/>
          </a:prstGeom>
          <a:noFill/>
        </p:spPr>
        <p:txBody>
          <a:bodyPr wrap="square" anchor="t" lIns="0" rIns="0" tIns="0" bIns="0">
            <a:spAutoFit/>
          </a:bodyPr>
          <a:lstStyle/>
          <a:p>
            <a:pPr algn="r"/>
            <a:r>
              <a:rPr sz="1200" b="0" i="0">
                <a:solidFill>
                  <a:srgbClr val="0000DC"/>
                </a:solidFill>
                <a:latin typeface="Calibri"/>
              </a:rPr>
              <a:t>18 / 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6080" y="73152"/>
            <a:ext cx="3200400" cy="274320"/>
          </a:xfrm>
          <a:prstGeom prst="rect">
            <a:avLst/>
          </a:prstGeom>
          <a:noFill/>
        </p:spPr>
        <p:txBody>
          <a:bodyPr wrap="square" anchor="t" lIns="0" rIns="0" tIns="0" bIns="0">
            <a:spAutoFit/>
          </a:bodyPr>
          <a:lstStyle/>
          <a:p>
            <a:pPr algn="r"/>
            <a:r>
              <a:rPr sz="1200" b="1" i="0">
                <a:solidFill>
                  <a:srgbClr val="0000DC"/>
                </a:solidFill>
                <a:latin typeface="Calibri"/>
              </a:rPr>
              <a:t>AIORI 3</a:t>
            </a:r>
          </a:p>
        </p:txBody>
      </p:sp>
      <p:sp>
        <p:nvSpPr>
          <p:cNvPr id="3" name="TextBox 2"/>
          <p:cNvSpPr txBox="1"/>
          <p:nvPr/>
        </p:nvSpPr>
        <p:spPr>
          <a:xfrm>
            <a:off x="6263640" y="73152"/>
            <a:ext cx="5486400" cy="274320"/>
          </a:xfrm>
          <a:prstGeom prst="rect">
            <a:avLst/>
          </a:prstGeom>
          <a:noFill/>
        </p:spPr>
        <p:txBody>
          <a:bodyPr wrap="square" anchor="t" lIns="0" rIns="0" tIns="0" bIns="0">
            <a:spAutoFit/>
          </a:bodyPr>
          <a:lstStyle/>
          <a:p>
            <a:pPr algn="l"/>
            <a:r>
              <a:rPr sz="1200" b="1" i="0">
                <a:solidFill>
                  <a:srgbClr val="0000DC"/>
                </a:solidFill>
                <a:latin typeface="Calibri"/>
              </a:rPr>
              <a:t>Results</a:t>
            </a:r>
          </a:p>
        </p:txBody>
      </p:sp>
      <p:sp>
        <p:nvSpPr>
          <p:cNvPr id="4" name="TextBox 3"/>
          <p:cNvSpPr txBox="1"/>
          <p:nvPr/>
        </p:nvSpPr>
        <p:spPr>
          <a:xfrm>
            <a:off x="539496" y="384048"/>
            <a:ext cx="11109960" cy="548640"/>
          </a:xfrm>
          <a:prstGeom prst="rect">
            <a:avLst/>
          </a:prstGeom>
          <a:noFill/>
        </p:spPr>
        <p:txBody>
          <a:bodyPr wrap="square" anchor="t" lIns="0" rIns="0" tIns="0" bIns="0">
            <a:spAutoFit/>
          </a:bodyPr>
          <a:lstStyle/>
          <a:p>
            <a:pPr algn="l"/>
            <a:r>
              <a:rPr sz="3000" b="1" i="0">
                <a:solidFill>
                  <a:srgbClr val="0000DC"/>
                </a:solidFill>
                <a:latin typeface="Calibri"/>
              </a:rPr>
              <a:t>Cache and storage: 36× less than direct SLH-DSA</a:t>
            </a:r>
          </a:p>
        </p:txBody>
      </p:sp>
      <p:sp>
        <p:nvSpPr>
          <p:cNvPr id="5" name="TextBox 4"/>
          <p:cNvSpPr txBox="1"/>
          <p:nvPr/>
        </p:nvSpPr>
        <p:spPr>
          <a:xfrm>
            <a:off x="539496" y="978408"/>
            <a:ext cx="11109960" cy="411480"/>
          </a:xfrm>
          <a:prstGeom prst="rect">
            <a:avLst/>
          </a:prstGeom>
          <a:noFill/>
        </p:spPr>
        <p:txBody>
          <a:bodyPr wrap="square" anchor="t" lIns="0" rIns="0" tIns="0" bIns="0">
            <a:spAutoFit/>
          </a:bodyPr>
          <a:lstStyle/>
          <a:p>
            <a:pPr algn="l"/>
            <a:r>
              <a:rPr sz="1700" b="1" i="0">
                <a:solidFill>
                  <a:srgbClr val="000000"/>
                </a:solidFill>
                <a:latin typeface="Calibri"/>
              </a:rPr>
              <a:t>Signature bytes a resolver holds after the workload: measured (left), draft formulas (right).</a:t>
            </a:r>
          </a:p>
        </p:txBody>
      </p:sp>
      <p:pic>
        <p:nvPicPr>
          <p:cNvPr id="6" name="Picture 5" descr="cache.png"/>
          <p:cNvPicPr>
            <a:picLocks noChangeAspect="1"/>
          </p:cNvPicPr>
          <p:nvPr/>
        </p:nvPicPr>
        <p:blipFill>
          <a:blip r:embed="rId2"/>
          <a:stretch>
            <a:fillRect/>
          </a:stretch>
        </p:blipFill>
        <p:spPr>
          <a:xfrm>
            <a:off x="448056" y="1645920"/>
            <a:ext cx="7635240" cy="3192919"/>
          </a:xfrm>
          <a:prstGeom prst="rect">
            <a:avLst/>
          </a:prstGeom>
        </p:spPr>
      </p:pic>
      <p:sp>
        <p:nvSpPr>
          <p:cNvPr id="7" name="Rectangle 6"/>
          <p:cNvSpPr/>
          <p:nvPr/>
        </p:nvSpPr>
        <p:spPr>
          <a:xfrm>
            <a:off x="8366760" y="1600200"/>
            <a:ext cx="3291840" cy="3291840"/>
          </a:xfrm>
          <a:prstGeom prst="rect">
            <a:avLst/>
          </a:prstGeom>
          <a:solidFill>
            <a:srgbClr val="F2F2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p>
        </p:txBody>
      </p:sp>
      <p:sp>
        <p:nvSpPr>
          <p:cNvPr id="8" name="TextBox 7"/>
          <p:cNvSpPr txBox="1"/>
          <p:nvPr/>
        </p:nvSpPr>
        <p:spPr>
          <a:xfrm>
            <a:off x="8531352" y="1737360"/>
            <a:ext cx="2962656" cy="365760"/>
          </a:xfrm>
          <a:prstGeom prst="rect">
            <a:avLst/>
          </a:prstGeom>
          <a:noFill/>
        </p:spPr>
        <p:txBody>
          <a:bodyPr wrap="square" anchor="t" lIns="0" rIns="0" tIns="0" bIns="0">
            <a:spAutoFit/>
          </a:bodyPr>
          <a:lstStyle/>
          <a:p>
            <a:pPr algn="l"/>
            <a:r>
              <a:rPr sz="1500" b="1" i="0">
                <a:solidFill>
                  <a:srgbClr val="0000DC"/>
                </a:solidFill>
                <a:latin typeface="Calibri"/>
              </a:rPr>
              <a:t>Large zone</a:t>
            </a:r>
          </a:p>
        </p:txBody>
      </p:sp>
      <p:sp>
        <p:nvSpPr>
          <p:cNvPr id="9" name="TextBox 8"/>
          <p:cNvSpPr txBox="1"/>
          <p:nvPr/>
        </p:nvSpPr>
        <p:spPr>
          <a:xfrm>
            <a:off x="8531352" y="2148840"/>
            <a:ext cx="2962656" cy="2651760"/>
          </a:xfrm>
          <a:prstGeom prst="rect">
            <a:avLst/>
          </a:prstGeom>
          <a:noFill/>
        </p:spPr>
        <p:txBody>
          <a:bodyPr wrap="square" anchor="t" lIns="0" rIns="0" tIns="0" bIns="0">
            <a:spAutoFit/>
          </a:bodyPr>
          <a:lstStyle/>
          <a:p>
            <a:pPr algn="l" marL="274320" indent="-274320">
              <a:buClr>
                <a:srgbClr val="0000DC"/>
              </a:buClr>
              <a:buFont typeface="Arial"/>
              <a:buChar char="•"/>
            </a:pPr>
            <a:r>
              <a:rPr sz="1350" b="0" i="0">
                <a:solidFill>
                  <a:srgbClr val="000000"/>
                </a:solidFill>
                <a:latin typeface="Calibri"/>
              </a:rPr>
              <a:t>Resolver cache: direct </a:t>
            </a:r>
            <a:r>
              <a:rPr sz="1350" b="1" i="0">
                <a:solidFill>
                  <a:srgbClr val="000000"/>
                </a:solidFill>
                <a:latin typeface="Calibri"/>
              </a:rPr>
              <a:t>1.47 MB</a:t>
            </a:r>
            <a:r>
              <a:rPr sz="1350" b="0" i="0">
                <a:solidFill>
                  <a:srgbClr val="000000"/>
                </a:solidFill>
                <a:latin typeface="Calibri"/>
              </a:rPr>
              <a:t> · MTL </a:t>
            </a:r>
            <a:r>
              <a:rPr sz="1350" b="1" i="0">
                <a:solidFill>
                  <a:srgbClr val="000000"/>
                </a:solidFill>
                <a:latin typeface="Calibri"/>
              </a:rPr>
              <a:t>44 KB</a:t>
            </a:r>
            <a:r>
              <a:rPr sz="1350" b="0" i="0">
                <a:solidFill>
                  <a:srgbClr val="000000"/>
                </a:solidFill>
                <a:latin typeface="Calibri"/>
              </a:rPr>
              <a:t> (incl. 8 KB ladder) · Ed25519 12 KB</a:t>
            </a:r>
          </a:p>
          <a:p>
            <a:pPr algn="l" marL="274320" indent="-274320">
              <a:spcBef>
                <a:spcPts val="600"/>
              </a:spcBef>
              <a:buClr>
                <a:srgbClr val="0000DC"/>
              </a:buClr>
              <a:buFont typeface="Arial"/>
              <a:buChar char="•"/>
            </a:pPr>
            <a:r>
              <a:rPr sz="1350" b="0" i="0">
                <a:solidFill>
                  <a:srgbClr val="000000"/>
                </a:solidFill>
                <a:latin typeface="Calibri"/>
              </a:rPr>
              <a:t>Zone signature storage: direct </a:t>
            </a:r>
            <a:r>
              <a:rPr sz="1350" b="1" i="0">
                <a:solidFill>
                  <a:srgbClr val="000000"/>
                </a:solidFill>
                <a:latin typeface="Calibri"/>
              </a:rPr>
              <a:t>3.18 MB</a:t>
            </a:r>
            <a:r>
              <a:rPr sz="1350" b="0" i="0">
                <a:solidFill>
                  <a:srgbClr val="000000"/>
                </a:solidFill>
                <a:latin typeface="Calibri"/>
              </a:rPr>
              <a:t> · MTL </a:t>
            </a:r>
            <a:r>
              <a:rPr sz="1350" b="1" i="0">
                <a:solidFill>
                  <a:srgbClr val="000000"/>
                </a:solidFill>
                <a:latin typeface="Calibri"/>
              </a:rPr>
              <a:t>0.087 MB</a:t>
            </a:r>
            <a:r>
              <a:rPr sz="1350" b="0" i="0">
                <a:solidFill>
                  <a:srgbClr val="000000"/>
                </a:solidFill>
                <a:latin typeface="Calibri"/>
              </a:rPr>
              <a:t> · Ed25519 0.026 MB</a:t>
            </a:r>
          </a:p>
          <a:p>
            <a:pPr algn="l" marL="274320" indent="-274320">
              <a:spcBef>
                <a:spcPts val="600"/>
              </a:spcBef>
              <a:buClr>
                <a:srgbClr val="0000DC"/>
              </a:buClr>
              <a:buFont typeface="Arial"/>
              <a:buChar char="•"/>
            </a:pPr>
            <a:r>
              <a:rPr sz="1350" b="0" i="0">
                <a:solidFill>
                  <a:srgbClr val="000000"/>
                </a:solidFill>
                <a:latin typeface="Calibri"/>
              </a:rPr>
              <a:t>Measured MTL sizes match the draft: condensed 204 B = formula 204 B; ladder 8,056 B ≤ 8,216 B max.</a:t>
            </a:r>
          </a:p>
        </p:txBody>
      </p:sp>
      <p:sp>
        <p:nvSpPr>
          <p:cNvPr id="10" name="TextBox 9"/>
          <p:cNvSpPr txBox="1"/>
          <p:nvPr/>
        </p:nvSpPr>
        <p:spPr>
          <a:xfrm>
            <a:off x="539496" y="4930279"/>
            <a:ext cx="7589520" cy="274320"/>
          </a:xfrm>
          <a:prstGeom prst="rect">
            <a:avLst/>
          </a:prstGeom>
          <a:noFill/>
        </p:spPr>
        <p:txBody>
          <a:bodyPr wrap="square" anchor="t" lIns="0" rIns="0" tIns="0" bIns="0">
            <a:spAutoFit/>
          </a:bodyPr>
          <a:lstStyle/>
          <a:p>
            <a:pPr algn="l"/>
            <a:r>
              <a:rPr sz="1100" b="0" i="0">
                <a:solidFill>
                  <a:srgbClr val="555555"/>
                </a:solidFill>
                <a:latin typeface="Calibri"/>
              </a:rPr>
              <a:t>Quick demo run, log scale. Source: cache.csv and sizes.csv.</a:t>
            </a:r>
          </a:p>
        </p:txBody>
      </p:sp>
      <p:sp>
        <p:nvSpPr>
          <p:cNvPr id="11" name="TextBox 10"/>
          <p:cNvSpPr txBox="1"/>
          <p:nvPr/>
        </p:nvSpPr>
        <p:spPr>
          <a:xfrm>
            <a:off x="539496" y="6510528"/>
            <a:ext cx="7315200" cy="274320"/>
          </a:xfrm>
          <a:prstGeom prst="rect">
            <a:avLst/>
          </a:prstGeom>
          <a:noFill/>
        </p:spPr>
        <p:txBody>
          <a:bodyPr wrap="square" anchor="t" lIns="0" rIns="0" tIns="0" bIns="0">
            <a:spAutoFit/>
          </a:bodyPr>
          <a:lstStyle/>
          <a:p>
            <a:pPr algn="l"/>
            <a:r>
              <a:rPr sz="1200" b="0" i="0">
                <a:solidFill>
                  <a:srgbClr val="0000DC"/>
                </a:solidFill>
                <a:latin typeface="Calibri"/>
              </a:rPr>
              <a:t>A. Joshi  •  </a:t>
            </a:r>
            <a:r>
              <a:rPr sz="1200" b="1" i="0">
                <a:solidFill>
                  <a:srgbClr val="0000DC"/>
                </a:solidFill>
                <a:latin typeface="Calibri"/>
              </a:rPr>
              <a:t>A3-PS036-TC161</a:t>
            </a:r>
            <a:r>
              <a:rPr sz="1200" b="0" i="0">
                <a:solidFill>
                  <a:srgbClr val="0000DC"/>
                </a:solidFill>
                <a:latin typeface="Calibri"/>
              </a:rPr>
              <a:t>  •  October 8, 2026</a:t>
            </a:r>
          </a:p>
        </p:txBody>
      </p:sp>
      <p:sp>
        <p:nvSpPr>
          <p:cNvPr id="12" name="TextBox 11"/>
          <p:cNvSpPr txBox="1"/>
          <p:nvPr/>
        </p:nvSpPr>
        <p:spPr>
          <a:xfrm>
            <a:off x="9601200" y="6510528"/>
            <a:ext cx="2057400" cy="274320"/>
          </a:xfrm>
          <a:prstGeom prst="rect">
            <a:avLst/>
          </a:prstGeom>
          <a:noFill/>
        </p:spPr>
        <p:txBody>
          <a:bodyPr wrap="square" anchor="t" lIns="0" rIns="0" tIns="0" bIns="0">
            <a:spAutoFit/>
          </a:bodyPr>
          <a:lstStyle/>
          <a:p>
            <a:pPr algn="r"/>
            <a:r>
              <a:rPr sz="1200" b="0" i="0">
                <a:solidFill>
                  <a:srgbClr val="0000DC"/>
                </a:solidFill>
                <a:latin typeface="Calibri"/>
              </a:rPr>
              <a:t>19 / 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6080" y="73152"/>
            <a:ext cx="3200400" cy="274320"/>
          </a:xfrm>
          <a:prstGeom prst="rect">
            <a:avLst/>
          </a:prstGeom>
          <a:noFill/>
        </p:spPr>
        <p:txBody>
          <a:bodyPr wrap="square" anchor="t" lIns="0" rIns="0" tIns="0" bIns="0">
            <a:spAutoFit/>
          </a:bodyPr>
          <a:lstStyle/>
          <a:p>
            <a:pPr algn="r"/>
            <a:r>
              <a:rPr sz="1200" b="1" i="0">
                <a:solidFill>
                  <a:srgbClr val="0000DC"/>
                </a:solidFill>
                <a:latin typeface="Calibri"/>
              </a:rPr>
              <a:t>AIORI 3</a:t>
            </a:r>
          </a:p>
        </p:txBody>
      </p:sp>
      <p:sp>
        <p:nvSpPr>
          <p:cNvPr id="3" name="TextBox 2"/>
          <p:cNvSpPr txBox="1"/>
          <p:nvPr/>
        </p:nvSpPr>
        <p:spPr>
          <a:xfrm>
            <a:off x="6263640" y="73152"/>
            <a:ext cx="5486400" cy="274320"/>
          </a:xfrm>
          <a:prstGeom prst="rect">
            <a:avLst/>
          </a:prstGeom>
          <a:noFill/>
        </p:spPr>
        <p:txBody>
          <a:bodyPr wrap="square" anchor="t" lIns="0" rIns="0" tIns="0" bIns="0">
            <a:spAutoFit/>
          </a:bodyPr>
          <a:lstStyle/>
          <a:p>
            <a:pPr algn="l"/>
            <a:r>
              <a:rPr sz="1200" b="1" i="0">
                <a:solidFill>
                  <a:srgbClr val="0000DC"/>
                </a:solidFill>
                <a:latin typeface="Calibri"/>
              </a:rPr>
              <a:t>Results</a:t>
            </a:r>
          </a:p>
        </p:txBody>
      </p:sp>
      <p:sp>
        <p:nvSpPr>
          <p:cNvPr id="4" name="TextBox 3"/>
          <p:cNvSpPr txBox="1"/>
          <p:nvPr/>
        </p:nvSpPr>
        <p:spPr>
          <a:xfrm>
            <a:off x="539496" y="384048"/>
            <a:ext cx="11109960" cy="548640"/>
          </a:xfrm>
          <a:prstGeom prst="rect">
            <a:avLst/>
          </a:prstGeom>
          <a:noFill/>
        </p:spPr>
        <p:txBody>
          <a:bodyPr wrap="square" anchor="t" lIns="0" rIns="0" tIns="0" bIns="0">
            <a:spAutoFit/>
          </a:bodyPr>
          <a:lstStyle/>
          <a:p>
            <a:pPr algn="l"/>
            <a:r>
              <a:rPr sz="3000" b="1" i="0">
                <a:solidFill>
                  <a:srgbClr val="0000DC"/>
                </a:solidFill>
                <a:latin typeface="Calibri"/>
              </a:rPr>
              <a:t>The result in one table</a:t>
            </a:r>
          </a:p>
        </p:txBody>
      </p:sp>
      <p:sp>
        <p:nvSpPr>
          <p:cNvPr id="5" name="TextBox 4"/>
          <p:cNvSpPr txBox="1"/>
          <p:nvPr/>
        </p:nvSpPr>
        <p:spPr>
          <a:xfrm>
            <a:off x="539496" y="978408"/>
            <a:ext cx="11109960" cy="411480"/>
          </a:xfrm>
          <a:prstGeom prst="rect">
            <a:avLst/>
          </a:prstGeom>
          <a:noFill/>
        </p:spPr>
        <p:txBody>
          <a:bodyPr wrap="square" anchor="t" lIns="0" rIns="0" tIns="0" bIns="0">
            <a:spAutoFit/>
          </a:bodyPr>
          <a:lstStyle/>
          <a:p>
            <a:pPr algn="l"/>
            <a:r>
              <a:rPr sz="1700" b="1" i="0">
                <a:solidFill>
                  <a:srgbClr val="000000"/>
                </a:solidFill>
                <a:latin typeface="Calibri"/>
              </a:rPr>
              <a:t>Large quick-demo zone, 405 record sets, medians of 3 trials.</a:t>
            </a:r>
          </a:p>
        </p:txBody>
      </p:sp>
      <p:graphicFrame>
        <p:nvGraphicFramePr>
          <p:cNvPr id="6" name="Table 5"/>
          <p:cNvGraphicFramePr>
            <a:graphicFrameLocks noGrp="1"/>
          </p:cNvGraphicFramePr>
          <p:nvPr/>
        </p:nvGraphicFramePr>
        <p:xfrm>
          <a:off x="539496" y="1600200"/>
          <a:ext cx="11109960" cy="4279392"/>
        </p:xfrm>
        <a:graphic>
          <a:graphicData uri="http://schemas.openxmlformats.org/drawingml/2006/table">
            <a:tbl>
              <a:tblPr firstRow="1" bandRow="1">
                <a:tableStyleId>{5C22544A-7EE6-4342-B048-85BDC9FD1C3A}</a:tableStyleId>
              </a:tblPr>
              <a:tblGrid>
                <a:gridCol w="3520440"/>
                <a:gridCol w="2240280"/>
                <a:gridCol w="3291840"/>
                <a:gridCol w="2057400"/>
              </a:tblGrid>
              <a:tr h="475488">
                <a:tc>
                  <a:txBody>
                    <a:bodyPr wrap="square"/>
                    <a:lstStyle/>
                    <a:p/>
                  </a:txBody>
                  <a:tcPr marL="64008" marR="64008" marT="27432" marB="27432" anchor="ctr">
                    <a:solidFill>
                      <a:srgbClr val="0000DC"/>
                    </a:solidFill>
                  </a:tcPr>
                </a:tc>
                <a:tc>
                  <a:txBody>
                    <a:bodyPr wrap="square"/>
                    <a:lstStyle/>
                    <a:p>
                      <a:r>
                        <a:rPr sz="1500" b="1" i="0">
                          <a:solidFill>
                            <a:srgbClr val="FFFFFF"/>
                          </a:solidFill>
                          <a:latin typeface="Calibri"/>
                        </a:rPr>
                        <a:t>SLH-DSA direct</a:t>
                      </a:r>
                    </a:p>
                  </a:txBody>
                  <a:tcPr marL="64008" marR="64008" marT="27432" marB="27432" anchor="ctr">
                    <a:solidFill>
                      <a:srgbClr val="0000DC"/>
                    </a:solidFill>
                  </a:tcPr>
                </a:tc>
                <a:tc>
                  <a:txBody>
                    <a:bodyPr wrap="square"/>
                    <a:lstStyle/>
                    <a:p>
                      <a:r>
                        <a:rPr sz="1500" b="1" i="0">
                          <a:solidFill>
                            <a:srgbClr val="FFFFFF"/>
                          </a:solidFill>
                          <a:latin typeface="Calibri"/>
                        </a:rPr>
                        <a:t>SLH-DSA + MTL</a:t>
                      </a:r>
                    </a:p>
                  </a:txBody>
                  <a:tcPr marL="64008" marR="64008" marT="27432" marB="27432" anchor="ctr">
                    <a:solidFill>
                      <a:srgbClr val="0000DC"/>
                    </a:solidFill>
                  </a:tcPr>
                </a:tc>
                <a:tc>
                  <a:txBody>
                    <a:bodyPr wrap="square"/>
                    <a:lstStyle/>
                    <a:p>
                      <a:r>
                        <a:rPr sz="1500" b="1" i="0">
                          <a:solidFill>
                            <a:srgbClr val="FFFFFF"/>
                          </a:solidFill>
                          <a:latin typeface="Calibri"/>
                        </a:rPr>
                        <a:t>Ed25519 (today)</a:t>
                      </a:r>
                    </a:p>
                  </a:txBody>
                  <a:tcPr marL="64008" marR="64008" marT="27432" marB="27432" anchor="ctr">
                    <a:solidFill>
                      <a:srgbClr val="0000DC"/>
                    </a:solidFill>
                  </a:tcPr>
                </a:tc>
              </a:tr>
              <a:tr h="475488">
                <a:tc>
                  <a:txBody>
                    <a:bodyPr wrap="square"/>
                    <a:lstStyle/>
                    <a:p>
                      <a:r>
                        <a:rPr sz="1500" b="0" i="0">
                          <a:solidFill>
                            <a:srgbClr val="000000"/>
                          </a:solidFill>
                          <a:latin typeface="Calibri"/>
                        </a:rPr>
                        <a:t>Signature per RRSIG</a:t>
                      </a:r>
                    </a:p>
                  </a:txBody>
                  <a:tcPr marL="64008" marR="64008" marT="27432" marB="27432" anchor="ctr">
                    <a:solidFill>
                      <a:srgbClr val="F2F2FD"/>
                    </a:solidFill>
                  </a:tcPr>
                </a:tc>
                <a:tc>
                  <a:txBody>
                    <a:bodyPr wrap="square"/>
                    <a:lstStyle/>
                    <a:p>
                      <a:r>
                        <a:rPr sz="1500" b="0" i="0">
                          <a:solidFill>
                            <a:srgbClr val="000000"/>
                          </a:solidFill>
                          <a:latin typeface="Calibri"/>
                        </a:rPr>
                        <a:t>7,856 B</a:t>
                      </a:r>
                    </a:p>
                  </a:txBody>
                  <a:tcPr marL="64008" marR="64008" marT="27432" marB="27432" anchor="ctr">
                    <a:solidFill>
                      <a:srgbClr val="F2F2FD"/>
                    </a:solidFill>
                  </a:tcPr>
                </a:tc>
                <a:tc>
                  <a:txBody>
                    <a:bodyPr wrap="square"/>
                    <a:lstStyle/>
                    <a:p>
                      <a:r>
                        <a:rPr sz="1500" b="0" i="0">
                          <a:solidFill>
                            <a:srgbClr val="000000"/>
                          </a:solidFill>
                          <a:latin typeface="Calibri"/>
                        </a:rPr>
                        <a:t>≤ 204 B + one 8,056 B ladder per zone</a:t>
                      </a:r>
                    </a:p>
                  </a:txBody>
                  <a:tcPr marL="64008" marR="64008" marT="27432" marB="27432" anchor="ctr">
                    <a:solidFill>
                      <a:srgbClr val="F2F2FD"/>
                    </a:solidFill>
                  </a:tcPr>
                </a:tc>
                <a:tc>
                  <a:txBody>
                    <a:bodyPr wrap="square"/>
                    <a:lstStyle/>
                    <a:p>
                      <a:r>
                        <a:rPr sz="1500" b="0" i="0">
                          <a:solidFill>
                            <a:srgbClr val="000000"/>
                          </a:solidFill>
                          <a:latin typeface="Calibri"/>
                        </a:rPr>
                        <a:t>64 B</a:t>
                      </a:r>
                    </a:p>
                  </a:txBody>
                  <a:tcPr marL="64008" marR="64008" marT="27432" marB="27432" anchor="ctr">
                    <a:solidFill>
                      <a:srgbClr val="F2F2FD"/>
                    </a:solidFill>
                  </a:tcPr>
                </a:tc>
              </a:tr>
              <a:tr h="475488">
                <a:tc>
                  <a:txBody>
                    <a:bodyPr wrap="square"/>
                    <a:lstStyle/>
                    <a:p>
                      <a:r>
                        <a:rPr sz="1500" b="0" i="0">
                          <a:solidFill>
                            <a:srgbClr val="000000"/>
                          </a:solidFill>
                          <a:latin typeface="Calibri"/>
                        </a:rPr>
                        <a:t>Sign whole zone</a:t>
                      </a:r>
                    </a:p>
                  </a:txBody>
                  <a:tcPr marL="64008" marR="64008" marT="27432" marB="27432" anchor="ctr">
                    <a:solidFill>
                      <a:srgbClr val="FFFFFF"/>
                    </a:solidFill>
                  </a:tcPr>
                </a:tc>
                <a:tc>
                  <a:txBody>
                    <a:bodyPr wrap="square"/>
                    <a:lstStyle/>
                    <a:p>
                      <a:r>
                        <a:rPr sz="1500" b="0" i="0">
                          <a:solidFill>
                            <a:srgbClr val="000000"/>
                          </a:solidFill>
                          <a:latin typeface="Calibri"/>
                        </a:rPr>
                        <a:t>≈ 209 s</a:t>
                      </a:r>
                    </a:p>
                  </a:txBody>
                  <a:tcPr marL="64008" marR="64008" marT="27432" marB="27432" anchor="ctr">
                    <a:solidFill>
                      <a:srgbClr val="FFFFFF"/>
                    </a:solidFill>
                  </a:tcPr>
                </a:tc>
                <a:tc>
                  <a:txBody>
                    <a:bodyPr wrap="square"/>
                    <a:lstStyle/>
                    <a:p>
                      <a:r>
                        <a:rPr sz="1500" b="1" i="0">
                          <a:solidFill>
                            <a:srgbClr val="000000"/>
                          </a:solidFill>
                          <a:latin typeface="Calibri"/>
                        </a:rPr>
                        <a:t>0.52 s</a:t>
                      </a:r>
                    </a:p>
                  </a:txBody>
                  <a:tcPr marL="64008" marR="64008" marT="27432" marB="27432" anchor="ctr">
                    <a:solidFill>
                      <a:srgbClr val="FFFFFF"/>
                    </a:solidFill>
                  </a:tcPr>
                </a:tc>
                <a:tc>
                  <a:txBody>
                    <a:bodyPr wrap="square"/>
                    <a:lstStyle/>
                    <a:p>
                      <a:r>
                        <a:rPr sz="1500" b="0" i="0">
                          <a:solidFill>
                            <a:srgbClr val="000000"/>
                          </a:solidFill>
                          <a:latin typeface="Calibri"/>
                        </a:rPr>
                        <a:t>0.014 s</a:t>
                      </a:r>
                    </a:p>
                  </a:txBody>
                  <a:tcPr marL="64008" marR="64008" marT="27432" marB="27432" anchor="ctr">
                    <a:solidFill>
                      <a:srgbClr val="FFFFFF"/>
                    </a:solidFill>
                  </a:tcPr>
                </a:tc>
              </a:tr>
              <a:tr h="475488">
                <a:tc>
                  <a:txBody>
                    <a:bodyPr wrap="square"/>
                    <a:lstStyle/>
                    <a:p>
                      <a:r>
                        <a:rPr sz="1500" b="0" i="0">
                          <a:solidFill>
                            <a:srgbClr val="000000"/>
                          </a:solidFill>
                          <a:latin typeface="Calibri"/>
                        </a:rPr>
                        <a:t>Verify one answer, ladder cached</a:t>
                      </a:r>
                    </a:p>
                  </a:txBody>
                  <a:tcPr marL="64008" marR="64008" marT="27432" marB="27432" anchor="ctr">
                    <a:solidFill>
                      <a:srgbClr val="F2F2FD"/>
                    </a:solidFill>
                  </a:tcPr>
                </a:tc>
                <a:tc>
                  <a:txBody>
                    <a:bodyPr wrap="square"/>
                    <a:lstStyle/>
                    <a:p>
                      <a:r>
                        <a:rPr sz="1500" b="0" i="0">
                          <a:solidFill>
                            <a:srgbClr val="000000"/>
                          </a:solidFill>
                          <a:latin typeface="Calibri"/>
                        </a:rPr>
                        <a:t>588 µs</a:t>
                      </a:r>
                    </a:p>
                  </a:txBody>
                  <a:tcPr marL="64008" marR="64008" marT="27432" marB="27432" anchor="ctr">
                    <a:solidFill>
                      <a:srgbClr val="F2F2FD"/>
                    </a:solidFill>
                  </a:tcPr>
                </a:tc>
                <a:tc>
                  <a:txBody>
                    <a:bodyPr wrap="square"/>
                    <a:lstStyle/>
                    <a:p>
                      <a:r>
                        <a:rPr sz="1500" b="1" i="0">
                          <a:solidFill>
                            <a:srgbClr val="000000"/>
                          </a:solidFill>
                          <a:latin typeface="Calibri"/>
                        </a:rPr>
                        <a:t>5.3 µs</a:t>
                      </a:r>
                    </a:p>
                  </a:txBody>
                  <a:tcPr marL="64008" marR="64008" marT="27432" marB="27432" anchor="ctr">
                    <a:solidFill>
                      <a:srgbClr val="F2F2FD"/>
                    </a:solidFill>
                  </a:tcPr>
                </a:tc>
                <a:tc>
                  <a:txBody>
                    <a:bodyPr wrap="square"/>
                    <a:lstStyle/>
                    <a:p>
                      <a:r>
                        <a:rPr sz="1500" b="0" i="0">
                          <a:solidFill>
                            <a:srgbClr val="000000"/>
                          </a:solidFill>
                          <a:latin typeface="Calibri"/>
                        </a:rPr>
                        <a:t>111 µs</a:t>
                      </a:r>
                    </a:p>
                  </a:txBody>
                  <a:tcPr marL="64008" marR="64008" marT="27432" marB="27432" anchor="ctr">
                    <a:solidFill>
                      <a:srgbClr val="F2F2FD"/>
                    </a:solidFill>
                  </a:tcPr>
                </a:tc>
              </a:tr>
              <a:tr h="475488">
                <a:tc>
                  <a:txBody>
                    <a:bodyPr wrap="square"/>
                    <a:lstStyle/>
                    <a:p>
                      <a:r>
                        <a:rPr sz="1500" b="0" i="0">
                          <a:solidFill>
                            <a:srgbClr val="000000"/>
                          </a:solidFill>
                          <a:latin typeface="Calibri"/>
                        </a:rPr>
                        <a:t>Verify first answer, nothing cached</a:t>
                      </a:r>
                    </a:p>
                  </a:txBody>
                  <a:tcPr marL="64008" marR="64008" marT="27432" marB="27432" anchor="ctr">
                    <a:solidFill>
                      <a:srgbClr val="FFFFFF"/>
                    </a:solidFill>
                  </a:tcPr>
                </a:tc>
                <a:tc>
                  <a:txBody>
                    <a:bodyPr wrap="square"/>
                    <a:lstStyle/>
                    <a:p>
                      <a:r>
                        <a:rPr sz="1500" b="0" i="0">
                          <a:solidFill>
                            <a:srgbClr val="000000"/>
                          </a:solidFill>
                          <a:latin typeface="Calibri"/>
                        </a:rPr>
                        <a:t>511 µs</a:t>
                      </a:r>
                    </a:p>
                  </a:txBody>
                  <a:tcPr marL="64008" marR="64008" marT="27432" marB="27432" anchor="ctr">
                    <a:solidFill>
                      <a:srgbClr val="FFFFFF"/>
                    </a:solidFill>
                  </a:tcPr>
                </a:tc>
                <a:tc>
                  <a:txBody>
                    <a:bodyPr wrap="square"/>
                    <a:lstStyle/>
                    <a:p>
                      <a:r>
                        <a:rPr sz="1500" b="0" i="0">
                          <a:solidFill>
                            <a:srgbClr val="000000"/>
                          </a:solidFill>
                          <a:latin typeface="Calibri"/>
                        </a:rPr>
                        <a:t>513 µs</a:t>
                      </a:r>
                    </a:p>
                  </a:txBody>
                  <a:tcPr marL="64008" marR="64008" marT="27432" marB="27432" anchor="ctr">
                    <a:solidFill>
                      <a:srgbClr val="FFFFFF"/>
                    </a:solidFill>
                  </a:tcPr>
                </a:tc>
                <a:tc>
                  <a:txBody>
                    <a:bodyPr wrap="square"/>
                    <a:lstStyle/>
                    <a:p>
                      <a:r>
                        <a:rPr sz="1500" b="0" i="0">
                          <a:solidFill>
                            <a:srgbClr val="000000"/>
                          </a:solidFill>
                          <a:latin typeface="Calibri"/>
                        </a:rPr>
                        <a:t>103 µs</a:t>
                      </a:r>
                    </a:p>
                  </a:txBody>
                  <a:tcPr marL="64008" marR="64008" marT="27432" marB="27432" anchor="ctr">
                    <a:solidFill>
                      <a:srgbClr val="FFFFFF"/>
                    </a:solidFill>
                  </a:tcPr>
                </a:tc>
              </a:tr>
              <a:tr h="475488">
                <a:tc>
                  <a:txBody>
                    <a:bodyPr wrap="square"/>
                    <a:lstStyle/>
                    <a:p>
                      <a:r>
                        <a:rPr sz="1500" b="0" i="0">
                          <a:solidFill>
                            <a:srgbClr val="000000"/>
                          </a:solidFill>
                          <a:latin typeface="Calibri"/>
                        </a:rPr>
                        <a:t>Small answers within 1,232 B</a:t>
                      </a:r>
                    </a:p>
                  </a:txBody>
                  <a:tcPr marL="64008" marR="64008" marT="27432" marB="27432" anchor="ctr">
                    <a:solidFill>
                      <a:srgbClr val="F2F2FD"/>
                    </a:solidFill>
                  </a:tcPr>
                </a:tc>
                <a:tc>
                  <a:txBody>
                    <a:bodyPr wrap="square"/>
                    <a:lstStyle/>
                    <a:p>
                      <a:r>
                        <a:rPr sz="1500" b="0" i="0">
                          <a:solidFill>
                            <a:srgbClr val="000000"/>
                          </a:solidFill>
                          <a:latin typeface="Calibri"/>
                        </a:rPr>
                        <a:t>0%</a:t>
                      </a:r>
                    </a:p>
                  </a:txBody>
                  <a:tcPr marL="64008" marR="64008" marT="27432" marB="27432" anchor="ctr">
                    <a:solidFill>
                      <a:srgbClr val="F2F2FD"/>
                    </a:solidFill>
                  </a:tcPr>
                </a:tc>
                <a:tc>
                  <a:txBody>
                    <a:bodyPr wrap="square"/>
                    <a:lstStyle/>
                    <a:p>
                      <a:r>
                        <a:rPr sz="1500" b="1" i="0">
                          <a:solidFill>
                            <a:srgbClr val="000000"/>
                          </a:solidFill>
                          <a:latin typeface="Calibri"/>
                        </a:rPr>
                        <a:t>100%</a:t>
                      </a:r>
                    </a:p>
                  </a:txBody>
                  <a:tcPr marL="64008" marR="64008" marT="27432" marB="27432" anchor="ctr">
                    <a:solidFill>
                      <a:srgbClr val="F2F2FD"/>
                    </a:solidFill>
                  </a:tcPr>
                </a:tc>
                <a:tc>
                  <a:txBody>
                    <a:bodyPr wrap="square"/>
                    <a:lstStyle/>
                    <a:p>
                      <a:r>
                        <a:rPr sz="1500" b="0" i="0">
                          <a:solidFill>
                            <a:srgbClr val="000000"/>
                          </a:solidFill>
                          <a:latin typeface="Calibri"/>
                        </a:rPr>
                        <a:t>100%</a:t>
                      </a:r>
                    </a:p>
                  </a:txBody>
                  <a:tcPr marL="64008" marR="64008" marT="27432" marB="27432" anchor="ctr">
                    <a:solidFill>
                      <a:srgbClr val="F2F2FD"/>
                    </a:solidFill>
                  </a:tcPr>
                </a:tc>
              </a:tr>
              <a:tr h="475488">
                <a:tc>
                  <a:txBody>
                    <a:bodyPr wrap="square"/>
                    <a:lstStyle/>
                    <a:p>
                      <a:r>
                        <a:rPr sz="1500" b="0" i="0">
                          <a:solidFill>
                            <a:srgbClr val="000000"/>
                          </a:solidFill>
                          <a:latin typeface="Calibri"/>
                        </a:rPr>
                        <a:t>Bytes on the wire, 301 lookups</a:t>
                      </a:r>
                    </a:p>
                  </a:txBody>
                  <a:tcPr marL="64008" marR="64008" marT="27432" marB="27432" anchor="ctr">
                    <a:solidFill>
                      <a:srgbClr val="FFFFFF"/>
                    </a:solidFill>
                  </a:tcPr>
                </a:tc>
                <a:tc>
                  <a:txBody>
                    <a:bodyPr wrap="square"/>
                    <a:lstStyle/>
                    <a:p>
                      <a:r>
                        <a:rPr sz="1500" b="0" i="0">
                          <a:solidFill>
                            <a:srgbClr val="000000"/>
                          </a:solidFill>
                          <a:latin typeface="Calibri"/>
                        </a:rPr>
                        <a:t>1,522,371 B</a:t>
                      </a:r>
                    </a:p>
                  </a:txBody>
                  <a:tcPr marL="64008" marR="64008" marT="27432" marB="27432" anchor="ctr">
                    <a:solidFill>
                      <a:srgbClr val="FFFFFF"/>
                    </a:solidFill>
                  </a:tcPr>
                </a:tc>
                <a:tc>
                  <a:txBody>
                    <a:bodyPr wrap="square"/>
                    <a:lstStyle/>
                    <a:p>
                      <a:r>
                        <a:rPr sz="1500" b="1" i="0">
                          <a:solidFill>
                            <a:srgbClr val="000000"/>
                          </a:solidFill>
                          <a:latin typeface="Calibri"/>
                        </a:rPr>
                        <a:t>88,895 B</a:t>
                      </a:r>
                      <a:r>
                        <a:rPr sz="1500" b="0" i="0">
                          <a:solidFill>
                            <a:srgbClr val="000000"/>
                          </a:solidFill>
                          <a:latin typeface="Calibri"/>
                        </a:rPr>
                        <a:t> (17× less)</a:t>
                      </a:r>
                    </a:p>
                  </a:txBody>
                  <a:tcPr marL="64008" marR="64008" marT="27432" marB="27432" anchor="ctr">
                    <a:solidFill>
                      <a:srgbClr val="FFFFFF"/>
                    </a:solidFill>
                  </a:tcPr>
                </a:tc>
                <a:tc>
                  <a:txBody>
                    <a:bodyPr wrap="square"/>
                    <a:lstStyle/>
                    <a:p>
                      <a:r>
                        <a:rPr sz="1500" b="0" i="0">
                          <a:solidFill>
                            <a:srgbClr val="000000"/>
                          </a:solidFill>
                          <a:latin typeface="Calibri"/>
                        </a:rPr>
                        <a:t>53,292 B</a:t>
                      </a:r>
                    </a:p>
                  </a:txBody>
                  <a:tcPr marL="64008" marR="64008" marT="27432" marB="27432" anchor="ctr">
                    <a:solidFill>
                      <a:srgbClr val="FFFFFF"/>
                    </a:solidFill>
                  </a:tcPr>
                </a:tc>
              </a:tr>
              <a:tr h="475488">
                <a:tc>
                  <a:txBody>
                    <a:bodyPr wrap="square"/>
                    <a:lstStyle/>
                    <a:p>
                      <a:r>
                        <a:rPr sz="1500" b="0" i="0">
                          <a:solidFill>
                            <a:srgbClr val="000000"/>
                          </a:solidFill>
                          <a:latin typeface="Calibri"/>
                        </a:rPr>
                        <a:t>Signature storage for the zone</a:t>
                      </a:r>
                    </a:p>
                  </a:txBody>
                  <a:tcPr marL="64008" marR="64008" marT="27432" marB="27432" anchor="ctr">
                    <a:solidFill>
                      <a:srgbClr val="F2F2FD"/>
                    </a:solidFill>
                  </a:tcPr>
                </a:tc>
                <a:tc>
                  <a:txBody>
                    <a:bodyPr wrap="square"/>
                    <a:lstStyle/>
                    <a:p>
                      <a:r>
                        <a:rPr sz="1500" b="0" i="0">
                          <a:solidFill>
                            <a:srgbClr val="000000"/>
                          </a:solidFill>
                          <a:latin typeface="Calibri"/>
                        </a:rPr>
                        <a:t>3.18 MB</a:t>
                      </a:r>
                    </a:p>
                  </a:txBody>
                  <a:tcPr marL="64008" marR="64008" marT="27432" marB="27432" anchor="ctr">
                    <a:solidFill>
                      <a:srgbClr val="F2F2FD"/>
                    </a:solidFill>
                  </a:tcPr>
                </a:tc>
                <a:tc>
                  <a:txBody>
                    <a:bodyPr wrap="square"/>
                    <a:lstStyle/>
                    <a:p>
                      <a:r>
                        <a:rPr sz="1500" b="1" i="0">
                          <a:solidFill>
                            <a:srgbClr val="000000"/>
                          </a:solidFill>
                          <a:latin typeface="Calibri"/>
                        </a:rPr>
                        <a:t>0.087 MB</a:t>
                      </a:r>
                      <a:r>
                        <a:rPr sz="1500" b="0" i="0">
                          <a:solidFill>
                            <a:srgbClr val="000000"/>
                          </a:solidFill>
                          <a:latin typeface="Calibri"/>
                        </a:rPr>
                        <a:t> (36× less)</a:t>
                      </a:r>
                    </a:p>
                  </a:txBody>
                  <a:tcPr marL="64008" marR="64008" marT="27432" marB="27432" anchor="ctr">
                    <a:solidFill>
                      <a:srgbClr val="F2F2FD"/>
                    </a:solidFill>
                  </a:tcPr>
                </a:tc>
                <a:tc>
                  <a:txBody>
                    <a:bodyPr wrap="square"/>
                    <a:lstStyle/>
                    <a:p>
                      <a:r>
                        <a:rPr sz="1500" b="0" i="0">
                          <a:solidFill>
                            <a:srgbClr val="000000"/>
                          </a:solidFill>
                          <a:latin typeface="Calibri"/>
                        </a:rPr>
                        <a:t>0.026 MB</a:t>
                      </a:r>
                    </a:p>
                  </a:txBody>
                  <a:tcPr marL="64008" marR="64008" marT="27432" marB="27432" anchor="ctr">
                    <a:solidFill>
                      <a:srgbClr val="F2F2FD"/>
                    </a:solidFill>
                  </a:tcPr>
                </a:tc>
              </a:tr>
              <a:tr h="475488">
                <a:tc>
                  <a:txBody>
                    <a:bodyPr wrap="square"/>
                    <a:lstStyle/>
                    <a:p>
                      <a:r>
                        <a:rPr sz="1500" b="0" i="0">
                          <a:solidFill>
                            <a:srgbClr val="000000"/>
                          </a:solidFill>
                          <a:latin typeface="Calibri"/>
                        </a:rPr>
                        <a:t>All correctness checks</a:t>
                      </a:r>
                    </a:p>
                  </a:txBody>
                  <a:tcPr marL="64008" marR="64008" marT="27432" marB="27432" anchor="ctr">
                    <a:solidFill>
                      <a:srgbClr val="FFFFFF"/>
                    </a:solidFill>
                  </a:tcPr>
                </a:tc>
                <a:tc>
                  <a:txBody>
                    <a:bodyPr wrap="square"/>
                    <a:lstStyle/>
                    <a:p>
                      <a:r>
                        <a:rPr sz="1500" b="0" i="0">
                          <a:solidFill>
                            <a:srgbClr val="000000"/>
                          </a:solidFill>
                          <a:latin typeface="Calibri"/>
                        </a:rPr>
                        <a:t>passed</a:t>
                      </a:r>
                    </a:p>
                  </a:txBody>
                  <a:tcPr marL="64008" marR="64008" marT="27432" marB="27432" anchor="ctr">
                    <a:solidFill>
                      <a:srgbClr val="FFFFFF"/>
                    </a:solidFill>
                  </a:tcPr>
                </a:tc>
                <a:tc>
                  <a:txBody>
                    <a:bodyPr wrap="square"/>
                    <a:lstStyle/>
                    <a:p>
                      <a:r>
                        <a:rPr sz="1500" b="0" i="0">
                          <a:solidFill>
                            <a:srgbClr val="000000"/>
                          </a:solidFill>
                          <a:latin typeface="Calibri"/>
                        </a:rPr>
                        <a:t>passed</a:t>
                      </a:r>
                    </a:p>
                  </a:txBody>
                  <a:tcPr marL="64008" marR="64008" marT="27432" marB="27432" anchor="ctr">
                    <a:solidFill>
                      <a:srgbClr val="FFFFFF"/>
                    </a:solidFill>
                  </a:tcPr>
                </a:tc>
                <a:tc>
                  <a:txBody>
                    <a:bodyPr wrap="square"/>
                    <a:lstStyle/>
                    <a:p>
                      <a:r>
                        <a:rPr sz="1500" b="0" i="0">
                          <a:solidFill>
                            <a:srgbClr val="000000"/>
                          </a:solidFill>
                          <a:latin typeface="Calibri"/>
                        </a:rPr>
                        <a:t>passed</a:t>
                      </a:r>
                    </a:p>
                  </a:txBody>
                  <a:tcPr marL="64008" marR="64008" marT="27432" marB="27432" anchor="ctr">
                    <a:solidFill>
                      <a:srgbClr val="FFFFFF"/>
                    </a:solidFill>
                  </a:tcPr>
                </a:tc>
              </a:tr>
            </a:tbl>
          </a:graphicData>
        </a:graphic>
      </p:graphicFrame>
      <p:sp>
        <p:nvSpPr>
          <p:cNvPr id="7" name="TextBox 6"/>
          <p:cNvSpPr txBox="1"/>
          <p:nvPr/>
        </p:nvSpPr>
        <p:spPr>
          <a:xfrm>
            <a:off x="539496" y="5989320"/>
            <a:ext cx="11109960" cy="365760"/>
          </a:xfrm>
          <a:prstGeom prst="rect">
            <a:avLst/>
          </a:prstGeom>
          <a:noFill/>
        </p:spPr>
        <p:txBody>
          <a:bodyPr wrap="square" anchor="t" lIns="0" rIns="0" tIns="0" bIns="0">
            <a:spAutoFit/>
          </a:bodyPr>
          <a:lstStyle/>
          <a:p>
            <a:pPr algn="l"/>
            <a:r>
              <a:rPr sz="1400" b="1" i="0">
                <a:solidFill>
                  <a:srgbClr val="0000DC"/>
                </a:solidFill>
                <a:latin typeface="Calibri"/>
              </a:rPr>
              <a:t>Conclusion: MTL makes SLH-DSA practical for DNSSEC except at first contact, where one ladder fetch and one SLH-DSA verification remain.</a:t>
            </a:r>
          </a:p>
        </p:txBody>
      </p:sp>
      <p:sp>
        <p:nvSpPr>
          <p:cNvPr id="8" name="TextBox 7"/>
          <p:cNvSpPr txBox="1"/>
          <p:nvPr/>
        </p:nvSpPr>
        <p:spPr>
          <a:xfrm>
            <a:off x="539496" y="6510528"/>
            <a:ext cx="7315200" cy="274320"/>
          </a:xfrm>
          <a:prstGeom prst="rect">
            <a:avLst/>
          </a:prstGeom>
          <a:noFill/>
        </p:spPr>
        <p:txBody>
          <a:bodyPr wrap="square" anchor="t" lIns="0" rIns="0" tIns="0" bIns="0">
            <a:spAutoFit/>
          </a:bodyPr>
          <a:lstStyle/>
          <a:p>
            <a:pPr algn="l"/>
            <a:r>
              <a:rPr sz="1200" b="0" i="0">
                <a:solidFill>
                  <a:srgbClr val="0000DC"/>
                </a:solidFill>
                <a:latin typeface="Calibri"/>
              </a:rPr>
              <a:t>A. Joshi  •  </a:t>
            </a:r>
            <a:r>
              <a:rPr sz="1200" b="1" i="0">
                <a:solidFill>
                  <a:srgbClr val="0000DC"/>
                </a:solidFill>
                <a:latin typeface="Calibri"/>
              </a:rPr>
              <a:t>A3-PS036-TC161</a:t>
            </a:r>
            <a:r>
              <a:rPr sz="1200" b="0" i="0">
                <a:solidFill>
                  <a:srgbClr val="0000DC"/>
                </a:solidFill>
                <a:latin typeface="Calibri"/>
              </a:rPr>
              <a:t>  •  October 8, 2026</a:t>
            </a:r>
          </a:p>
        </p:txBody>
      </p:sp>
      <p:sp>
        <p:nvSpPr>
          <p:cNvPr id="9" name="TextBox 8"/>
          <p:cNvSpPr txBox="1"/>
          <p:nvPr/>
        </p:nvSpPr>
        <p:spPr>
          <a:xfrm>
            <a:off x="9601200" y="6510528"/>
            <a:ext cx="2057400" cy="274320"/>
          </a:xfrm>
          <a:prstGeom prst="rect">
            <a:avLst/>
          </a:prstGeom>
          <a:noFill/>
        </p:spPr>
        <p:txBody>
          <a:bodyPr wrap="square" anchor="t" lIns="0" rIns="0" tIns="0" bIns="0">
            <a:spAutoFit/>
          </a:bodyPr>
          <a:lstStyle/>
          <a:p>
            <a:pPr algn="r"/>
            <a:r>
              <a:rPr sz="1200" b="0" i="0">
                <a:solidFill>
                  <a:srgbClr val="0000DC"/>
                </a:solidFill>
                <a:latin typeface="Calibri"/>
              </a:rPr>
              <a:t>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6080" y="73152"/>
            <a:ext cx="3200400" cy="274320"/>
          </a:xfrm>
          <a:prstGeom prst="rect">
            <a:avLst/>
          </a:prstGeom>
          <a:noFill/>
        </p:spPr>
        <p:txBody>
          <a:bodyPr wrap="square" anchor="t" lIns="0" rIns="0" tIns="0" bIns="0">
            <a:spAutoFit/>
          </a:bodyPr>
          <a:lstStyle/>
          <a:p>
            <a:pPr algn="r"/>
            <a:r>
              <a:rPr sz="1200" b="1" i="0">
                <a:solidFill>
                  <a:srgbClr val="0000DC"/>
                </a:solidFill>
                <a:latin typeface="Calibri"/>
              </a:rPr>
              <a:t>AIORI 3</a:t>
            </a:r>
          </a:p>
        </p:txBody>
      </p:sp>
      <p:sp>
        <p:nvSpPr>
          <p:cNvPr id="3" name="TextBox 2"/>
          <p:cNvSpPr txBox="1"/>
          <p:nvPr/>
        </p:nvSpPr>
        <p:spPr>
          <a:xfrm>
            <a:off x="6263640" y="73152"/>
            <a:ext cx="5486400" cy="274320"/>
          </a:xfrm>
          <a:prstGeom prst="rect">
            <a:avLst/>
          </a:prstGeom>
          <a:noFill/>
        </p:spPr>
        <p:txBody>
          <a:bodyPr wrap="square" anchor="t" lIns="0" rIns="0" tIns="0" bIns="0">
            <a:spAutoFit/>
          </a:bodyPr>
          <a:lstStyle/>
          <a:p>
            <a:pPr algn="l"/>
            <a:r>
              <a:rPr sz="1200" b="1" i="0">
                <a:solidFill>
                  <a:srgbClr val="0000DC"/>
                </a:solidFill>
                <a:latin typeface="Calibri"/>
              </a:rPr>
              <a:t>Validity</a:t>
            </a:r>
          </a:p>
        </p:txBody>
      </p:sp>
      <p:sp>
        <p:nvSpPr>
          <p:cNvPr id="4" name="TextBox 3"/>
          <p:cNvSpPr txBox="1"/>
          <p:nvPr/>
        </p:nvSpPr>
        <p:spPr>
          <a:xfrm>
            <a:off x="539496" y="384048"/>
            <a:ext cx="11109960" cy="548640"/>
          </a:xfrm>
          <a:prstGeom prst="rect">
            <a:avLst/>
          </a:prstGeom>
          <a:noFill/>
        </p:spPr>
        <p:txBody>
          <a:bodyPr wrap="square" anchor="t" lIns="0" rIns="0" tIns="0" bIns="0">
            <a:spAutoFit/>
          </a:bodyPr>
          <a:lstStyle/>
          <a:p>
            <a:pPr algn="l"/>
            <a:r>
              <a:rPr sz="3000" b="1" i="0">
                <a:solidFill>
                  <a:srgbClr val="0000DC"/>
                </a:solidFill>
                <a:latin typeface="Calibri"/>
              </a:rPr>
              <a:t>What is measured, what is modelled</a:t>
            </a:r>
          </a:p>
        </p:txBody>
      </p:sp>
      <p:sp>
        <p:nvSpPr>
          <p:cNvPr id="5" name="TextBox 4"/>
          <p:cNvSpPr txBox="1"/>
          <p:nvPr/>
        </p:nvSpPr>
        <p:spPr>
          <a:xfrm>
            <a:off x="539496" y="978408"/>
            <a:ext cx="11109960" cy="411480"/>
          </a:xfrm>
          <a:prstGeom prst="rect">
            <a:avLst/>
          </a:prstGeom>
          <a:noFill/>
        </p:spPr>
        <p:txBody>
          <a:bodyPr wrap="square" anchor="t" lIns="0" rIns="0" tIns="0" bIns="0">
            <a:spAutoFit/>
          </a:bodyPr>
          <a:lstStyle/>
          <a:p>
            <a:pPr algn="l"/>
            <a:r>
              <a:rPr sz="1700" b="1" i="0">
                <a:solidFill>
                  <a:srgbClr val="000000"/>
                </a:solidFill>
                <a:latin typeface="Calibri"/>
              </a:rPr>
              <a:t>Every number is labelled so a reviewer knows how much to trust it.</a:t>
            </a:r>
          </a:p>
        </p:txBody>
      </p:sp>
      <p:graphicFrame>
        <p:nvGraphicFramePr>
          <p:cNvPr id="6" name="Table 5"/>
          <p:cNvGraphicFramePr>
            <a:graphicFrameLocks noGrp="1"/>
          </p:cNvGraphicFramePr>
          <p:nvPr/>
        </p:nvGraphicFramePr>
        <p:xfrm>
          <a:off x="539496" y="1600200"/>
          <a:ext cx="11109960" cy="2834640"/>
        </p:xfrm>
        <a:graphic>
          <a:graphicData uri="http://schemas.openxmlformats.org/drawingml/2006/table">
            <a:tbl>
              <a:tblPr firstRow="1" bandRow="1">
                <a:tableStyleId>{5C22544A-7EE6-4342-B048-85BDC9FD1C3A}</a:tableStyleId>
              </a:tblPr>
              <a:tblGrid>
                <a:gridCol w="5532120"/>
                <a:gridCol w="5577840"/>
              </a:tblGrid>
              <a:tr h="566928">
                <a:tc>
                  <a:txBody>
                    <a:bodyPr wrap="square"/>
                    <a:lstStyle/>
                    <a:p>
                      <a:r>
                        <a:rPr sz="1350" b="1" i="0">
                          <a:solidFill>
                            <a:srgbClr val="FFFFFF"/>
                          </a:solidFill>
                          <a:latin typeface="Calibri"/>
                        </a:rPr>
                        <a:t>Measured directly</a:t>
                      </a:r>
                    </a:p>
                  </a:txBody>
                  <a:tcPr marL="64008" marR="64008" marT="27432" marB="27432" anchor="ctr">
                    <a:solidFill>
                      <a:srgbClr val="0000DC"/>
                    </a:solidFill>
                  </a:tcPr>
                </a:tc>
                <a:tc>
                  <a:txBody>
                    <a:bodyPr wrap="square"/>
                    <a:lstStyle/>
                    <a:p>
                      <a:r>
                        <a:rPr sz="1350" b="1" i="0">
                          <a:solidFill>
                            <a:srgbClr val="FFFFFF"/>
                          </a:solidFill>
                          <a:latin typeface="Calibri"/>
                        </a:rPr>
                        <a:t>Modelled or estimated</a:t>
                      </a:r>
                    </a:p>
                  </a:txBody>
                  <a:tcPr marL="64008" marR="64008" marT="27432" marB="27432" anchor="ctr">
                    <a:solidFill>
                      <a:srgbClr val="0000DC"/>
                    </a:solidFill>
                  </a:tcPr>
                </a:tc>
              </a:tr>
              <a:tr h="566928">
                <a:tc>
                  <a:txBody>
                    <a:bodyPr wrap="square"/>
                    <a:lstStyle/>
                    <a:p>
                      <a:r>
                        <a:rPr sz="1350" b="0" i="0">
                          <a:solidFill>
                            <a:srgbClr val="000000"/>
                          </a:solidFill>
                          <a:latin typeface="Calibri"/>
                        </a:rPr>
                        <a:t>Signing and verification time of every library call (ns, pinned core)</a:t>
                      </a:r>
                    </a:p>
                  </a:txBody>
                  <a:tcPr marL="64008" marR="64008" marT="27432" marB="27432" anchor="ctr">
                    <a:solidFill>
                      <a:srgbClr val="F2F2FD"/>
                    </a:solidFill>
                  </a:tcPr>
                </a:tc>
                <a:tc>
                  <a:txBody>
                    <a:bodyPr wrap="square"/>
                    <a:lstStyle/>
                    <a:p>
                      <a:r>
                        <a:rPr sz="1350" b="0" i="0">
                          <a:solidFill>
                            <a:srgbClr val="000000"/>
                          </a:solidFill>
                          <a:latin typeface="Calibri"/>
                        </a:rPr>
                        <a:t>Direct SLH-DSA zone totals on medium / large: sample of 60 / 100 × RRsets</a:t>
                      </a:r>
                    </a:p>
                  </a:txBody>
                  <a:tcPr marL="64008" marR="64008" marT="27432" marB="27432" anchor="ctr">
                    <a:solidFill>
                      <a:srgbClr val="F2F2FD"/>
                    </a:solidFill>
                  </a:tcPr>
                </a:tc>
              </a:tr>
              <a:tr h="566928">
                <a:tc>
                  <a:txBody>
                    <a:bodyPr wrap="square"/>
                    <a:lstStyle/>
                    <a:p>
                      <a:r>
                        <a:rPr sz="1350" b="0" i="0">
                          <a:solidFill>
                            <a:srgbClr val="000000"/>
                          </a:solidFill>
                          <a:latin typeface="Calibri"/>
                        </a:rPr>
                        <a:t>Exact byte size of every DNS query and answer (dnspython encoding)</a:t>
                      </a:r>
                    </a:p>
                  </a:txBody>
                  <a:tcPr marL="64008" marR="64008" marT="27432" marB="27432" anchor="ctr">
                    <a:solidFill>
                      <a:srgbClr val="FFFFFF"/>
                    </a:solidFill>
                  </a:tcPr>
                </a:tc>
                <a:tc>
                  <a:txBody>
                    <a:bodyPr wrap="square"/>
                    <a:lstStyle/>
                    <a:p>
                      <a:r>
                        <a:rPr sz="1350" b="0" i="0">
                          <a:solidFill>
                            <a:srgbClr val="000000"/>
                          </a:solidFill>
                          <a:latin typeface="Calibri"/>
                        </a:rPr>
                        <a:t>Transport: UDP / TC / TCP exchange sums; IP fragments and TCP segments by arithmetic</a:t>
                      </a:r>
                    </a:p>
                  </a:txBody>
                  <a:tcPr marL="64008" marR="64008" marT="27432" marB="27432" anchor="ctr">
                    <a:solidFill>
                      <a:srgbClr val="FFFFFF"/>
                    </a:solidFill>
                  </a:tcPr>
                </a:tc>
              </a:tr>
              <a:tr h="566928">
                <a:tc>
                  <a:txBody>
                    <a:bodyPr wrap="square"/>
                    <a:lstStyle/>
                    <a:p>
                      <a:r>
                        <a:rPr sz="1350" b="0" i="0">
                          <a:solidFill>
                            <a:srgbClr val="000000"/>
                          </a:solidFill>
                          <a:latin typeface="Calibri"/>
                        </a:rPr>
                        <a:t>Signature and ladder sizes from the reference library</a:t>
                      </a:r>
                    </a:p>
                  </a:txBody>
                  <a:tcPr marL="64008" marR="64008" marT="27432" marB="27432" anchor="ctr">
                    <a:solidFill>
                      <a:srgbClr val="F2F2FD"/>
                    </a:solidFill>
                  </a:tcPr>
                </a:tc>
                <a:tc>
                  <a:txBody>
                    <a:bodyPr wrap="square"/>
                    <a:lstStyle/>
                    <a:p>
                      <a:r>
                        <a:rPr sz="1350" b="0" i="0">
                          <a:solidFill>
                            <a:srgbClr val="000000"/>
                          </a:solidFill>
                          <a:latin typeface="Calibri"/>
                        </a:rPr>
                        <a:t>Resolver behaviour: cache holds everything (TTL 3600), one ladder per zone</a:t>
                      </a:r>
                    </a:p>
                  </a:txBody>
                  <a:tcPr marL="64008" marR="64008" marT="27432" marB="27432" anchor="ctr">
                    <a:solidFill>
                      <a:srgbClr val="F2F2FD"/>
                    </a:solidFill>
                  </a:tcPr>
                </a:tc>
              </a:tr>
              <a:tr h="566928">
                <a:tc>
                  <a:txBody>
                    <a:bodyPr wrap="square"/>
                    <a:lstStyle/>
                    <a:p>
                      <a:r>
                        <a:rPr sz="1350" b="0" i="0">
                          <a:solidFill>
                            <a:srgbClr val="000000"/>
                          </a:solidFill>
                          <a:latin typeface="Calibri"/>
                        </a:rPr>
                        <a:t>Resolver cache contents (dnspython LRUCache, tracemalloc)</a:t>
                      </a:r>
                    </a:p>
                  </a:txBody>
                  <a:tcPr marL="64008" marR="64008" marT="27432" marB="27432" anchor="ctr">
                    <a:solidFill>
                      <a:srgbClr val="FFFFFF"/>
                    </a:solidFill>
                  </a:tcPr>
                </a:tc>
                <a:tc>
                  <a:txBody>
                    <a:bodyPr wrap="square"/>
                    <a:lstStyle/>
                    <a:p>
                      <a:r>
                        <a:rPr sz="1350" b="0" i="0">
                          <a:solidFill>
                            <a:srgbClr val="000000"/>
                          </a:solidFill>
                          <a:latin typeface="Calibri"/>
                        </a:rPr>
                        <a:t>Draft §12 maxima shown next to measured</a:t>
                      </a:r>
                    </a:p>
                  </a:txBody>
                  <a:tcPr marL="64008" marR="64008" marT="27432" marB="27432" anchor="ctr">
                    <a:solidFill>
                      <a:srgbClr val="FFFFFF"/>
                    </a:solidFill>
                  </a:tcPr>
                </a:tc>
              </a:tr>
            </a:tbl>
          </a:graphicData>
        </a:graphic>
      </p:graphicFrame>
      <p:sp>
        <p:nvSpPr>
          <p:cNvPr id="7" name="TextBox 6"/>
          <p:cNvSpPr txBox="1"/>
          <p:nvPr/>
        </p:nvSpPr>
        <p:spPr>
          <a:xfrm>
            <a:off x="539496" y="4617720"/>
            <a:ext cx="11109960" cy="320040"/>
          </a:xfrm>
          <a:prstGeom prst="rect">
            <a:avLst/>
          </a:prstGeom>
          <a:noFill/>
        </p:spPr>
        <p:txBody>
          <a:bodyPr wrap="square" anchor="t" lIns="0" rIns="0" tIns="0" bIns="0">
            <a:spAutoFit/>
          </a:bodyPr>
          <a:lstStyle/>
          <a:p>
            <a:pPr algn="l"/>
            <a:r>
              <a:rPr sz="1600" b="1" i="0">
                <a:solidFill>
                  <a:srgbClr val="0000DC"/>
                </a:solidFill>
                <a:latin typeface="Calibri"/>
              </a:rPr>
              <a:t>Known limitations</a:t>
            </a:r>
          </a:p>
        </p:txBody>
      </p:sp>
      <p:sp>
        <p:nvSpPr>
          <p:cNvPr id="8" name="TextBox 7"/>
          <p:cNvSpPr txBox="1"/>
          <p:nvPr/>
        </p:nvSpPr>
        <p:spPr>
          <a:xfrm>
            <a:off x="539496" y="4983480"/>
            <a:ext cx="11109960" cy="1371600"/>
          </a:xfrm>
          <a:prstGeom prst="rect">
            <a:avLst/>
          </a:prstGeom>
          <a:noFill/>
        </p:spPr>
        <p:txBody>
          <a:bodyPr wrap="square" anchor="t" lIns="0" rIns="0" tIns="0" bIns="0">
            <a:spAutoFit/>
          </a:bodyPr>
          <a:lstStyle/>
          <a:p>
            <a:pPr algn="l" marL="274320" indent="-274320">
              <a:buClr>
                <a:srgbClr val="0000DC"/>
              </a:buClr>
              <a:buFont typeface="Arial"/>
              <a:buChar char="•"/>
            </a:pPr>
            <a:r>
              <a:rPr sz="1350" b="0" i="0">
                <a:solidFill>
                  <a:srgbClr val="000000"/>
                </a:solidFill>
                <a:latin typeface="Calibri"/>
              </a:rPr>
              <a:t>DNSKEY holds a placeholder key of the right length (keys are made inside each trial), so the zone is size-exact but not validatable by an outside resolver. maxrss reports the Python parent, not mtlbench.</a:t>
            </a:r>
          </a:p>
          <a:p>
            <a:pPr algn="l" marL="274320" indent="-274320">
              <a:spcBef>
                <a:spcPts val="500"/>
              </a:spcBef>
              <a:buClr>
                <a:srgbClr val="0000DC"/>
              </a:buClr>
              <a:buFont typeface="Arial"/>
              <a:buChar char="•"/>
            </a:pPr>
            <a:r>
              <a:rPr sz="1350" b="0" i="0">
                <a:solidFill>
                  <a:srgbClr val="000000"/>
                </a:solidFill>
                <a:latin typeface="Calibri"/>
              </a:rPr>
              <a:t>Quick demo: 3 trials, ≤ 200 names. Full run: 5 trials, 50 / 500 / 5,000 names, plus optional NSD cross-check and packet capture.</a:t>
            </a:r>
          </a:p>
        </p:txBody>
      </p:sp>
      <p:sp>
        <p:nvSpPr>
          <p:cNvPr id="9" name="TextBox 8"/>
          <p:cNvSpPr txBox="1"/>
          <p:nvPr/>
        </p:nvSpPr>
        <p:spPr>
          <a:xfrm>
            <a:off x="539496" y="6510528"/>
            <a:ext cx="7315200" cy="274320"/>
          </a:xfrm>
          <a:prstGeom prst="rect">
            <a:avLst/>
          </a:prstGeom>
          <a:noFill/>
        </p:spPr>
        <p:txBody>
          <a:bodyPr wrap="square" anchor="t" lIns="0" rIns="0" tIns="0" bIns="0">
            <a:spAutoFit/>
          </a:bodyPr>
          <a:lstStyle/>
          <a:p>
            <a:pPr algn="l"/>
            <a:r>
              <a:rPr sz="1200" b="0" i="0">
                <a:solidFill>
                  <a:srgbClr val="0000DC"/>
                </a:solidFill>
                <a:latin typeface="Calibri"/>
              </a:rPr>
              <a:t>A. Joshi  •  </a:t>
            </a:r>
            <a:r>
              <a:rPr sz="1200" b="1" i="0">
                <a:solidFill>
                  <a:srgbClr val="0000DC"/>
                </a:solidFill>
                <a:latin typeface="Calibri"/>
              </a:rPr>
              <a:t>A3-PS036-TC161</a:t>
            </a:r>
            <a:r>
              <a:rPr sz="1200" b="0" i="0">
                <a:solidFill>
                  <a:srgbClr val="0000DC"/>
                </a:solidFill>
                <a:latin typeface="Calibri"/>
              </a:rPr>
              <a:t>  •  October 8, 2026</a:t>
            </a:r>
          </a:p>
        </p:txBody>
      </p:sp>
      <p:sp>
        <p:nvSpPr>
          <p:cNvPr id="10" name="TextBox 9"/>
          <p:cNvSpPr txBox="1"/>
          <p:nvPr/>
        </p:nvSpPr>
        <p:spPr>
          <a:xfrm>
            <a:off x="9601200" y="6510528"/>
            <a:ext cx="2057400" cy="274320"/>
          </a:xfrm>
          <a:prstGeom prst="rect">
            <a:avLst/>
          </a:prstGeom>
          <a:noFill/>
        </p:spPr>
        <p:txBody>
          <a:bodyPr wrap="square" anchor="t" lIns="0" rIns="0" tIns="0" bIns="0">
            <a:spAutoFit/>
          </a:bodyPr>
          <a:lstStyle/>
          <a:p>
            <a:pPr algn="r"/>
            <a:r>
              <a:rPr sz="1200" b="0" i="0">
                <a:solidFill>
                  <a:srgbClr val="0000DC"/>
                </a:solidFill>
                <a:latin typeface="Calibri"/>
              </a:rPr>
              <a:t>21 /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6080" y="73152"/>
            <a:ext cx="3200400" cy="274320"/>
          </a:xfrm>
          <a:prstGeom prst="rect">
            <a:avLst/>
          </a:prstGeom>
          <a:noFill/>
        </p:spPr>
        <p:txBody>
          <a:bodyPr wrap="square" anchor="t" lIns="0" rIns="0" tIns="0" bIns="0">
            <a:spAutoFit/>
          </a:bodyPr>
          <a:lstStyle/>
          <a:p>
            <a:pPr algn="r"/>
            <a:r>
              <a:rPr sz="1200" b="1" i="0">
                <a:solidFill>
                  <a:srgbClr val="0000DC"/>
                </a:solidFill>
                <a:latin typeface="Calibri"/>
              </a:rPr>
              <a:t>AIORI 3</a:t>
            </a:r>
          </a:p>
        </p:txBody>
      </p:sp>
      <p:sp>
        <p:nvSpPr>
          <p:cNvPr id="3" name="TextBox 2"/>
          <p:cNvSpPr txBox="1"/>
          <p:nvPr/>
        </p:nvSpPr>
        <p:spPr>
          <a:xfrm>
            <a:off x="6263640" y="73152"/>
            <a:ext cx="5486400" cy="274320"/>
          </a:xfrm>
          <a:prstGeom prst="rect">
            <a:avLst/>
          </a:prstGeom>
          <a:noFill/>
        </p:spPr>
        <p:txBody>
          <a:bodyPr wrap="square" anchor="t" lIns="0" rIns="0" tIns="0" bIns="0">
            <a:spAutoFit/>
          </a:bodyPr>
          <a:lstStyle/>
          <a:p>
            <a:pPr algn="l"/>
            <a:r>
              <a:rPr sz="1200" b="1" i="0">
                <a:solidFill>
                  <a:srgbClr val="0000DC"/>
                </a:solidFill>
                <a:latin typeface="Calibri"/>
              </a:rPr>
              <a:t>Reproduce</a:t>
            </a:r>
          </a:p>
        </p:txBody>
      </p:sp>
      <p:sp>
        <p:nvSpPr>
          <p:cNvPr id="4" name="TextBox 3"/>
          <p:cNvSpPr txBox="1"/>
          <p:nvPr/>
        </p:nvSpPr>
        <p:spPr>
          <a:xfrm>
            <a:off x="539496" y="384048"/>
            <a:ext cx="11109960" cy="548640"/>
          </a:xfrm>
          <a:prstGeom prst="rect">
            <a:avLst/>
          </a:prstGeom>
          <a:noFill/>
        </p:spPr>
        <p:txBody>
          <a:bodyPr wrap="square" anchor="t" lIns="0" rIns="0" tIns="0" bIns="0">
            <a:spAutoFit/>
          </a:bodyPr>
          <a:lstStyle/>
          <a:p>
            <a:pPr algn="l"/>
            <a:r>
              <a:rPr sz="3000" b="1" i="0">
                <a:solidFill>
                  <a:srgbClr val="0000DC"/>
                </a:solidFill>
                <a:latin typeface="Calibri"/>
              </a:rPr>
              <a:t>Reproduce, inspect, learn</a:t>
            </a:r>
          </a:p>
        </p:txBody>
      </p:sp>
      <p:sp>
        <p:nvSpPr>
          <p:cNvPr id="5" name="TextBox 4"/>
          <p:cNvSpPr txBox="1"/>
          <p:nvPr/>
        </p:nvSpPr>
        <p:spPr>
          <a:xfrm>
            <a:off x="539496" y="978408"/>
            <a:ext cx="11109960" cy="411480"/>
          </a:xfrm>
          <a:prstGeom prst="rect">
            <a:avLst/>
          </a:prstGeom>
          <a:noFill/>
        </p:spPr>
        <p:txBody>
          <a:bodyPr wrap="square" anchor="t" lIns="0" rIns="0" tIns="0" bIns="0">
            <a:spAutoFit/>
          </a:bodyPr>
          <a:lstStyle/>
          <a:p>
            <a:pPr algn="l"/>
            <a:r>
              <a:rPr sz="1700" b="1" i="0">
                <a:solidFill>
                  <a:srgbClr val="000000"/>
                </a:solidFill>
                <a:latin typeface="Calibri"/>
              </a:rPr>
              <a:t>Every number can be regenerated and traced to the line of code that produced it.</a:t>
            </a:r>
          </a:p>
        </p:txBody>
      </p:sp>
      <p:graphicFrame>
        <p:nvGraphicFramePr>
          <p:cNvPr id="6" name="Table 5"/>
          <p:cNvGraphicFramePr>
            <a:graphicFrameLocks noGrp="1"/>
          </p:cNvGraphicFramePr>
          <p:nvPr/>
        </p:nvGraphicFramePr>
        <p:xfrm>
          <a:off x="539496" y="1600200"/>
          <a:ext cx="11109960" cy="4242816"/>
        </p:xfrm>
        <a:graphic>
          <a:graphicData uri="http://schemas.openxmlformats.org/drawingml/2006/table">
            <a:tbl>
              <a:tblPr firstRow="1" bandRow="1">
                <a:tableStyleId>{5C22544A-7EE6-4342-B048-85BDC9FD1C3A}</a:tableStyleId>
              </a:tblPr>
              <a:tblGrid>
                <a:gridCol w="4480560"/>
                <a:gridCol w="6629400"/>
              </a:tblGrid>
              <a:tr h="530352">
                <a:tc>
                  <a:txBody>
                    <a:bodyPr wrap="square"/>
                    <a:lstStyle/>
                    <a:p>
                      <a:r>
                        <a:rPr sz="1450" b="1" i="0">
                          <a:solidFill>
                            <a:srgbClr val="FFFFFF"/>
                          </a:solidFill>
                          <a:latin typeface="Calibri"/>
                        </a:rPr>
                        <a:t>Want to…</a:t>
                      </a:r>
                    </a:p>
                  </a:txBody>
                  <a:tcPr marL="64008" marR="64008" marT="27432" marB="27432" anchor="ctr">
                    <a:solidFill>
                      <a:srgbClr val="0000DC"/>
                    </a:solidFill>
                  </a:tcPr>
                </a:tc>
                <a:tc>
                  <a:txBody>
                    <a:bodyPr wrap="square"/>
                    <a:lstStyle/>
                    <a:p>
                      <a:r>
                        <a:rPr sz="1450" b="1" i="0">
                          <a:solidFill>
                            <a:srgbClr val="FFFFFF"/>
                          </a:solidFill>
                          <a:latin typeface="Calibri"/>
                        </a:rPr>
                        <a:t>Use</a:t>
                      </a:r>
                    </a:p>
                  </a:txBody>
                  <a:tcPr marL="64008" marR="64008" marT="27432" marB="27432" anchor="ctr">
                    <a:solidFill>
                      <a:srgbClr val="0000DC"/>
                    </a:solidFill>
                  </a:tcPr>
                </a:tc>
              </a:tr>
              <a:tr h="530352">
                <a:tc>
                  <a:txBody>
                    <a:bodyPr wrap="square"/>
                    <a:lstStyle/>
                    <a:p>
                      <a:r>
                        <a:rPr sz="1450" b="0" i="0">
                          <a:solidFill>
                            <a:srgbClr val="000000"/>
                          </a:solidFill>
                          <a:latin typeface="Calibri"/>
                        </a:rPr>
                        <a:t>Run the benchmark</a:t>
                      </a:r>
                    </a:p>
                  </a:txBody>
                  <a:tcPr marL="64008" marR="64008" marT="27432" marB="27432" anchor="ctr">
                    <a:solidFill>
                      <a:srgbClr val="F2F2FD"/>
                    </a:solidFill>
                  </a:tcPr>
                </a:tc>
                <a:tc>
                  <a:txBody>
                    <a:bodyPr wrap="square"/>
                    <a:lstStyle/>
                    <a:p>
                      <a:r>
                        <a:rPr sz="1450" b="0" i="0">
                          <a:solidFill>
                            <a:srgbClr val="000000"/>
                          </a:solidFill>
                          <a:latin typeface="Calibri"/>
                        </a:rPr>
                        <a:t>.\scripts\run_benchmark.ps1 [-Config configs/quick.yaml]</a:t>
                      </a:r>
                    </a:p>
                  </a:txBody>
                  <a:tcPr marL="64008" marR="64008" marT="27432" marB="27432" anchor="ctr">
                    <a:solidFill>
                      <a:srgbClr val="F2F2FD"/>
                    </a:solidFill>
                  </a:tcPr>
                </a:tc>
              </a:tr>
              <a:tr h="530352">
                <a:tc>
                  <a:txBody>
                    <a:bodyPr wrap="square"/>
                    <a:lstStyle/>
                    <a:p>
                      <a:r>
                        <a:rPr sz="1450" b="0" i="0">
                          <a:solidFill>
                            <a:srgbClr val="000000"/>
                          </a:solidFill>
                          <a:latin typeface="Calibri"/>
                        </a:rPr>
                        <a:t>See every variable of stages 1–7 on tiny zones</a:t>
                      </a:r>
                    </a:p>
                  </a:txBody>
                  <a:tcPr marL="64008" marR="64008" marT="27432" marB="27432" anchor="ctr">
                    <a:solidFill>
                      <a:srgbClr val="FFFFFF"/>
                    </a:solidFill>
                  </a:tcPr>
                </a:tc>
                <a:tc>
                  <a:txBody>
                    <a:bodyPr wrap="square"/>
                    <a:lstStyle/>
                    <a:p>
                      <a:r>
                        <a:rPr sz="1450" b="0" i="0">
                          <a:solidFill>
                            <a:srgbClr val="000000"/>
                          </a:solidFill>
                          <a:latin typeface="Calibri"/>
                        </a:rPr>
                        <a:t>own.py in the container → results\own_trace.txt</a:t>
                      </a:r>
                    </a:p>
                  </a:txBody>
                  <a:tcPr marL="64008" marR="64008" marT="27432" marB="27432" anchor="ctr">
                    <a:solidFill>
                      <a:srgbClr val="FFFFFF"/>
                    </a:solidFill>
                  </a:tcPr>
                </a:tc>
              </a:tr>
              <a:tr h="530352">
                <a:tc>
                  <a:txBody>
                    <a:bodyPr wrap="square"/>
                    <a:lstStyle/>
                    <a:p>
                      <a:r>
                        <a:rPr sz="1450" b="0" i="0">
                          <a:solidFill>
                            <a:srgbClr val="000000"/>
                          </a:solidFill>
                          <a:latin typeface="Calibri"/>
                        </a:rPr>
                        <a:t>Look up any output file or column</a:t>
                      </a:r>
                    </a:p>
                  </a:txBody>
                  <a:tcPr marL="64008" marR="64008" marT="27432" marB="27432" anchor="ctr">
                    <a:solidFill>
                      <a:srgbClr val="F2F2FD"/>
                    </a:solidFill>
                  </a:tcPr>
                </a:tc>
                <a:tc>
                  <a:txBody>
                    <a:bodyPr wrap="square"/>
                    <a:lstStyle/>
                    <a:p>
                      <a:r>
                        <a:rPr sz="1450" b="0" i="0">
                          <a:solidFill>
                            <a:srgbClr val="000000"/>
                          </a:solidFill>
                          <a:latin typeface="Calibri"/>
                        </a:rPr>
                        <a:t>docs\outputs-reference.md</a:t>
                      </a:r>
                    </a:p>
                  </a:txBody>
                  <a:tcPr marL="64008" marR="64008" marT="27432" marB="27432" anchor="ctr">
                    <a:solidFill>
                      <a:srgbClr val="F2F2FD"/>
                    </a:solidFill>
                  </a:tcPr>
                </a:tc>
              </a:tr>
              <a:tr h="530352">
                <a:tc>
                  <a:txBody>
                    <a:bodyPr wrap="square"/>
                    <a:lstStyle/>
                    <a:p>
                      <a:r>
                        <a:rPr sz="1450" b="0" i="0">
                          <a:solidFill>
                            <a:srgbClr val="000000"/>
                          </a:solidFill>
                          <a:latin typeface="Calibri"/>
                        </a:rPr>
                        <a:t>Follow inputs → outputs stage by stage</a:t>
                      </a:r>
                    </a:p>
                  </a:txBody>
                  <a:tcPr marL="64008" marR="64008" marT="27432" marB="27432" anchor="ctr">
                    <a:solidFill>
                      <a:srgbClr val="FFFFFF"/>
                    </a:solidFill>
                  </a:tcPr>
                </a:tc>
                <a:tc>
                  <a:txBody>
                    <a:bodyPr wrap="square"/>
                    <a:lstStyle/>
                    <a:p>
                      <a:r>
                        <a:rPr sz="1450" b="0" i="0">
                          <a:solidFill>
                            <a:srgbClr val="000000"/>
                          </a:solidFill>
                          <a:latin typeface="Calibri"/>
                        </a:rPr>
                        <a:t>docs\end-to-end-flow.md</a:t>
                      </a:r>
                    </a:p>
                  </a:txBody>
                  <a:tcPr marL="64008" marR="64008" marT="27432" marB="27432" anchor="ctr">
                    <a:solidFill>
                      <a:srgbClr val="FFFFFF"/>
                    </a:solidFill>
                  </a:tcPr>
                </a:tc>
              </a:tr>
              <a:tr h="530352">
                <a:tc>
                  <a:txBody>
                    <a:bodyPr wrap="square"/>
                    <a:lstStyle/>
                    <a:p>
                      <a:r>
                        <a:rPr sz="1450" b="0" i="0">
                          <a:solidFill>
                            <a:srgbClr val="000000"/>
                          </a:solidFill>
                          <a:latin typeface="Calibri"/>
                        </a:rPr>
                        <a:t>Read the full report</a:t>
                      </a:r>
                    </a:p>
                  </a:txBody>
                  <a:tcPr marL="64008" marR="64008" marT="27432" marB="27432" anchor="ctr">
                    <a:solidFill>
                      <a:srgbClr val="F2F2FD"/>
                    </a:solidFill>
                  </a:tcPr>
                </a:tc>
                <a:tc>
                  <a:txBody>
                    <a:bodyPr wrap="square"/>
                    <a:lstStyle/>
                    <a:p>
                      <a:r>
                        <a:rPr sz="1450" b="0" i="0">
                          <a:solidFill>
                            <a:srgbClr val="000000"/>
                          </a:solidFill>
                          <a:latin typeface="Calibri"/>
                        </a:rPr>
                        <a:t>results\runs\&lt;run_id&gt;\report.html</a:t>
                      </a:r>
                    </a:p>
                  </a:txBody>
                  <a:tcPr marL="64008" marR="64008" marT="27432" marB="27432" anchor="ctr">
                    <a:solidFill>
                      <a:srgbClr val="F2F2FD"/>
                    </a:solidFill>
                  </a:tcPr>
                </a:tc>
              </a:tr>
              <a:tr h="530352">
                <a:tc>
                  <a:txBody>
                    <a:bodyPr wrap="square"/>
                    <a:lstStyle/>
                    <a:p>
                      <a:r>
                        <a:rPr sz="1450" b="0" i="0">
                          <a:solidFill>
                            <a:srgbClr val="000000"/>
                          </a:solidFill>
                          <a:latin typeface="Calibri"/>
                        </a:rPr>
                        <a:t>Explore interactively</a:t>
                      </a:r>
                    </a:p>
                  </a:txBody>
                  <a:tcPr marL="64008" marR="64008" marT="27432" marB="27432" anchor="ctr">
                    <a:solidFill>
                      <a:srgbClr val="FFFFFF"/>
                    </a:solidFill>
                  </a:tcPr>
                </a:tc>
                <a:tc>
                  <a:txBody>
                    <a:bodyPr wrap="square"/>
                    <a:lstStyle/>
                    <a:p>
                      <a:r>
                        <a:rPr sz="1450" b="0" i="0">
                          <a:solidFill>
                            <a:srgbClr val="000000"/>
                          </a:solidFill>
                          <a:latin typeface="Calibri"/>
                        </a:rPr>
                        <a:t>streamlit run dashboard/app.py</a:t>
                      </a:r>
                    </a:p>
                  </a:txBody>
                  <a:tcPr marL="64008" marR="64008" marT="27432" marB="27432" anchor="ctr">
                    <a:solidFill>
                      <a:srgbClr val="FFFFFF"/>
                    </a:solidFill>
                  </a:tcPr>
                </a:tc>
              </a:tr>
              <a:tr h="530352">
                <a:tc>
                  <a:txBody>
                    <a:bodyPr wrap="square"/>
                    <a:lstStyle/>
                    <a:p>
                      <a:r>
                        <a:rPr sz="1450" b="0" i="0">
                          <a:solidFill>
                            <a:srgbClr val="000000"/>
                          </a:solidFill>
                          <a:latin typeface="Calibri"/>
                        </a:rPr>
                        <a:t>Method and design</a:t>
                      </a:r>
                    </a:p>
                  </a:txBody>
                  <a:tcPr marL="64008" marR="64008" marT="27432" marB="27432" anchor="ctr">
                    <a:solidFill>
                      <a:srgbClr val="F2F2FD"/>
                    </a:solidFill>
                  </a:tcPr>
                </a:tc>
                <a:tc>
                  <a:txBody>
                    <a:bodyPr wrap="square"/>
                    <a:lstStyle/>
                    <a:p>
                      <a:r>
                        <a:rPr sz="1450" b="0" i="0">
                          <a:solidFill>
                            <a:srgbClr val="000000"/>
                          </a:solidFill>
                          <a:latin typeface="Calibri"/>
                        </a:rPr>
                        <a:t>docs\methodology.md, docs\architecture.md</a:t>
                      </a:r>
                    </a:p>
                  </a:txBody>
                  <a:tcPr marL="64008" marR="64008" marT="27432" marB="27432" anchor="ctr">
                    <a:solidFill>
                      <a:srgbClr val="F2F2FD"/>
                    </a:solidFill>
                  </a:tcPr>
                </a:tc>
              </a:tr>
            </a:tbl>
          </a:graphicData>
        </a:graphic>
      </p:graphicFrame>
      <p:sp>
        <p:nvSpPr>
          <p:cNvPr id="7" name="TextBox 6"/>
          <p:cNvSpPr txBox="1"/>
          <p:nvPr/>
        </p:nvSpPr>
        <p:spPr>
          <a:xfrm>
            <a:off x="539496" y="6510528"/>
            <a:ext cx="7315200" cy="274320"/>
          </a:xfrm>
          <a:prstGeom prst="rect">
            <a:avLst/>
          </a:prstGeom>
          <a:noFill/>
        </p:spPr>
        <p:txBody>
          <a:bodyPr wrap="square" anchor="t" lIns="0" rIns="0" tIns="0" bIns="0">
            <a:spAutoFit/>
          </a:bodyPr>
          <a:lstStyle/>
          <a:p>
            <a:pPr algn="l"/>
            <a:r>
              <a:rPr sz="1200" b="0" i="0">
                <a:solidFill>
                  <a:srgbClr val="0000DC"/>
                </a:solidFill>
                <a:latin typeface="Calibri"/>
              </a:rPr>
              <a:t>A. Joshi  •  </a:t>
            </a:r>
            <a:r>
              <a:rPr sz="1200" b="1" i="0">
                <a:solidFill>
                  <a:srgbClr val="0000DC"/>
                </a:solidFill>
                <a:latin typeface="Calibri"/>
              </a:rPr>
              <a:t>A3-PS036-TC161</a:t>
            </a:r>
            <a:r>
              <a:rPr sz="1200" b="0" i="0">
                <a:solidFill>
                  <a:srgbClr val="0000DC"/>
                </a:solidFill>
                <a:latin typeface="Calibri"/>
              </a:rPr>
              <a:t>  •  October 8, 2026</a:t>
            </a:r>
          </a:p>
        </p:txBody>
      </p:sp>
      <p:sp>
        <p:nvSpPr>
          <p:cNvPr id="8" name="TextBox 7"/>
          <p:cNvSpPr txBox="1"/>
          <p:nvPr/>
        </p:nvSpPr>
        <p:spPr>
          <a:xfrm>
            <a:off x="9601200" y="6510528"/>
            <a:ext cx="2057400" cy="274320"/>
          </a:xfrm>
          <a:prstGeom prst="rect">
            <a:avLst/>
          </a:prstGeom>
          <a:noFill/>
        </p:spPr>
        <p:txBody>
          <a:bodyPr wrap="square" anchor="t" lIns="0" rIns="0" tIns="0" bIns="0">
            <a:spAutoFit/>
          </a:bodyPr>
          <a:lstStyle/>
          <a:p>
            <a:pPr algn="r"/>
            <a:r>
              <a:rPr sz="1200" b="0" i="0">
                <a:solidFill>
                  <a:srgbClr val="0000DC"/>
                </a:solidFill>
                <a:latin typeface="Calibri"/>
              </a:rPr>
              <a:t>22 /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743200"/>
            <a:ext cx="12191695" cy="548640"/>
          </a:xfrm>
          <a:prstGeom prst="rect">
            <a:avLst/>
          </a:prstGeom>
          <a:noFill/>
        </p:spPr>
        <p:txBody>
          <a:bodyPr wrap="square" anchor="t" lIns="0" rIns="0" tIns="0" bIns="0">
            <a:spAutoFit/>
          </a:bodyPr>
          <a:lstStyle/>
          <a:p>
            <a:pPr algn="ctr"/>
            <a:r>
              <a:rPr sz="3600" b="1" i="0">
                <a:solidFill>
                  <a:srgbClr val="0000DC"/>
                </a:solidFill>
                <a:latin typeface="Calibri"/>
              </a:rPr>
              <a:t>Thank you</a:t>
            </a:r>
          </a:p>
        </p:txBody>
      </p:sp>
      <p:sp>
        <p:nvSpPr>
          <p:cNvPr id="3" name="TextBox 2"/>
          <p:cNvSpPr txBox="1"/>
          <p:nvPr/>
        </p:nvSpPr>
        <p:spPr>
          <a:xfrm>
            <a:off x="0" y="3474720"/>
            <a:ext cx="12191695" cy="457200"/>
          </a:xfrm>
          <a:prstGeom prst="rect">
            <a:avLst/>
          </a:prstGeom>
          <a:noFill/>
        </p:spPr>
        <p:txBody>
          <a:bodyPr wrap="square" anchor="t" lIns="0" rIns="0" tIns="0" bIns="0">
            <a:spAutoFit/>
          </a:bodyPr>
          <a:lstStyle/>
          <a:p>
            <a:pPr algn="ctr"/>
            <a:r>
              <a:rPr sz="2200" b="0" i="0">
                <a:solidFill>
                  <a:srgbClr val="000000"/>
                </a:solidFill>
                <a:latin typeface="Calibri"/>
              </a:rPr>
              <a:t>Questions?</a:t>
            </a:r>
          </a:p>
        </p:txBody>
      </p:sp>
      <p:sp>
        <p:nvSpPr>
          <p:cNvPr id="4" name="TextBox 3"/>
          <p:cNvSpPr txBox="1"/>
          <p:nvPr/>
        </p:nvSpPr>
        <p:spPr>
          <a:xfrm>
            <a:off x="0" y="4206240"/>
            <a:ext cx="12191695" cy="365760"/>
          </a:xfrm>
          <a:prstGeom prst="rect">
            <a:avLst/>
          </a:prstGeom>
          <a:noFill/>
        </p:spPr>
        <p:txBody>
          <a:bodyPr wrap="square" anchor="t" lIns="0" rIns="0" tIns="0" bIns="0">
            <a:spAutoFit/>
          </a:bodyPr>
          <a:lstStyle/>
          <a:p>
            <a:pPr algn="ctr"/>
            <a:r>
              <a:rPr sz="1500" b="0" i="0">
                <a:solidFill>
                  <a:srgbClr val="555555"/>
                </a:solidFill>
                <a:latin typeface="Calibri"/>
              </a:rPr>
              <a:t>Akash Joshi  ·  akashjoshi2023@gmail.com  ·  A3-PS036-TC161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